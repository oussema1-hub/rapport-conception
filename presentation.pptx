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37"/>
  </p:notesMasterIdLst>
  <p:handoutMasterIdLst>
    <p:handoutMasterId r:id="rId38"/>
  </p:handoutMasterIdLst>
  <p:sldIdLst>
    <p:sldId id="256" r:id="rId2"/>
    <p:sldId id="320" r:id="rId3"/>
    <p:sldId id="354" r:id="rId4"/>
    <p:sldId id="361" r:id="rId5"/>
    <p:sldId id="261" r:id="rId6"/>
    <p:sldId id="357" r:id="rId7"/>
    <p:sldId id="337" r:id="rId8"/>
    <p:sldId id="363" r:id="rId9"/>
    <p:sldId id="352" r:id="rId10"/>
    <p:sldId id="332" r:id="rId11"/>
    <p:sldId id="360" r:id="rId12"/>
    <p:sldId id="359" r:id="rId13"/>
    <p:sldId id="353" r:id="rId14"/>
    <p:sldId id="381" r:id="rId15"/>
    <p:sldId id="382" r:id="rId16"/>
    <p:sldId id="364" r:id="rId17"/>
    <p:sldId id="269" r:id="rId18"/>
    <p:sldId id="370" r:id="rId19"/>
    <p:sldId id="371" r:id="rId20"/>
    <p:sldId id="373" r:id="rId21"/>
    <p:sldId id="374" r:id="rId22"/>
    <p:sldId id="376" r:id="rId23"/>
    <p:sldId id="377" r:id="rId24"/>
    <p:sldId id="380" r:id="rId25"/>
    <p:sldId id="355" r:id="rId26"/>
    <p:sldId id="326" r:id="rId27"/>
    <p:sldId id="341" r:id="rId28"/>
    <p:sldId id="343" r:id="rId29"/>
    <p:sldId id="338" r:id="rId30"/>
    <p:sldId id="342" r:id="rId31"/>
    <p:sldId id="319" r:id="rId32"/>
    <p:sldId id="356" r:id="rId33"/>
    <p:sldId id="362" r:id="rId34"/>
    <p:sldId id="285" r:id="rId35"/>
    <p:sldId id="286" r:id="rId3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D6FF"/>
    <a:srgbClr val="FFFFFF"/>
    <a:srgbClr val="AEABAB"/>
    <a:srgbClr val="B4C7E7"/>
    <a:srgbClr val="1AAFE4"/>
    <a:srgbClr val="5EBFD2"/>
    <a:srgbClr val="AAE7F8"/>
    <a:srgbClr val="6BC6EB"/>
    <a:srgbClr val="4AB4E6"/>
    <a:srgbClr val="FF97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69406" autoAdjust="0"/>
  </p:normalViewPr>
  <p:slideViewPr>
    <p:cSldViewPr snapToGrid="0">
      <p:cViewPr>
        <p:scale>
          <a:sx n="60" d="100"/>
          <a:sy n="60" d="100"/>
        </p:scale>
        <p:origin x="1459" y="24"/>
      </p:cViewPr>
      <p:guideLst/>
    </p:cSldViewPr>
  </p:slideViewPr>
  <p:outlineViewPr>
    <p:cViewPr>
      <p:scale>
        <a:sx n="33" d="100"/>
        <a:sy n="33" d="100"/>
      </p:scale>
      <p:origin x="0" y="-2026"/>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3154" y="3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6B7559-7654-4B48-8674-89DDA6A5112A}" type="datetimeFigureOut">
              <a:rPr lang="fr-FR" smtClean="0"/>
              <a:t>05/06/2026</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41159E-4582-4A95-A4E1-58A43B93D8EB}" type="slidenum">
              <a:rPr lang="fr-FR" smtClean="0"/>
              <a:t>‹N°›</a:t>
            </a:fld>
            <a:endParaRPr lang="fr-FR"/>
          </a:p>
        </p:txBody>
      </p:sp>
    </p:spTree>
    <p:extLst>
      <p:ext uri="{BB962C8B-B14F-4D97-AF65-F5344CB8AC3E}">
        <p14:creationId xmlns:p14="http://schemas.microsoft.com/office/powerpoint/2010/main" val="40083108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fr-FR" dirty="0"/>
              <a:t>O:Bonjour Mesdames et Messieurs,</a:t>
            </a:r>
          </a:p>
          <a:p>
            <a:r>
              <a:rPr lang="fr-FR" dirty="0"/>
              <a:t>Nous tenons avant tout à adresser nos sincères remerciements à notre encadrant M. Achraf </a:t>
            </a:r>
            <a:r>
              <a:rPr lang="fr-FR" dirty="0" err="1"/>
              <a:t>Mtibaa</a:t>
            </a:r>
            <a:r>
              <a:rPr lang="fr-FR" dirty="0"/>
              <a:t> pour son accompagnement, ses conseils précieux et son soutien tout au long de ce  travail.</a:t>
            </a:r>
          </a:p>
          <a:p>
            <a:r>
              <a:rPr lang="fr-FR" dirty="0"/>
              <a:t>Nous remercions également les honorables membres du jury ainsi que Mme </a:t>
            </a:r>
            <a:r>
              <a:rPr lang="fr-FR" dirty="0" err="1"/>
              <a:t>Rawia</a:t>
            </a:r>
            <a:r>
              <a:rPr lang="fr-FR" dirty="0"/>
              <a:t> Ayadi, la présidente du jury, pour leur présence et l’intérêt porté à notre travail.</a:t>
            </a:r>
          </a:p>
          <a:p>
            <a:r>
              <a:rPr lang="fr-FR" dirty="0"/>
              <a:t>C’est avec grand plaisir que nous vous présentons aujourd’hui notre projet de fin d’études intitulé :</a:t>
            </a:r>
          </a:p>
          <a:p>
            <a:r>
              <a:rPr lang="fr-FR" b="1" dirty="0"/>
              <a:t>« Plateforme de gestion et de suivi des plantes connectée à un pot intelligent avec un système éducatif »</a:t>
            </a:r>
            <a:r>
              <a:rPr lang="fr-FR" dirty="0"/>
              <a:t>, réalisé et soutenu par moi-même, Oussema Koubaa, en binôme avec mon collègue Yassine </a:t>
            </a:r>
            <a:r>
              <a:rPr lang="fr-FR" dirty="0" err="1"/>
              <a:t>Rekik</a:t>
            </a:r>
            <a:r>
              <a:rPr lang="fr-FR" dirty="0"/>
              <a:t>.</a:t>
            </a:r>
          </a:p>
          <a:p>
            <a:pPr marL="0" lvl="0" indent="0" algn="l" rtl="0">
              <a:lnSpc>
                <a:spcPct val="100000"/>
              </a:lnSpc>
              <a:spcBef>
                <a:spcPts val="0"/>
              </a:spcBef>
              <a:spcAft>
                <a:spcPts val="0"/>
              </a:spcAft>
              <a:buSzPts val="1400"/>
              <a:buNone/>
            </a:pPr>
            <a:endParaRPr lang="fr-FR" dirty="0"/>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a:t>
            </a:fld>
            <a:endParaRPr lang="fr-F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Voici le plan de notre présentation. Nous allons commencer par le contexte général du projet, puis passer à l’analyse des besoins. Ensuite, nous aborderons la conception, suivie de la partie réalisation. Et nous terminerons par la conclusion et les perspectives d’amélioration.</a:t>
            </a:r>
          </a:p>
        </p:txBody>
      </p:sp>
      <p:sp>
        <p:nvSpPr>
          <p:cNvPr id="4" name="Espace réservé du numéro de diapositive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17761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Commencons</a:t>
            </a:r>
            <a:r>
              <a:rPr lang="fr-FR" dirty="0"/>
              <a:t> par la 1ére partie </a:t>
            </a:r>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642081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566f7ffb8f_1_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fr-FR" dirty="0"/>
              <a:t>Notre projet a été réalisé au sein de Tunisie Telecom, l’opérateur historique des télécommunications en Tunisie, qui joue un rôle central dans le développement économique et numérique du pays.</a:t>
            </a:r>
          </a:p>
          <a:p>
            <a:r>
              <a:rPr lang="fr-FR" dirty="0"/>
              <a:t>Tunisie Telecom couvre un large spectre d’activités telles que :</a:t>
            </a:r>
          </a:p>
          <a:p>
            <a:pPr>
              <a:buFont typeface="Arial" panose="020B0604020202020204" pitchFamily="34" charset="0"/>
              <a:buChar char="•"/>
            </a:pPr>
            <a:r>
              <a:rPr lang="fr-FR" dirty="0"/>
              <a:t>la téléphonie fixe et mobile, </a:t>
            </a:r>
          </a:p>
          <a:p>
            <a:pPr>
              <a:buFont typeface="Arial" panose="020B0604020202020204" pitchFamily="34" charset="0"/>
              <a:buChar char="•"/>
            </a:pPr>
            <a:r>
              <a:rPr lang="fr-FR" dirty="0"/>
              <a:t>l’internet haut débit, </a:t>
            </a:r>
          </a:p>
          <a:p>
            <a:pPr>
              <a:buFont typeface="Arial" panose="020B0604020202020204" pitchFamily="34" charset="0"/>
              <a:buChar char="•"/>
            </a:pPr>
            <a:r>
              <a:rPr lang="fr-FR" dirty="0"/>
              <a:t>les solutions pour entreprises, </a:t>
            </a:r>
          </a:p>
          <a:p>
            <a:pPr>
              <a:buFont typeface="Arial" panose="020B0604020202020204" pitchFamily="34" charset="0"/>
              <a:buChar char="•"/>
            </a:pPr>
            <a:r>
              <a:rPr lang="fr-FR" dirty="0"/>
              <a:t>l’infrastructure télécom, </a:t>
            </a:r>
          </a:p>
          <a:p>
            <a:pPr>
              <a:buFont typeface="Arial" panose="020B0604020202020204" pitchFamily="34" charset="0"/>
              <a:buChar char="•"/>
            </a:pPr>
            <a:r>
              <a:rPr lang="fr-FR" dirty="0"/>
              <a:t>et la qualité de service.</a:t>
            </a:r>
          </a:p>
          <a:p>
            <a:pPr marL="228600" indent="0">
              <a:buFont typeface="Arial" panose="020B0604020202020204" pitchFamily="34" charset="0"/>
              <a:buNone/>
            </a:pPr>
            <a:r>
              <a:rPr lang="fr-FR" dirty="0"/>
              <a:t>TT s’inscrit activement dans une stratégie de transformation digitale et de développement des solutions intelligentes basés sur l’IOT. On parle des </a:t>
            </a:r>
            <a:r>
              <a:rPr lang="fr-FR" dirty="0" err="1"/>
              <a:t>systémes</a:t>
            </a:r>
            <a:r>
              <a:rPr lang="fr-FR" dirty="0"/>
              <a:t> connectés capables de collecter des données en temps réel , de les analyser grâce à l’IA et prendre des décisions autonome que ce soit dans les villes intelligentes ou l’agriculture de précision. C’est exactement dans cette logique que s’inscrit notre projet.</a:t>
            </a:r>
          </a:p>
          <a:p>
            <a:pPr marL="228600" indent="0">
              <a:buFont typeface="Arial" panose="020B0604020202020204" pitchFamily="34" charset="0"/>
              <a:buNone/>
            </a:pPr>
            <a:r>
              <a:rPr lang="fr-FR" dirty="0"/>
              <a:t>            </a:t>
            </a:r>
          </a:p>
          <a:p>
            <a:pPr marL="0" lvl="0" indent="0" algn="l" rtl="0">
              <a:lnSpc>
                <a:spcPct val="100000"/>
              </a:lnSpc>
              <a:spcBef>
                <a:spcPts val="0"/>
              </a:spcBef>
              <a:spcAft>
                <a:spcPts val="0"/>
              </a:spcAft>
              <a:buSzPts val="1400"/>
              <a:buNone/>
            </a:pPr>
            <a:endParaRPr dirty="0"/>
          </a:p>
        </p:txBody>
      </p:sp>
      <p:sp>
        <p:nvSpPr>
          <p:cNvPr id="192" name="Google Shape;192;g2566f7ffb8f_1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4</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983389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566f7ffb8f_1_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Les plantes font partie de notre quotidien. Elles purifient l’air, améliorent notre bien-être et décorent nos espaces. Cependant, maintenir une plante en bonne santé n’est pas aussi simple qu’il y paraît. Il faut surveiller régulièrement l’arrosage, l’humidité du sol, la température ainsi que l’état général de la plante, et le moindre oubli peut être fatal.</a:t>
            </a:r>
            <a:endParaRPr dirty="0"/>
          </a:p>
        </p:txBody>
      </p:sp>
      <p:sp>
        <p:nvSpPr>
          <p:cNvPr id="192" name="Google Shape;192;g2566f7ffb8f_1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5</a:t>
            </a:fld>
            <a:endParaRPr lang="fr-F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Les plantes semblent simples à entretenir, mais pourtant leur gestion reste majoritairement manuelle. On arrose souvent à l’intuition, on surveille à l’œil nu et l’on découvre parfois trop tard qu’une plante est en train de mourir. En Tunisie, il existe encore peu de solutions intelligentes dédiées à ce besoin.</a:t>
            </a:r>
          </a:p>
          <a:p>
            <a:r>
              <a:rPr lang="fr-FR" dirty="0"/>
              <a:t>Par ailleurs, les défis deviennent plus importants avec les changements climatiques. Les conditions de croissance des plantes deviennent de plus en plus imprévisibles : les périodes de sécheresse s’allongent et l’humidité varie brutalement. Dans ce contexte, gérer une plante devient non seulement difficile, mais également risqué.</a:t>
            </a:r>
          </a:p>
          <a:p>
            <a:r>
              <a:rPr lang="fr-FR" dirty="0"/>
              <a:t>Par conséquent, cela entraîne un gaspillage d’eau important, des plantes perdues par manque de suivi, des maladies détectées trop tard ainsi que des utilisateurs qui ne savent pas toujours comment faire face à ces changements.</a:t>
            </a:r>
          </a:p>
          <a:p>
            <a:endParaRPr lang="fr-FR"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6</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23797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Notre vision était simple : permettre à chaque utilisateur de prendre soin de ses plantes intelligemment, sans effort, sans expertise préalable et sans gaspillage.</a:t>
            </a:r>
          </a:p>
          <a:p>
            <a:r>
              <a:rPr lang="fr-FR" dirty="0"/>
              <a:t>Pour concrétiser cette vision, nous avons développé une plateforme de gestion intelligente qui s’articule autour des objectifs suivants :</a:t>
            </a:r>
          </a:p>
          <a:p>
            <a:pPr>
              <a:buFont typeface="Arial" panose="020B0604020202020204" pitchFamily="34" charset="0"/>
              <a:buChar char="•"/>
            </a:pPr>
            <a:r>
              <a:rPr lang="fr-FR" dirty="0"/>
              <a:t>Surveiller les paramètres de la plante en temps réel. </a:t>
            </a:r>
          </a:p>
          <a:p>
            <a:pPr>
              <a:buFont typeface="Arial" panose="020B0604020202020204" pitchFamily="34" charset="0"/>
              <a:buChar char="•"/>
            </a:pPr>
            <a:r>
              <a:rPr lang="fr-FR" dirty="0"/>
              <a:t>Automatiser l’irrigation selon les besoins réels de la plante. </a:t>
            </a:r>
          </a:p>
          <a:p>
            <a:pPr>
              <a:buFont typeface="Arial" panose="020B0604020202020204" pitchFamily="34" charset="0"/>
              <a:buChar char="•"/>
            </a:pPr>
            <a:r>
              <a:rPr lang="fr-FR" dirty="0"/>
              <a:t>Offrir une boutique en ligne pour l’acquisition de pots connectés. </a:t>
            </a:r>
          </a:p>
          <a:p>
            <a:pPr>
              <a:buFont typeface="Arial" panose="020B0604020202020204" pitchFamily="34" charset="0"/>
              <a:buChar char="•"/>
            </a:pPr>
            <a:r>
              <a:rPr lang="fr-FR" dirty="0"/>
              <a:t>Sensibiliser et éduquer l’utilisateur à travers des cours et des jeux interactifs.</a:t>
            </a:r>
          </a:p>
          <a:p>
            <a:endParaRPr lang="fr-FR"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7</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928803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566f7ffb8f_1_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fr-FR" dirty="0"/>
              <a:t>Pour organiser notre travail, nous avons adopté le cadre de travail Scrum.</a:t>
            </a:r>
            <a:br>
              <a:rPr lang="fr-FR" dirty="0"/>
            </a:br>
            <a:r>
              <a:rPr lang="fr-FR" dirty="0"/>
              <a:t>Il s’agit d’une approche Agile qui nous a permis de travailler par sprints, de livrer les fonctionnalités progressivement et de nous adapter facilement aux changements durant le développement.</a:t>
            </a:r>
          </a:p>
          <a:p>
            <a:r>
              <a:rPr lang="fr-FR" dirty="0"/>
              <a:t>Le schéma montre le cycle Scrum : on part du </a:t>
            </a:r>
            <a:r>
              <a:rPr lang="fr-FR" dirty="0" err="1"/>
              <a:t>backlog</a:t>
            </a:r>
            <a:r>
              <a:rPr lang="fr-FR" dirty="0"/>
              <a:t> du produit, puis on planifie un sprint, on développe, on teste et enfin on livre. Ce cycle se répète jusqu’à l’obtention d’un produit complet et fonctionnel.</a:t>
            </a:r>
          </a:p>
          <a:p>
            <a:pPr marL="0" lvl="0" indent="0" algn="l" rtl="0">
              <a:lnSpc>
                <a:spcPct val="100000"/>
              </a:lnSpc>
              <a:spcBef>
                <a:spcPts val="0"/>
              </a:spcBef>
              <a:spcAft>
                <a:spcPts val="0"/>
              </a:spcAft>
              <a:buSzPts val="1400"/>
              <a:buNone/>
            </a:pPr>
            <a:endParaRPr dirty="0"/>
          </a:p>
        </p:txBody>
      </p:sp>
      <p:sp>
        <p:nvSpPr>
          <p:cNvPr id="192" name="Google Shape;192;g2566f7ffb8f_1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8</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967505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Passons maintenant à la 2éme partie </a:t>
            </a:r>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9</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5222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b="0" i="0" dirty="0">
                <a:solidFill>
                  <a:srgbClr val="FFFFFF"/>
                </a:solidFill>
                <a:effectLst/>
                <a:latin typeface="Segoe UI Historic" panose="020B0502040204020203" pitchFamily="34" charset="0"/>
              </a:rPr>
              <a:t>Notre plateforme s’adresse à 3 types d’utilisateurs : Le visiteur : un acteur non authentifié qui peut consulter librement le contenu public. Le client : un acteur authentifié qui peut acheter des pots et gérer ses plantes, ainsi que d’autres fonctionnalités. L’administrateur : un acteur authentifié qui gère l’ensemble de la plateforme : utilisateurs, boutique, commandes et réclamations etc..</a:t>
            </a:r>
            <a:endParaRPr dirty="0"/>
          </a:p>
        </p:txBody>
      </p:sp>
      <p:sp>
        <p:nvSpPr>
          <p:cNvPr id="310" name="Google Shape;31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10</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646366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b="0" i="0" dirty="0">
                <a:solidFill>
                  <a:srgbClr val="FFFFFF"/>
                </a:solidFill>
                <a:effectLst/>
                <a:latin typeface="Segoe UI Historic" panose="020B0502040204020203" pitchFamily="34" charset="0"/>
              </a:rPr>
              <a:t>Notre application doit couvrir plusieurs fonctionnalités essentielles :</a:t>
            </a:r>
            <a:endParaRPr dirty="0"/>
          </a:p>
        </p:txBody>
      </p:sp>
      <p:sp>
        <p:nvSpPr>
          <p:cNvPr id="408" name="Google Shape;40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11</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982640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b="0" i="0" dirty="0">
                <a:solidFill>
                  <a:srgbClr val="FFFFFF"/>
                </a:solidFill>
                <a:effectLst/>
                <a:latin typeface="Segoe UI Historic" panose="020B0502040204020203" pitchFamily="34" charset="0"/>
              </a:rPr>
              <a:t>Au-delà des fonctionnalités, notre plateforme doit respecter des critères de qualité tels que : La disponibilité du service. La sécurité des données. La performance. La capacité à évoluer dans le temps et L’ergonomie de l’interface.</a:t>
            </a:r>
            <a:endParaRPr dirty="0"/>
          </a:p>
        </p:txBody>
      </p:sp>
      <p:sp>
        <p:nvSpPr>
          <p:cNvPr id="408" name="Google Shape;40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12</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377934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Entrons maintenant dans la partie </a:t>
            </a:r>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13</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681686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Ce diagramme de cas d’utilisation global présente l’ensemble des interactions possibles entre les 3 acteurs et le système</a:t>
            </a:r>
          </a:p>
          <a:p>
            <a:pPr marL="0" lvl="0" indent="0" algn="l" rtl="0">
              <a:lnSpc>
                <a:spcPct val="100000"/>
              </a:lnSpc>
              <a:spcBef>
                <a:spcPts val="0"/>
              </a:spcBef>
              <a:spcAft>
                <a:spcPts val="0"/>
              </a:spcAft>
              <a:buSzPts val="1400"/>
              <a:buNone/>
            </a:pPr>
            <a:endParaRPr lang="fr-FR" dirty="0"/>
          </a:p>
          <a:p>
            <a:pPr marL="0" lvl="0" indent="0" algn="l" rtl="0">
              <a:lnSpc>
                <a:spcPct val="100000"/>
              </a:lnSpc>
              <a:spcBef>
                <a:spcPts val="0"/>
              </a:spcBef>
              <a:spcAft>
                <a:spcPts val="0"/>
              </a:spcAft>
              <a:buSzPts val="1400"/>
              <a:buNone/>
            </a:pPr>
            <a:r>
              <a:rPr lang="fr-FR" dirty="0" err="1"/>
              <a:t>Commencons</a:t>
            </a:r>
            <a:r>
              <a:rPr lang="fr-FR" dirty="0"/>
              <a:t> par le visiteur qui </a:t>
            </a:r>
          </a:p>
          <a:p>
            <a:pPr marL="0" lvl="0" indent="0" algn="l" rtl="0">
              <a:lnSpc>
                <a:spcPct val="100000"/>
              </a:lnSpc>
              <a:spcBef>
                <a:spcPts val="0"/>
              </a:spcBef>
              <a:spcAft>
                <a:spcPts val="0"/>
              </a:spcAft>
              <a:buSzPts val="1400"/>
              <a:buNone/>
            </a:pPr>
            <a:r>
              <a:rPr lang="fr-FR" dirty="0"/>
              <a:t>Comme il y ‘a des </a:t>
            </a:r>
            <a:r>
              <a:rPr lang="fr-FR" dirty="0" err="1"/>
              <a:t>fonctionnlaités</a:t>
            </a:r>
            <a:r>
              <a:rPr lang="fr-FR" dirty="0"/>
              <a:t> communes entre le client et l’admin telles que </a:t>
            </a:r>
          </a:p>
          <a:p>
            <a:pPr marL="0" lvl="0" indent="0" algn="l" rtl="0">
              <a:lnSpc>
                <a:spcPct val="100000"/>
              </a:lnSpc>
              <a:spcBef>
                <a:spcPts val="0"/>
              </a:spcBef>
              <a:spcAft>
                <a:spcPts val="0"/>
              </a:spcAft>
              <a:buSzPts val="1400"/>
              <a:buNone/>
            </a:pPr>
            <a:r>
              <a:rPr lang="fr-FR" dirty="0"/>
              <a:t>Ensuite et après authentification le client peut</a:t>
            </a:r>
          </a:p>
          <a:p>
            <a:pPr marL="0" lvl="0" indent="0" algn="l" rtl="0">
              <a:lnSpc>
                <a:spcPct val="100000"/>
              </a:lnSpc>
              <a:spcBef>
                <a:spcPts val="0"/>
              </a:spcBef>
              <a:spcAft>
                <a:spcPts val="0"/>
              </a:spcAft>
              <a:buSzPts val="1400"/>
              <a:buNone/>
            </a:pPr>
            <a:r>
              <a:rPr lang="fr-FR" dirty="0"/>
              <a:t>Concernant l’admin, il peut </a:t>
            </a:r>
            <a:endParaRPr dirty="0"/>
          </a:p>
        </p:txBody>
      </p:sp>
      <p:sp>
        <p:nvSpPr>
          <p:cNvPr id="431" name="Google Shape;43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14</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006884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Le diagramme de classe représente la structure </a:t>
            </a:r>
            <a:r>
              <a:rPr lang="fr-FR" dirty="0" err="1"/>
              <a:t>compléte</a:t>
            </a:r>
            <a:r>
              <a:rPr lang="fr-FR" dirty="0"/>
              <a:t> de nos données. On y retrouve toutes les entités du système telles que le client, l’admin, le pot connecté ,la plante , les cours et la </a:t>
            </a:r>
            <a:r>
              <a:rPr lang="fr-FR" dirty="0" err="1"/>
              <a:t>réclamtion</a:t>
            </a:r>
            <a:r>
              <a:rPr lang="fr-FR" dirty="0"/>
              <a:t> etc.. Ainsi les relations qui les lient telles que la </a:t>
            </a:r>
            <a:r>
              <a:rPr lang="fr-FR" dirty="0" err="1"/>
              <a:t>possesion</a:t>
            </a:r>
            <a:r>
              <a:rPr lang="fr-FR" dirty="0"/>
              <a:t> du client d’un ou + pots et ces pots doits contenir une seule plante. Le client aussi peut suivre + cours et obtenir un certif pour </a:t>
            </a:r>
            <a:r>
              <a:rPr lang="fr-FR" dirty="0" err="1"/>
              <a:t>chacuns</a:t>
            </a:r>
            <a:r>
              <a:rPr lang="fr-FR" dirty="0"/>
              <a:t> de ces cours ainsi que l’envoi d’une ou + réclamations qui vont </a:t>
            </a:r>
            <a:r>
              <a:rPr lang="fr-FR" dirty="0" err="1"/>
              <a:t>etre</a:t>
            </a:r>
            <a:r>
              <a:rPr lang="fr-FR" dirty="0"/>
              <a:t> gérées par un admin </a:t>
            </a:r>
            <a:r>
              <a:rPr lang="fr-FR" dirty="0" err="1"/>
              <a:t>etc</a:t>
            </a:r>
            <a:r>
              <a:rPr lang="fr-FR" dirty="0"/>
              <a:t> …</a:t>
            </a:r>
            <a:endParaRPr dirty="0"/>
          </a:p>
        </p:txBody>
      </p:sp>
      <p:sp>
        <p:nvSpPr>
          <p:cNvPr id="431" name="Google Shape;43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15</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27741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Nous avons découpé notre développement en 4 sprints chacun dédié à un module précis le module 1 couvre … le module 2 couvre …. Le module 3 couvre …. Et le module 4 couvre ….</a:t>
            </a:r>
          </a:p>
          <a:p>
            <a:pPr marL="0" lvl="0" indent="0" algn="l" rtl="0">
              <a:lnSpc>
                <a:spcPct val="100000"/>
              </a:lnSpc>
              <a:spcBef>
                <a:spcPts val="0"/>
              </a:spcBef>
              <a:spcAft>
                <a:spcPts val="0"/>
              </a:spcAft>
              <a:buSzPts val="1400"/>
              <a:buNone/>
            </a:pPr>
            <a:r>
              <a:rPr lang="fr-FR" dirty="0"/>
              <a:t>Le diagramme de </a:t>
            </a:r>
            <a:r>
              <a:rPr lang="fr-FR" dirty="0" err="1"/>
              <a:t>gantt</a:t>
            </a:r>
            <a:r>
              <a:rPr lang="fr-FR" dirty="0"/>
              <a:t> montre  que ces sprints se sont enchainés de façon progressive de mois du février à mai.</a:t>
            </a:r>
            <a:endParaRPr dirty="0"/>
          </a:p>
        </p:txBody>
      </p:sp>
      <p:sp>
        <p:nvSpPr>
          <p:cNvPr id="431" name="Google Shape;43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16</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702508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Pour le sprint 1, ce diagramme montre les fonctionnalités liés à la gestions des comptes utilisateurs tel que l’inscription du visiteur , la connexion de l’admin et client </a:t>
            </a:r>
            <a:endParaRPr dirty="0"/>
          </a:p>
        </p:txBody>
      </p:sp>
      <p:sp>
        <p:nvSpPr>
          <p:cNvPr id="431" name="Google Shape;43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17</a:t>
            </a:fld>
            <a:endParaRPr lang="fr-F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Ce diagramme de séquence décrit les étapes de connexion, l’utilisateur saisit ses identifiants , le système les vérifie et s’ils sont </a:t>
            </a:r>
            <a:r>
              <a:rPr lang="fr-FR" dirty="0" err="1"/>
              <a:t>sont</a:t>
            </a:r>
            <a:r>
              <a:rPr lang="fr-FR" dirty="0"/>
              <a:t> corrects, il est redirigé vers son espace personnel et en cas d’erreur, un message lui est retourné.</a:t>
            </a:r>
            <a:endParaRPr dirty="0"/>
          </a:p>
        </p:txBody>
      </p:sp>
      <p:sp>
        <p:nvSpPr>
          <p:cNvPr id="431" name="Google Shape;43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18</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132931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Le sprint 2 couvre le module e-commerce. Ce digramme montre ce que peut faire le client tels que </a:t>
            </a:r>
          </a:p>
          <a:p>
            <a:pPr marL="0" lvl="0" indent="0" algn="l" rtl="0">
              <a:lnSpc>
                <a:spcPct val="100000"/>
              </a:lnSpc>
              <a:spcBef>
                <a:spcPts val="0"/>
              </a:spcBef>
              <a:spcAft>
                <a:spcPts val="0"/>
              </a:spcAft>
              <a:buSzPts val="1400"/>
              <a:buNone/>
            </a:pPr>
            <a:r>
              <a:rPr lang="fr-FR" dirty="0"/>
              <a:t>Concernant l’admin, il peut </a:t>
            </a:r>
            <a:endParaRPr dirty="0"/>
          </a:p>
        </p:txBody>
      </p:sp>
      <p:sp>
        <p:nvSpPr>
          <p:cNvPr id="431" name="Google Shape;43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19</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466796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Cette séquence illustre les étapes d’un achat du pot: le client choisit un produit , le place dans son panier , valide la commande et effectue le paiement, l’admin confirme ensuite la transaction et met à jour le stock </a:t>
            </a:r>
            <a:endParaRPr dirty="0"/>
          </a:p>
        </p:txBody>
      </p:sp>
      <p:sp>
        <p:nvSpPr>
          <p:cNvPr id="431" name="Google Shape;43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20</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390935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Dans ce 3éme sprint, on s ’intéresse aux pots connectés, ou le client peut…..</a:t>
            </a:r>
          </a:p>
          <a:p>
            <a:pPr marL="0" lvl="0" indent="0" algn="l" rtl="0">
              <a:lnSpc>
                <a:spcPct val="100000"/>
              </a:lnSpc>
              <a:spcBef>
                <a:spcPts val="0"/>
              </a:spcBef>
              <a:spcAft>
                <a:spcPts val="0"/>
              </a:spcAft>
              <a:buSzPts val="1400"/>
              <a:buNone/>
            </a:pPr>
            <a:r>
              <a:rPr lang="fr-FR" dirty="0" err="1"/>
              <a:t>Concernat</a:t>
            </a:r>
            <a:r>
              <a:rPr lang="fr-FR" dirty="0"/>
              <a:t> l’admin, il peut </a:t>
            </a:r>
            <a:endParaRPr dirty="0"/>
          </a:p>
        </p:txBody>
      </p:sp>
      <p:sp>
        <p:nvSpPr>
          <p:cNvPr id="431" name="Google Shape;43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21</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735096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Cette séquence décrit le flux complet de gestion du pot, le pot envoie ses mesures au serveur MQTT , le système les traite et les affiche . Ce dernier peut ensuite prédire des valeurs pour les 15 prochaines minutes à partir de ces données mesurés et par conséquent l’utilisateur pet agir en activant soit une irrigation manuelle par un clic de bouton pour le déclenchement et un autre pour l’arrêt soit une irrigation auto par insertion de sa périodicité et sa durée et soit une irrigation intelligente par déclenchement en cas de dépassement du seuil de l’humidité du sol.</a:t>
            </a:r>
            <a:endParaRPr dirty="0"/>
          </a:p>
        </p:txBody>
      </p:sp>
      <p:sp>
        <p:nvSpPr>
          <p:cNvPr id="431" name="Google Shape;43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22</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679384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Le 4 </a:t>
            </a:r>
            <a:r>
              <a:rPr lang="fr-FR" dirty="0" err="1"/>
              <a:t>éme</a:t>
            </a:r>
            <a:r>
              <a:rPr lang="fr-FR" dirty="0"/>
              <a:t> sprint couvre le module éducatif et gestion des réclamations .</a:t>
            </a:r>
          </a:p>
          <a:p>
            <a:pPr marL="0" lvl="0" indent="0" algn="l" rtl="0">
              <a:lnSpc>
                <a:spcPct val="100000"/>
              </a:lnSpc>
              <a:spcBef>
                <a:spcPts val="0"/>
              </a:spcBef>
              <a:spcAft>
                <a:spcPts val="0"/>
              </a:spcAft>
              <a:buSzPts val="1400"/>
              <a:buNone/>
            </a:pPr>
            <a:r>
              <a:rPr lang="fr-FR" dirty="0"/>
              <a:t>Le client peut </a:t>
            </a:r>
          </a:p>
          <a:p>
            <a:pPr marL="0" lvl="0" indent="0" algn="l" rtl="0">
              <a:lnSpc>
                <a:spcPct val="100000"/>
              </a:lnSpc>
              <a:spcBef>
                <a:spcPts val="0"/>
              </a:spcBef>
              <a:spcAft>
                <a:spcPts val="0"/>
              </a:spcAft>
              <a:buSzPts val="1400"/>
              <a:buNone/>
            </a:pPr>
            <a:r>
              <a:rPr lang="fr-FR" dirty="0"/>
              <a:t>L’admin …</a:t>
            </a:r>
            <a:endParaRPr dirty="0"/>
          </a:p>
        </p:txBody>
      </p:sp>
      <p:sp>
        <p:nvSpPr>
          <p:cNvPr id="431" name="Google Shape;43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23</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214129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Cette séquence montre le parcours d’un utilisateur pour obtenir un </a:t>
            </a:r>
            <a:r>
              <a:rPr lang="fr-FR" dirty="0" err="1"/>
              <a:t>cetificat</a:t>
            </a:r>
            <a:r>
              <a:rPr lang="fr-FR" dirty="0"/>
              <a:t>: il suit un cours, passe un examen de 30 questions pendant 20 min , obtient une note suffisante puis le système génère auto son certificat </a:t>
            </a:r>
            <a:endParaRPr dirty="0"/>
          </a:p>
        </p:txBody>
      </p:sp>
      <p:sp>
        <p:nvSpPr>
          <p:cNvPr id="431" name="Google Shape;43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24</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064250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25</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45199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26</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7134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27</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345544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FFFFFF"/>
                </a:solidFill>
                <a:effectLst/>
                <a:latin typeface="Segoe UI Historic" panose="020B0502040204020203" pitchFamily="34" charset="0"/>
              </a:rPr>
              <a:t>Notre application suit une architecture logique en trois couches : La vue pour l’interface utilisateur, le contrôleur pour traiter les requêtes et le modèle pour accéder aux données. Cette structure MVC garantit une bonne séparation des responsabilités et facilite la maintenance du code.</a:t>
            </a:r>
            <a:endParaRPr lang="fr-FR" dirty="0"/>
          </a:p>
        </p:txBody>
      </p:sp>
      <p:sp>
        <p:nvSpPr>
          <p:cNvPr id="4" name="Espace réservé du numéro de diapositive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29</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502369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FFFFFF"/>
                </a:solidFill>
                <a:effectLst/>
                <a:latin typeface="Segoe UI Historic" panose="020B0502040204020203" pitchFamily="34" charset="0"/>
              </a:rPr>
              <a:t>Pour développer notre plateforme, nous avons utilisé plusieurs outils complémentaires : VS Code comme éditeur de code, Node.js et Express.js pour le backend, </a:t>
            </a:r>
            <a:r>
              <a:rPr lang="fr-FR" b="0" i="0" dirty="0" err="1">
                <a:solidFill>
                  <a:srgbClr val="FFFFFF"/>
                </a:solidFill>
                <a:effectLst/>
                <a:latin typeface="Segoe UI Historic" panose="020B0502040204020203" pitchFamily="34" charset="0"/>
              </a:rPr>
              <a:t>React</a:t>
            </a:r>
            <a:r>
              <a:rPr lang="fr-FR" b="0" i="0" dirty="0">
                <a:solidFill>
                  <a:srgbClr val="FFFFFF"/>
                </a:solidFill>
                <a:effectLst/>
                <a:latin typeface="Segoe UI Historic" panose="020B0502040204020203" pitchFamily="34" charset="0"/>
              </a:rPr>
              <a:t> pour le frontend et MongoDB Atlas pour la base de données cloud.</a:t>
            </a:r>
            <a:endParaRPr lang="fr-FR" dirty="0"/>
          </a:p>
        </p:txBody>
      </p:sp>
      <p:sp>
        <p:nvSpPr>
          <p:cNvPr id="4" name="Espace réservé du numéro de diapositive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30</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3352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dirty="0"/>
              <a:t>Passons maintenant à la démo</a:t>
            </a:r>
            <a:endParaRPr dirty="0"/>
          </a:p>
        </p:txBody>
      </p:sp>
      <p:sp>
        <p:nvSpPr>
          <p:cNvPr id="704" name="Google Shape;70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31</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297908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FFFFFF"/>
                </a:solidFill>
                <a:effectLst/>
                <a:latin typeface="Segoe UI Historic" panose="020B0502040204020203" pitchFamily="34" charset="0"/>
              </a:rPr>
              <a:t>Nous arrivons à la dernière partie de notre présentation : la conclusion et les perspectives.</a:t>
            </a:r>
            <a:endParaRPr lang="fr-FR"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32</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883671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FFFFFF"/>
                </a:solidFill>
                <a:effectLst/>
                <a:latin typeface="Segoe UI Historic" panose="020B0502040204020203" pitchFamily="34" charset="0"/>
              </a:rPr>
              <a:t>En résumé, nous avons conçu et développé une plateforme complète de gestion et suivi des plantes. Ce projet nous a permis d’appliquer concrètement nos connaissances académiques, de maîtriser des technologies modernes comme l’IoT, l’IA et le développement web et de nous préparer à intégrer le monde professionnel.</a:t>
            </a:r>
            <a:endParaRPr lang="fr-TN" dirty="0"/>
          </a:p>
        </p:txBody>
      </p:sp>
      <p:sp>
        <p:nvSpPr>
          <p:cNvPr id="4" name="Espace réservé du numéro de diapositiv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33</a:t>
            </a:fld>
            <a:endParaRPr lang="fr-F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330795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b="0" i="0">
                <a:solidFill>
                  <a:srgbClr val="FFFFFF"/>
                </a:solidFill>
                <a:effectLst/>
                <a:latin typeface="Segoe UI Historic" panose="020B0502040204020203" pitchFamily="34" charset="0"/>
              </a:rPr>
              <a:t>Pour la suite, 2 améliorations importantes sont envisagées : D’abord, ... Ensuite, ...</a:t>
            </a:r>
            <a:endParaRPr dirty="0"/>
          </a:p>
        </p:txBody>
      </p:sp>
      <p:sp>
        <p:nvSpPr>
          <p:cNvPr id="792" name="Google Shape;792;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34</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b="0" i="0" dirty="0">
                <a:solidFill>
                  <a:srgbClr val="FFFFFF"/>
                </a:solidFill>
                <a:effectLst/>
                <a:latin typeface="Segoe UI Historic" panose="020B0502040204020203" pitchFamily="34" charset="0"/>
              </a:rPr>
              <a:t>Nous vous remercions chaleureusement pour votre attention et votre présence. Nous espérons que cette présentation vous a permis de mieux comprendre le sujet traité. Nous restons maintenant à votre disposition pour toute question ou remarque.</a:t>
            </a:r>
            <a:endParaRPr dirty="0"/>
          </a:p>
        </p:txBody>
      </p:sp>
      <p:sp>
        <p:nvSpPr>
          <p:cNvPr id="813" name="Google Shape;81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Espace réservé du numéro de diapositive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smtClean="0">
                <a:solidFill>
                  <a:schemeClr val="dk1"/>
                </a:solidFill>
                <a:latin typeface="Calibri"/>
                <a:ea typeface="Calibri"/>
                <a:cs typeface="Calibri"/>
                <a:sym typeface="Calibri"/>
              </a:rPr>
              <a:t>35</a:t>
            </a:fld>
            <a:endParaRPr lang="fr-FR" sz="1200"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Lst>
  <mc:AlternateContent xmlns:mc="http://schemas.openxmlformats.org/markup-compatibility/2006" xmlns:p14="http://schemas.microsoft.com/office/powerpoint/2010/main">
    <mc:Choice Requires="p14">
      <p:transition spd="slow" p14:dur="1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2.jpeg"/><Relationship Id="rId7"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 Id="rId9" Type="http://schemas.openxmlformats.org/officeDocument/2006/relationships/image" Target="../media/image9.jp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7" Type="http://schemas.openxmlformats.org/officeDocument/2006/relationships/image" Target="../media/image14.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jpg"/><Relationship Id="rId5" Type="http://schemas.openxmlformats.org/officeDocument/2006/relationships/image" Target="../media/image19.jpg"/><Relationship Id="rId4" Type="http://schemas.openxmlformats.org/officeDocument/2006/relationships/image" Target="../media/image18.jpg"/></Relationships>
</file>

<file path=ppt/slides/_rels/slide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8.jpg"/><Relationship Id="rId5" Type="http://schemas.openxmlformats.org/officeDocument/2006/relationships/image" Target="../media/image27.jp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2.jpg"/><Relationship Id="rId7" Type="http://schemas.openxmlformats.org/officeDocument/2006/relationships/image" Target="../media/image46.jp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jpeg"/><Relationship Id="rId4" Type="http://schemas.openxmlformats.org/officeDocument/2006/relationships/image" Target="../media/image43.jpg"/></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jpg"/><Relationship Id="rId1" Type="http://schemas.openxmlformats.org/officeDocument/2006/relationships/slideLayout" Target="../slideLayouts/slideLayout2.xml"/><Relationship Id="rId6" Type="http://schemas.openxmlformats.org/officeDocument/2006/relationships/image" Target="../media/image42.jpg"/><Relationship Id="rId5" Type="http://schemas.openxmlformats.org/officeDocument/2006/relationships/image" Target="../media/image52.jpeg"/><Relationship Id="rId4" Type="http://schemas.openxmlformats.org/officeDocument/2006/relationships/image" Target="../media/image43.jpg"/></Relationships>
</file>

<file path=ppt/slides/_rels/slide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jpg"/></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65.sv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slides/_rels/slide3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1117539" y="2798272"/>
            <a:ext cx="10110900" cy="86173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fr-FR" sz="2500" b="1" i="0" u="none" strike="noStrike" cap="none" dirty="0">
                <a:solidFill>
                  <a:schemeClr val="dk1"/>
                </a:solidFill>
              </a:rPr>
              <a:t> </a:t>
            </a:r>
            <a:r>
              <a:rPr lang="fr-FR" sz="2500" b="1" dirty="0">
                <a:solidFill>
                  <a:schemeClr val="dk1"/>
                </a:solidFill>
              </a:rPr>
              <a:t>P</a:t>
            </a:r>
            <a:r>
              <a:rPr lang="fr-FR" sz="2500" b="1" i="0" u="none" strike="noStrike" cap="none" dirty="0">
                <a:solidFill>
                  <a:schemeClr val="dk1"/>
                </a:solidFill>
              </a:rPr>
              <a:t>lateforme de gestion et de suivi des plantes connectée à un pot intelligent avec un système éducatif</a:t>
            </a:r>
            <a:endParaRPr sz="2500" b="1" i="0" u="none" strike="noStrike" cap="none" dirty="0">
              <a:solidFill>
                <a:schemeClr val="dk1"/>
              </a:solidFill>
            </a:endParaRPr>
          </a:p>
        </p:txBody>
      </p:sp>
      <p:sp>
        <p:nvSpPr>
          <p:cNvPr id="90" name="Google Shape;90;p13"/>
          <p:cNvSpPr/>
          <p:nvPr/>
        </p:nvSpPr>
        <p:spPr>
          <a:xfrm>
            <a:off x="3012974" y="4160889"/>
            <a:ext cx="6006636" cy="33588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fr-FR" sz="1800" b="1" i="0" u="none" strike="noStrike" cap="none" dirty="0">
                <a:solidFill>
                  <a:schemeClr val="dk1"/>
                </a:solidFill>
              </a:rPr>
              <a:t>Élaboré par : </a:t>
            </a:r>
            <a:r>
              <a:rPr lang="fr-FR" sz="1800" b="1" dirty="0">
                <a:solidFill>
                  <a:schemeClr val="dk1"/>
                </a:solidFill>
              </a:rPr>
              <a:t>Oussema Koubaa &amp; Yassine </a:t>
            </a:r>
            <a:r>
              <a:rPr lang="fr-FR" sz="1800" b="1" dirty="0" err="1">
                <a:solidFill>
                  <a:schemeClr val="dk1"/>
                </a:solidFill>
              </a:rPr>
              <a:t>Rekik</a:t>
            </a:r>
            <a:endParaRPr sz="1800" b="1" i="0" u="none" strike="noStrike" cap="none" dirty="0">
              <a:solidFill>
                <a:srgbClr val="000000"/>
              </a:solidFill>
            </a:endParaRPr>
          </a:p>
        </p:txBody>
      </p:sp>
      <p:sp>
        <p:nvSpPr>
          <p:cNvPr id="91" name="Google Shape;91;p13"/>
          <p:cNvSpPr/>
          <p:nvPr/>
        </p:nvSpPr>
        <p:spPr>
          <a:xfrm>
            <a:off x="2247092" y="5139578"/>
            <a:ext cx="3769200" cy="103527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1800" b="1" i="0" u="none" strike="noStrike" cap="none" dirty="0">
                <a:solidFill>
                  <a:schemeClr val="dk1"/>
                </a:solidFill>
              </a:rPr>
              <a:t>Encadrants : </a:t>
            </a:r>
            <a:endParaRPr sz="1800" b="1" i="0" u="none" strike="noStrike" cap="none" dirty="0">
              <a:solidFill>
                <a:schemeClr val="dk1"/>
              </a:solidFill>
            </a:endParaRPr>
          </a:p>
          <a:p>
            <a:pPr marL="457200" marR="0" lvl="0" indent="-355600" algn="l" rtl="0">
              <a:lnSpc>
                <a:spcPct val="100000"/>
              </a:lnSpc>
              <a:spcBef>
                <a:spcPts val="0"/>
              </a:spcBef>
              <a:spcAft>
                <a:spcPts val="0"/>
              </a:spcAft>
              <a:buClr>
                <a:schemeClr val="dk1"/>
              </a:buClr>
              <a:buSzPts val="2000"/>
              <a:buChar char="●"/>
            </a:pPr>
            <a:r>
              <a:rPr lang="fr-FR" sz="1800" b="1" i="0" u="none" strike="noStrike" cap="none" dirty="0">
                <a:solidFill>
                  <a:schemeClr val="dk1"/>
                </a:solidFill>
              </a:rPr>
              <a:t>M</a:t>
            </a:r>
            <a:r>
              <a:rPr lang="fr-FR" sz="1800" b="1" dirty="0">
                <a:solidFill>
                  <a:schemeClr val="dk1"/>
                </a:solidFill>
              </a:rPr>
              <a:t>r</a:t>
            </a:r>
            <a:r>
              <a:rPr lang="fr-FR" sz="1800" b="1" i="0" u="none" strike="noStrike" cap="none" dirty="0">
                <a:solidFill>
                  <a:schemeClr val="dk1"/>
                </a:solidFill>
              </a:rPr>
              <a:t>       Achraf </a:t>
            </a:r>
            <a:r>
              <a:rPr lang="fr-FR" sz="1800" b="1" i="0" u="none" strike="noStrike" cap="none" dirty="0" err="1">
                <a:solidFill>
                  <a:schemeClr val="dk1"/>
                </a:solidFill>
              </a:rPr>
              <a:t>Mtibaa</a:t>
            </a:r>
            <a:endParaRPr sz="1800" b="1" i="0" u="none" strike="noStrike" cap="none" dirty="0">
              <a:solidFill>
                <a:schemeClr val="dk1"/>
              </a:solidFill>
            </a:endParaRPr>
          </a:p>
          <a:p>
            <a:pPr marL="457200" marR="0" lvl="0" indent="-355600" algn="l" rtl="0">
              <a:lnSpc>
                <a:spcPct val="100000"/>
              </a:lnSpc>
              <a:spcBef>
                <a:spcPts val="0"/>
              </a:spcBef>
              <a:spcAft>
                <a:spcPts val="0"/>
              </a:spcAft>
              <a:buClr>
                <a:schemeClr val="dk1"/>
              </a:buClr>
              <a:buSzPts val="2000"/>
              <a:buChar char="●"/>
            </a:pPr>
            <a:r>
              <a:rPr lang="fr-FR" sz="1800" b="1" i="0" u="none" strike="noStrike" cap="none" dirty="0">
                <a:solidFill>
                  <a:schemeClr val="dk1"/>
                </a:solidFill>
              </a:rPr>
              <a:t>Mme   </a:t>
            </a:r>
            <a:r>
              <a:rPr lang="fr-FR" sz="1800" b="1" i="0" u="none" strike="noStrike" cap="none" dirty="0" err="1">
                <a:solidFill>
                  <a:schemeClr val="dk1"/>
                </a:solidFill>
              </a:rPr>
              <a:t>Dorra</a:t>
            </a:r>
            <a:r>
              <a:rPr lang="fr-FR" sz="1800" b="1" i="0" u="none" strike="noStrike" cap="none" dirty="0">
                <a:solidFill>
                  <a:schemeClr val="dk1"/>
                </a:solidFill>
              </a:rPr>
              <a:t> </a:t>
            </a:r>
            <a:r>
              <a:rPr lang="fr-FR" sz="1800" b="1" i="0" u="none" strike="noStrike" cap="none" dirty="0" err="1">
                <a:solidFill>
                  <a:schemeClr val="dk1"/>
                </a:solidFill>
              </a:rPr>
              <a:t>Labidi</a:t>
            </a:r>
            <a:endParaRPr sz="1800" b="1" i="0" u="none" strike="noStrike" cap="none" dirty="0">
              <a:solidFill>
                <a:schemeClr val="dk1"/>
              </a:solidFill>
            </a:endParaRPr>
          </a:p>
        </p:txBody>
      </p:sp>
      <p:sp>
        <p:nvSpPr>
          <p:cNvPr id="92" name="Google Shape;92;p13"/>
          <p:cNvSpPr/>
          <p:nvPr/>
        </p:nvSpPr>
        <p:spPr>
          <a:xfrm>
            <a:off x="4048775" y="6429425"/>
            <a:ext cx="39570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1800" b="1" i="0" u="none" strike="noStrike" cap="none" dirty="0">
                <a:solidFill>
                  <a:schemeClr val="dk1"/>
                </a:solidFill>
              </a:rPr>
              <a:t>Année universitaire 2025</a:t>
            </a:r>
            <a:r>
              <a:rPr lang="fr-FR" sz="1800" b="1" dirty="0">
                <a:solidFill>
                  <a:schemeClr val="dk1"/>
                </a:solidFill>
              </a:rPr>
              <a:t>-</a:t>
            </a:r>
            <a:r>
              <a:rPr lang="fr-FR" sz="1800" b="1" i="0" u="none" strike="noStrike" cap="none" dirty="0">
                <a:solidFill>
                  <a:schemeClr val="dk1"/>
                </a:solidFill>
              </a:rPr>
              <a:t>2026</a:t>
            </a:r>
            <a:endParaRPr sz="1800" b="1" i="0" u="none" strike="noStrike" cap="none" dirty="0">
              <a:solidFill>
                <a:srgbClr val="000000"/>
              </a:solidFill>
            </a:endParaRPr>
          </a:p>
        </p:txBody>
      </p:sp>
      <p:cxnSp>
        <p:nvCxnSpPr>
          <p:cNvPr id="94" name="Google Shape;94;p13"/>
          <p:cNvCxnSpPr>
            <a:cxnSpLocks/>
          </p:cNvCxnSpPr>
          <p:nvPr/>
        </p:nvCxnSpPr>
        <p:spPr>
          <a:xfrm>
            <a:off x="854548" y="2566861"/>
            <a:ext cx="10373891" cy="15283"/>
          </a:xfrm>
          <a:prstGeom prst="straightConnector1">
            <a:avLst/>
          </a:prstGeom>
          <a:noFill/>
          <a:ln w="9525" cap="flat" cmpd="sng">
            <a:solidFill>
              <a:schemeClr val="dk2"/>
            </a:solidFill>
            <a:prstDash val="solid"/>
            <a:round/>
            <a:headEnd type="none" w="sm" len="sm"/>
            <a:tailEnd type="none" w="sm" len="sm"/>
          </a:ln>
        </p:spPr>
      </p:cxnSp>
      <p:cxnSp>
        <p:nvCxnSpPr>
          <p:cNvPr id="95" name="Google Shape;95;p13"/>
          <p:cNvCxnSpPr>
            <a:cxnSpLocks/>
          </p:cNvCxnSpPr>
          <p:nvPr/>
        </p:nvCxnSpPr>
        <p:spPr>
          <a:xfrm flipV="1">
            <a:off x="854548" y="3825103"/>
            <a:ext cx="10373891" cy="28869"/>
          </a:xfrm>
          <a:prstGeom prst="straightConnector1">
            <a:avLst/>
          </a:prstGeom>
          <a:noFill/>
          <a:ln w="9525" cap="flat" cmpd="sng">
            <a:solidFill>
              <a:schemeClr val="dk2"/>
            </a:solidFill>
            <a:prstDash val="solid"/>
            <a:round/>
            <a:headEnd type="none" w="sm" len="sm"/>
            <a:tailEnd type="none" w="sm" len="sm"/>
          </a:ln>
        </p:spPr>
      </p:cxnSp>
      <p:sp>
        <p:nvSpPr>
          <p:cNvPr id="96" name="Google Shape;96;p13"/>
          <p:cNvSpPr/>
          <p:nvPr/>
        </p:nvSpPr>
        <p:spPr>
          <a:xfrm>
            <a:off x="6486188" y="5174089"/>
            <a:ext cx="3487800" cy="9973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1800" b="1" i="0" u="none" strike="noStrike" cap="none" dirty="0">
                <a:solidFill>
                  <a:schemeClr val="dk1"/>
                </a:solidFill>
              </a:rPr>
              <a:t>Membres du jury : </a:t>
            </a:r>
          </a:p>
          <a:p>
            <a:pPr marL="457200" marR="0" lvl="0" indent="-355600" algn="l" rtl="0">
              <a:lnSpc>
                <a:spcPct val="100000"/>
              </a:lnSpc>
              <a:spcBef>
                <a:spcPts val="0"/>
              </a:spcBef>
              <a:spcAft>
                <a:spcPts val="0"/>
              </a:spcAft>
              <a:buClr>
                <a:schemeClr val="dk1"/>
              </a:buClr>
              <a:buSzPts val="2000"/>
              <a:buChar char="●"/>
            </a:pPr>
            <a:r>
              <a:rPr lang="fr-FR" sz="1800" b="1" i="0" u="none" strike="noStrike" cap="none" dirty="0">
                <a:solidFill>
                  <a:schemeClr val="dk1"/>
                </a:solidFill>
              </a:rPr>
              <a:t>Mme  </a:t>
            </a:r>
            <a:r>
              <a:rPr lang="fr-FR" sz="1800" b="1" i="0" u="none" strike="noStrike" cap="none" dirty="0" err="1">
                <a:solidFill>
                  <a:schemeClr val="dk1"/>
                </a:solidFill>
              </a:rPr>
              <a:t>Rawia</a:t>
            </a:r>
            <a:r>
              <a:rPr lang="fr-FR" sz="1800" b="1" i="0" u="none" strike="noStrike" cap="none" dirty="0">
                <a:solidFill>
                  <a:schemeClr val="dk1"/>
                </a:solidFill>
              </a:rPr>
              <a:t> Ayadi</a:t>
            </a:r>
          </a:p>
          <a:p>
            <a:pPr marL="457200" marR="0" lvl="0" indent="-355600" algn="l" rtl="0">
              <a:lnSpc>
                <a:spcPct val="100000"/>
              </a:lnSpc>
              <a:spcBef>
                <a:spcPts val="0"/>
              </a:spcBef>
              <a:spcAft>
                <a:spcPts val="0"/>
              </a:spcAft>
              <a:buClr>
                <a:schemeClr val="dk1"/>
              </a:buClr>
              <a:buSzPts val="2000"/>
              <a:buChar char="●"/>
            </a:pPr>
            <a:r>
              <a:rPr lang="fr-FR" sz="1800" b="1" i="0" u="none" strike="noStrike" cap="none" dirty="0">
                <a:solidFill>
                  <a:schemeClr val="dk1"/>
                </a:solidFill>
              </a:rPr>
              <a:t>Mr      Tarak Ben </a:t>
            </a:r>
            <a:r>
              <a:rPr lang="fr-FR" sz="1800" b="1" i="0" u="none" strike="noStrike" cap="none" dirty="0" err="1">
                <a:solidFill>
                  <a:schemeClr val="dk1"/>
                </a:solidFill>
              </a:rPr>
              <a:t>Said</a:t>
            </a:r>
            <a:r>
              <a:rPr lang="fr-FR" sz="1800" b="1" i="0" u="none" strike="noStrike" cap="none" dirty="0">
                <a:solidFill>
                  <a:schemeClr val="dk1"/>
                </a:solidFill>
              </a:rPr>
              <a:t> </a:t>
            </a:r>
          </a:p>
        </p:txBody>
      </p:sp>
      <p:pic>
        <p:nvPicPr>
          <p:cNvPr id="2" name="Image 1"/>
          <p:cNvPicPr>
            <a:picLocks noChangeAspect="1"/>
          </p:cNvPicPr>
          <p:nvPr/>
        </p:nvPicPr>
        <p:blipFill>
          <a:blip r:embed="rId3"/>
          <a:stretch>
            <a:fillRect/>
          </a:stretch>
        </p:blipFill>
        <p:spPr>
          <a:xfrm>
            <a:off x="599078" y="682146"/>
            <a:ext cx="2486571" cy="1410929"/>
          </a:xfrm>
          <a:prstGeom prst="rect">
            <a:avLst/>
          </a:prstGeom>
        </p:spPr>
      </p:pic>
      <p:sp>
        <p:nvSpPr>
          <p:cNvPr id="16" name="Rectangle 15"/>
          <p:cNvSpPr/>
          <p:nvPr/>
        </p:nvSpPr>
        <p:spPr>
          <a:xfrm>
            <a:off x="2730494" y="682147"/>
            <a:ext cx="6632811" cy="400110"/>
          </a:xfrm>
          <a:prstGeom prst="rect">
            <a:avLst/>
          </a:prstGeom>
          <a:noFill/>
        </p:spPr>
        <p:txBody>
          <a:bodyPr wrap="square" lIns="91440" tIns="45720" rIns="91440" bIns="45720">
            <a:spAutoFit/>
          </a:bodyPr>
          <a:lstStyle/>
          <a:p>
            <a:pPr algn="ctr"/>
            <a:r>
              <a:rPr lang="fr-FR" sz="2000" b="0" cap="none" spc="0" noProof="1">
                <a:ln w="0"/>
                <a:effectLst>
                  <a:outerShdw blurRad="38100" dist="19050" dir="2700000" algn="tl" rotWithShape="0">
                    <a:schemeClr val="dk1">
                      <a:alpha val="40000"/>
                    </a:schemeClr>
                  </a:outerShdw>
                </a:effectLst>
                <a:latin typeface="+mj-lt"/>
                <a:cs typeface="Times New Roman" panose="02020603050405020304" pitchFamily="18" charset="0"/>
              </a:rPr>
              <a:t>Projet</a:t>
            </a:r>
            <a:r>
              <a:rPr lang="en-US" sz="2000" b="0" cap="none" spc="0" dirty="0">
                <a:ln w="0"/>
                <a:effectLst>
                  <a:outerShdw blurRad="38100" dist="19050" dir="2700000" algn="tl" rotWithShape="0">
                    <a:schemeClr val="dk1">
                      <a:alpha val="40000"/>
                    </a:schemeClr>
                  </a:outerShdw>
                </a:effectLst>
                <a:latin typeface="+mj-lt"/>
                <a:cs typeface="Times New Roman" panose="02020603050405020304" pitchFamily="18" charset="0"/>
              </a:rPr>
              <a:t> de fin </a:t>
            </a:r>
            <a:r>
              <a:rPr lang="fr-FR" sz="2000" b="0" cap="none" spc="0" noProof="1">
                <a:ln w="0"/>
                <a:effectLst>
                  <a:outerShdw blurRad="38100" dist="19050" dir="2700000" algn="tl" rotWithShape="0">
                    <a:schemeClr val="dk1">
                      <a:alpha val="40000"/>
                    </a:schemeClr>
                  </a:outerShdw>
                </a:effectLst>
                <a:latin typeface="+mj-lt"/>
                <a:cs typeface="Times New Roman" panose="02020603050405020304" pitchFamily="18" charset="0"/>
              </a:rPr>
              <a:t>d’étude</a:t>
            </a:r>
            <a:r>
              <a:rPr lang="en-US" sz="2000" b="0" cap="none" spc="0" dirty="0">
                <a:ln w="0"/>
                <a:effectLst>
                  <a:outerShdw blurRad="38100" dist="19050" dir="2700000" algn="tl" rotWithShape="0">
                    <a:schemeClr val="dk1">
                      <a:alpha val="40000"/>
                    </a:schemeClr>
                  </a:outerShdw>
                </a:effectLst>
                <a:latin typeface="+mj-lt"/>
                <a:cs typeface="Times New Roman" panose="02020603050405020304" pitchFamily="18" charset="0"/>
              </a:rPr>
              <a:t> pour </a:t>
            </a:r>
            <a:r>
              <a:rPr lang="fr-FR" sz="2000" b="0" cap="none" spc="0" dirty="0">
                <a:ln w="0"/>
                <a:effectLst>
                  <a:outerShdw blurRad="38100" dist="19050" dir="2700000" algn="tl" rotWithShape="0">
                    <a:schemeClr val="dk1">
                      <a:alpha val="40000"/>
                    </a:schemeClr>
                  </a:outerShdw>
                </a:effectLst>
                <a:latin typeface="+mj-lt"/>
                <a:cs typeface="Times New Roman" panose="02020603050405020304" pitchFamily="18" charset="0"/>
              </a:rPr>
              <a:t>l’obtention</a:t>
            </a:r>
            <a:r>
              <a:rPr lang="en-US" sz="2000" b="0" cap="none" spc="0" dirty="0">
                <a:ln w="0"/>
                <a:effectLst>
                  <a:outerShdw blurRad="38100" dist="19050" dir="2700000" algn="tl" rotWithShape="0">
                    <a:schemeClr val="dk1">
                      <a:alpha val="40000"/>
                    </a:schemeClr>
                  </a:outerShdw>
                </a:effectLst>
                <a:latin typeface="+mj-lt"/>
                <a:cs typeface="Times New Roman" panose="02020603050405020304" pitchFamily="18" charset="0"/>
              </a:rPr>
              <a:t> du</a:t>
            </a:r>
          </a:p>
        </p:txBody>
      </p:sp>
      <p:sp>
        <p:nvSpPr>
          <p:cNvPr id="17" name="Rectangle 16"/>
          <p:cNvSpPr/>
          <p:nvPr/>
        </p:nvSpPr>
        <p:spPr>
          <a:xfrm>
            <a:off x="2952197" y="1311108"/>
            <a:ext cx="6632812" cy="1200329"/>
          </a:xfrm>
          <a:prstGeom prst="rect">
            <a:avLst/>
          </a:prstGeom>
          <a:noFill/>
        </p:spPr>
        <p:txBody>
          <a:bodyPr wrap="square" lIns="91440" tIns="45720" rIns="91440" bIns="45720">
            <a:spAutoFit/>
          </a:bodyPr>
          <a:lstStyle/>
          <a:p>
            <a:pPr algn="ctr"/>
            <a:r>
              <a:rPr lang="fr-FR" sz="2400" b="1" cap="none" spc="0" dirty="0">
                <a:ln w="0"/>
                <a:effectLst>
                  <a:outerShdw blurRad="38100" dist="19050" dir="2700000" algn="tl" rotWithShape="0">
                    <a:schemeClr val="dk1">
                      <a:alpha val="40000"/>
                    </a:schemeClr>
                  </a:outerShdw>
                </a:effectLst>
                <a:latin typeface="+mj-lt"/>
                <a:cs typeface="Times" panose="02020603050405020304" pitchFamily="18" charset="0"/>
              </a:rPr>
              <a:t>Diplôme</a:t>
            </a:r>
            <a:r>
              <a:rPr lang="en-US" sz="2400" b="1" cap="none" spc="0" dirty="0">
                <a:ln w="0"/>
                <a:effectLst>
                  <a:outerShdw blurRad="38100" dist="19050" dir="2700000" algn="tl" rotWithShape="0">
                    <a:schemeClr val="dk1">
                      <a:alpha val="40000"/>
                    </a:schemeClr>
                  </a:outerShdw>
                </a:effectLst>
                <a:latin typeface="+mj-lt"/>
                <a:cs typeface="Times" panose="02020603050405020304" pitchFamily="18" charset="0"/>
              </a:rPr>
              <a:t> </a:t>
            </a:r>
            <a:r>
              <a:rPr lang="fr-FR" sz="2400" b="1" cap="none" spc="0" dirty="0">
                <a:ln w="0"/>
                <a:effectLst>
                  <a:outerShdw blurRad="38100" dist="19050" dir="2700000" algn="tl" rotWithShape="0">
                    <a:schemeClr val="dk1">
                      <a:alpha val="40000"/>
                    </a:schemeClr>
                  </a:outerShdw>
                </a:effectLst>
                <a:latin typeface="+mj-lt"/>
                <a:cs typeface="Times" panose="02020603050405020304" pitchFamily="18" charset="0"/>
              </a:rPr>
              <a:t>Nationale</a:t>
            </a:r>
            <a:r>
              <a:rPr lang="en-US" sz="2400" b="1" cap="none" spc="0" dirty="0">
                <a:ln w="0"/>
                <a:effectLst>
                  <a:outerShdw blurRad="38100" dist="19050" dir="2700000" algn="tl" rotWithShape="0">
                    <a:schemeClr val="dk1">
                      <a:alpha val="40000"/>
                    </a:schemeClr>
                  </a:outerShdw>
                </a:effectLst>
                <a:latin typeface="+mj-lt"/>
                <a:cs typeface="Times" panose="02020603050405020304" pitchFamily="18" charset="0"/>
              </a:rPr>
              <a:t> </a:t>
            </a:r>
            <a:r>
              <a:rPr lang="fr-FR" sz="2400" b="1" cap="none" spc="0" dirty="0">
                <a:ln w="0"/>
                <a:effectLst>
                  <a:outerShdw blurRad="38100" dist="19050" dir="2700000" algn="tl" rotWithShape="0">
                    <a:schemeClr val="dk1">
                      <a:alpha val="40000"/>
                    </a:schemeClr>
                  </a:outerShdw>
                </a:effectLst>
                <a:latin typeface="+mj-lt"/>
                <a:cs typeface="Times" panose="02020603050405020304" pitchFamily="18" charset="0"/>
              </a:rPr>
              <a:t>de licence</a:t>
            </a:r>
            <a:r>
              <a:rPr lang="en-US" sz="2400" b="1" cap="none" spc="0" dirty="0">
                <a:ln w="0"/>
                <a:effectLst>
                  <a:outerShdw blurRad="38100" dist="19050" dir="2700000" algn="tl" rotWithShape="0">
                    <a:schemeClr val="dk1">
                      <a:alpha val="40000"/>
                    </a:schemeClr>
                  </a:outerShdw>
                </a:effectLst>
                <a:latin typeface="+mj-lt"/>
                <a:cs typeface="Times" panose="02020603050405020304" pitchFamily="18" charset="0"/>
              </a:rPr>
              <a:t> </a:t>
            </a:r>
            <a:r>
              <a:rPr lang="fr-FR" sz="2400" b="1" cap="none" spc="0" dirty="0">
                <a:ln w="0"/>
                <a:effectLst>
                  <a:outerShdw blurRad="38100" dist="19050" dir="2700000" algn="tl" rotWithShape="0">
                    <a:schemeClr val="dk1">
                      <a:alpha val="40000"/>
                    </a:schemeClr>
                  </a:outerShdw>
                </a:effectLst>
                <a:latin typeface="+mj-lt"/>
                <a:cs typeface="Times" panose="02020603050405020304" pitchFamily="18" charset="0"/>
              </a:rPr>
              <a:t>en</a:t>
            </a:r>
            <a:r>
              <a:rPr lang="en-US" sz="2400" b="1" cap="none" spc="0" dirty="0">
                <a:ln w="0"/>
                <a:effectLst>
                  <a:outerShdw blurRad="38100" dist="19050" dir="2700000" algn="tl" rotWithShape="0">
                    <a:schemeClr val="dk1">
                      <a:alpha val="40000"/>
                    </a:schemeClr>
                  </a:outerShdw>
                </a:effectLst>
                <a:latin typeface="+mj-lt"/>
                <a:cs typeface="Times" panose="02020603050405020304" pitchFamily="18" charset="0"/>
              </a:rPr>
              <a:t> </a:t>
            </a:r>
            <a:r>
              <a:rPr lang="fr-FR" sz="2400" b="1" cap="none" spc="0" dirty="0">
                <a:ln w="0"/>
                <a:effectLst>
                  <a:outerShdw blurRad="38100" dist="19050" dir="2700000" algn="tl" rotWithShape="0">
                    <a:schemeClr val="dk1">
                      <a:alpha val="40000"/>
                    </a:schemeClr>
                  </a:outerShdw>
                </a:effectLst>
                <a:latin typeface="+mj-lt"/>
                <a:cs typeface="Times" panose="02020603050405020304" pitchFamily="18" charset="0"/>
              </a:rPr>
              <a:t>Technologie de l’information et de communication</a:t>
            </a:r>
          </a:p>
        </p:txBody>
      </p:sp>
      <p:sp>
        <p:nvSpPr>
          <p:cNvPr id="20" name="Rectangle 19"/>
          <p:cNvSpPr/>
          <p:nvPr/>
        </p:nvSpPr>
        <p:spPr>
          <a:xfrm>
            <a:off x="2382403" y="4602381"/>
            <a:ext cx="7772400" cy="400110"/>
          </a:xfrm>
          <a:prstGeom prst="rect">
            <a:avLst/>
          </a:prstGeom>
        </p:spPr>
        <p:txBody>
          <a:bodyPr wrap="square">
            <a:spAutoFit/>
          </a:bodyPr>
          <a:lstStyle/>
          <a:p>
            <a:pPr algn="ctr">
              <a:spcAft>
                <a:spcPts val="0"/>
              </a:spcAft>
            </a:pPr>
            <a:r>
              <a:rPr lang="fr-FR" sz="2000" b="1" i="1" dirty="0">
                <a:latin typeface="Arial" panose="020B0604020202020204" pitchFamily="34" charset="0"/>
                <a:ea typeface="Times New Roman" panose="02020603050405020304" pitchFamily="18" charset="0"/>
                <a:cs typeface="Times New Roman" panose="02020603050405020304" pitchFamily="18" charset="0"/>
              </a:rPr>
              <a:t>Soutenu le 20 juin 2026, devant la commission d'examen:</a:t>
            </a:r>
            <a:endParaRPr lang="en-US" sz="2000" dirty="0">
              <a:effectLst/>
              <a:latin typeface="Times" panose="02020603050405020304" pitchFamily="18" charset="0"/>
              <a:ea typeface="Times New Roman" panose="02020603050405020304" pitchFamily="18" charset="0"/>
              <a:cs typeface="Times New Roman" panose="02020603050405020304" pitchFamily="18" charset="0"/>
            </a:endParaRPr>
          </a:p>
        </p:txBody>
      </p:sp>
      <p:sp>
        <p:nvSpPr>
          <p:cNvPr id="18" name="object 5"/>
          <p:cNvSpPr/>
          <p:nvPr/>
        </p:nvSpPr>
        <p:spPr>
          <a:xfrm>
            <a:off x="103476" y="82127"/>
            <a:ext cx="11985048"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rgbClr val="92D050"/>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pic>
        <p:nvPicPr>
          <p:cNvPr id="15" name="Image 14">
            <a:extLst>
              <a:ext uri="{FF2B5EF4-FFF2-40B4-BE49-F238E27FC236}">
                <a16:creationId xmlns:a16="http://schemas.microsoft.com/office/drawing/2014/main" id="{624A77DF-61BB-4C69-99F7-B689D4B696B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06561" y="739484"/>
            <a:ext cx="1788160" cy="1317493"/>
          </a:xfrm>
          <a:prstGeom prst="rect">
            <a:avLst/>
          </a:prstGeom>
          <a:noFill/>
          <a:ln>
            <a:noFill/>
          </a:ln>
        </p:spPr>
      </p:pic>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A8B2EF2-A793-436F-9DB0-7844B8FF4F38}"/>
              </a:ext>
            </a:extLst>
          </p:cNvPr>
          <p:cNvSpPr/>
          <p:nvPr/>
        </p:nvSpPr>
        <p:spPr>
          <a:xfrm>
            <a:off x="1354142" y="809515"/>
            <a:ext cx="8330631" cy="640841"/>
          </a:xfrm>
          <a:prstGeom prst="rect">
            <a:avLst/>
          </a:prstGeom>
          <a:solidFill>
            <a:schemeClr val="accent6">
              <a:lumMod val="60000"/>
              <a:lumOff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defTabSz="505022" fontAlgn="base">
              <a:spcBef>
                <a:spcPct val="0"/>
              </a:spcBef>
              <a:spcAft>
                <a:spcPct val="0"/>
              </a:spcAft>
              <a:defRPr/>
            </a:pPr>
            <a:r>
              <a:rPr lang="fr-FR" sz="1105" b="1">
                <a:solidFill>
                  <a:srgbClr val="646464"/>
                </a:solidFill>
                <a:latin typeface="Arial" panose="020B0604020202020204" pitchFamily="34" charset="0"/>
                <a:cs typeface="Arial" panose="020B0604020202020204" pitchFamily="34" charset="0"/>
              </a:rPr>
              <a:t>	</a:t>
            </a:r>
            <a:endParaRPr lang="en-AU" sz="1105">
              <a:solidFill>
                <a:srgbClr val="646464"/>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1A1B17B8-71B3-4E2B-AE3F-FE2FFCC4D19F}"/>
              </a:ext>
            </a:extLst>
          </p:cNvPr>
          <p:cNvSpPr>
            <a:spLocks noGrp="1"/>
          </p:cNvSpPr>
          <p:nvPr>
            <p:ph type="title"/>
          </p:nvPr>
        </p:nvSpPr>
        <p:spPr>
          <a:xfrm>
            <a:off x="1632018" y="896491"/>
            <a:ext cx="2790618" cy="492443"/>
          </a:xfrm>
        </p:spPr>
        <p:txBody>
          <a:bodyPr>
            <a:normAutofit fontScale="90000"/>
          </a:bodyPr>
          <a:lstStyle/>
          <a:p>
            <a:r>
              <a:rPr lang="fr-FR" sz="3200" b="1" dirty="0">
                <a:solidFill>
                  <a:schemeClr val="bg1"/>
                </a:solidFill>
                <a:latin typeface="Arial" panose="020B0604020202020204" pitchFamily="34" charset="0"/>
              </a:rPr>
              <a:t>Sommaire</a:t>
            </a:r>
          </a:p>
        </p:txBody>
      </p:sp>
      <p:grpSp>
        <p:nvGrpSpPr>
          <p:cNvPr id="20" name="Group 12">
            <a:extLst>
              <a:ext uri="{FF2B5EF4-FFF2-40B4-BE49-F238E27FC236}">
                <a16:creationId xmlns:a16="http://schemas.microsoft.com/office/drawing/2014/main" id="{79858885-7A6A-4EBE-AE9A-0DD94FEB4CB6}"/>
              </a:ext>
            </a:extLst>
          </p:cNvPr>
          <p:cNvGrpSpPr/>
          <p:nvPr/>
        </p:nvGrpSpPr>
        <p:grpSpPr>
          <a:xfrm>
            <a:off x="3017495" y="1842970"/>
            <a:ext cx="5271099" cy="595428"/>
            <a:chOff x="1282262" y="2144112"/>
            <a:chExt cx="7546427" cy="588580"/>
          </a:xfrm>
          <a:solidFill>
            <a:schemeClr val="bg1"/>
          </a:solidFill>
        </p:grpSpPr>
        <p:sp>
          <p:nvSpPr>
            <p:cNvPr id="21" name="Rectangle 20">
              <a:extLst>
                <a:ext uri="{FF2B5EF4-FFF2-40B4-BE49-F238E27FC236}">
                  <a16:creationId xmlns:a16="http://schemas.microsoft.com/office/drawing/2014/main" id="{CAB99485-4E2E-4934-B99B-459B5CD2EB91}"/>
                </a:ext>
              </a:extLst>
            </p:cNvPr>
            <p:cNvSpPr/>
            <p:nvPr/>
          </p:nvSpPr>
          <p:spPr>
            <a:xfrm>
              <a:off x="2081046" y="2144112"/>
              <a:ext cx="6747643" cy="588578"/>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chorCtr="0"/>
            <a:lstStyle/>
            <a:p>
              <a:r>
                <a:rPr lang="fr-FR" sz="1600" b="1" dirty="0">
                  <a:solidFill>
                    <a:schemeClr val="tx1"/>
                  </a:solidFill>
                </a:rPr>
                <a:t>Contexte général</a:t>
              </a:r>
            </a:p>
          </p:txBody>
        </p:sp>
        <p:cxnSp>
          <p:nvCxnSpPr>
            <p:cNvPr id="22" name="Straight Connector 5">
              <a:extLst>
                <a:ext uri="{FF2B5EF4-FFF2-40B4-BE49-F238E27FC236}">
                  <a16:creationId xmlns:a16="http://schemas.microsoft.com/office/drawing/2014/main" id="{AA01E75E-E4BE-4F1E-AEFB-A9B5486726DF}"/>
                </a:ext>
              </a:extLst>
            </p:cNvPr>
            <p:cNvCxnSpPr>
              <a:cxnSpLocks/>
            </p:cNvCxnSpPr>
            <p:nvPr/>
          </p:nvCxnSpPr>
          <p:spPr>
            <a:xfrm>
              <a:off x="1954924" y="2144113"/>
              <a:ext cx="0" cy="588579"/>
            </a:xfrm>
            <a:prstGeom prst="line">
              <a:avLst/>
            </a:prstGeom>
            <a:grpFill/>
            <a:ln>
              <a:tailEnd type="non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3F9ABAB5-6E0D-47EF-8E6F-4B766C5EABB6}"/>
                </a:ext>
              </a:extLst>
            </p:cNvPr>
            <p:cNvSpPr/>
            <p:nvPr/>
          </p:nvSpPr>
          <p:spPr>
            <a:xfrm>
              <a:off x="1282262" y="2144113"/>
              <a:ext cx="582450" cy="588579"/>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685800"/>
              <a:r>
                <a:rPr lang="fr-FR" b="1" dirty="0">
                  <a:solidFill>
                    <a:srgbClr val="13404D"/>
                  </a:solidFill>
                  <a:latin typeface="Arial" panose="020B0604020202020204" pitchFamily="34" charset="0"/>
                  <a:cs typeface="Arial" panose="020B0604020202020204" pitchFamily="34" charset="0"/>
                </a:rPr>
                <a:t>01</a:t>
              </a:r>
            </a:p>
          </p:txBody>
        </p:sp>
      </p:grpSp>
      <p:grpSp>
        <p:nvGrpSpPr>
          <p:cNvPr id="37" name="Group 12">
            <a:extLst>
              <a:ext uri="{FF2B5EF4-FFF2-40B4-BE49-F238E27FC236}">
                <a16:creationId xmlns:a16="http://schemas.microsoft.com/office/drawing/2014/main" id="{79858885-7A6A-4EBE-AE9A-0DD94FEB4CB6}"/>
              </a:ext>
            </a:extLst>
          </p:cNvPr>
          <p:cNvGrpSpPr/>
          <p:nvPr/>
        </p:nvGrpSpPr>
        <p:grpSpPr>
          <a:xfrm>
            <a:off x="3022415" y="2467324"/>
            <a:ext cx="5271099" cy="595428"/>
            <a:chOff x="1282262" y="2144112"/>
            <a:chExt cx="7546427" cy="588580"/>
          </a:xfrm>
          <a:solidFill>
            <a:schemeClr val="accent3">
              <a:lumMod val="20000"/>
              <a:lumOff val="80000"/>
            </a:schemeClr>
          </a:solidFill>
        </p:grpSpPr>
        <p:sp>
          <p:nvSpPr>
            <p:cNvPr id="38" name="Rectangle 37">
              <a:extLst>
                <a:ext uri="{FF2B5EF4-FFF2-40B4-BE49-F238E27FC236}">
                  <a16:creationId xmlns:a16="http://schemas.microsoft.com/office/drawing/2014/main" id="{CAB99485-4E2E-4934-B99B-459B5CD2EB91}"/>
                </a:ext>
              </a:extLst>
            </p:cNvPr>
            <p:cNvSpPr/>
            <p:nvPr/>
          </p:nvSpPr>
          <p:spPr>
            <a:xfrm>
              <a:off x="2081046" y="2144112"/>
              <a:ext cx="6747643" cy="588578"/>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chorCtr="0"/>
            <a:lstStyle/>
            <a:p>
              <a:r>
                <a:rPr lang="fr-FR" sz="1600" b="1" dirty="0">
                  <a:solidFill>
                    <a:schemeClr val="tx1"/>
                  </a:solidFill>
                </a:rPr>
                <a:t>Analyse des besoins</a:t>
              </a:r>
              <a:endParaRPr lang="pt-BR" sz="1600" b="1" dirty="0">
                <a:solidFill>
                  <a:schemeClr val="tx1"/>
                </a:solidFill>
              </a:endParaRPr>
            </a:p>
          </p:txBody>
        </p:sp>
        <p:cxnSp>
          <p:nvCxnSpPr>
            <p:cNvPr id="39" name="Straight Connector 5">
              <a:extLst>
                <a:ext uri="{FF2B5EF4-FFF2-40B4-BE49-F238E27FC236}">
                  <a16:creationId xmlns:a16="http://schemas.microsoft.com/office/drawing/2014/main" id="{AA01E75E-E4BE-4F1E-AEFB-A9B5486726DF}"/>
                </a:ext>
              </a:extLst>
            </p:cNvPr>
            <p:cNvCxnSpPr>
              <a:cxnSpLocks/>
            </p:cNvCxnSpPr>
            <p:nvPr/>
          </p:nvCxnSpPr>
          <p:spPr>
            <a:xfrm>
              <a:off x="1954924" y="2144113"/>
              <a:ext cx="0" cy="588579"/>
            </a:xfrm>
            <a:prstGeom prst="line">
              <a:avLst/>
            </a:prstGeom>
            <a:grpFill/>
            <a:ln>
              <a:tailEnd type="non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3F9ABAB5-6E0D-47EF-8E6F-4B766C5EABB6}"/>
                </a:ext>
              </a:extLst>
            </p:cNvPr>
            <p:cNvSpPr/>
            <p:nvPr/>
          </p:nvSpPr>
          <p:spPr>
            <a:xfrm>
              <a:off x="1282262" y="2144113"/>
              <a:ext cx="582450" cy="588579"/>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685800"/>
              <a:r>
                <a:rPr lang="fr-FR" b="1" dirty="0">
                  <a:solidFill>
                    <a:srgbClr val="13404D"/>
                  </a:solidFill>
                  <a:latin typeface="Arial" panose="020B0604020202020204" pitchFamily="34" charset="0"/>
                  <a:cs typeface="Arial" panose="020B0604020202020204" pitchFamily="34" charset="0"/>
                </a:rPr>
                <a:t>02</a:t>
              </a:r>
            </a:p>
          </p:txBody>
        </p:sp>
      </p:grpSp>
      <p:grpSp>
        <p:nvGrpSpPr>
          <p:cNvPr id="41" name="Group 12">
            <a:extLst>
              <a:ext uri="{FF2B5EF4-FFF2-40B4-BE49-F238E27FC236}">
                <a16:creationId xmlns:a16="http://schemas.microsoft.com/office/drawing/2014/main" id="{79858885-7A6A-4EBE-AE9A-0DD94FEB4CB6}"/>
              </a:ext>
            </a:extLst>
          </p:cNvPr>
          <p:cNvGrpSpPr/>
          <p:nvPr/>
        </p:nvGrpSpPr>
        <p:grpSpPr>
          <a:xfrm>
            <a:off x="3022408" y="3096584"/>
            <a:ext cx="5271099" cy="595428"/>
            <a:chOff x="1282262" y="2144112"/>
            <a:chExt cx="7546427" cy="588580"/>
          </a:xfrm>
          <a:solidFill>
            <a:schemeClr val="accent3">
              <a:lumMod val="20000"/>
              <a:lumOff val="80000"/>
            </a:schemeClr>
          </a:solidFill>
        </p:grpSpPr>
        <p:sp>
          <p:nvSpPr>
            <p:cNvPr id="42" name="Rectangle 41">
              <a:extLst>
                <a:ext uri="{FF2B5EF4-FFF2-40B4-BE49-F238E27FC236}">
                  <a16:creationId xmlns:a16="http://schemas.microsoft.com/office/drawing/2014/main" id="{CAB99485-4E2E-4934-B99B-459B5CD2EB91}"/>
                </a:ext>
              </a:extLst>
            </p:cNvPr>
            <p:cNvSpPr/>
            <p:nvPr/>
          </p:nvSpPr>
          <p:spPr>
            <a:xfrm>
              <a:off x="2081046" y="2144112"/>
              <a:ext cx="6747643" cy="588578"/>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chorCtr="0"/>
            <a:lstStyle/>
            <a:p>
              <a:r>
                <a:rPr lang="en-US" sz="1600" b="1" dirty="0">
                  <a:solidFill>
                    <a:schemeClr val="tx1"/>
                  </a:solidFill>
                </a:rPr>
                <a:t>Conception</a:t>
              </a:r>
            </a:p>
          </p:txBody>
        </p:sp>
        <p:cxnSp>
          <p:nvCxnSpPr>
            <p:cNvPr id="43" name="Straight Connector 5">
              <a:extLst>
                <a:ext uri="{FF2B5EF4-FFF2-40B4-BE49-F238E27FC236}">
                  <a16:creationId xmlns:a16="http://schemas.microsoft.com/office/drawing/2014/main" id="{AA01E75E-E4BE-4F1E-AEFB-A9B5486726DF}"/>
                </a:ext>
              </a:extLst>
            </p:cNvPr>
            <p:cNvCxnSpPr>
              <a:cxnSpLocks/>
            </p:cNvCxnSpPr>
            <p:nvPr/>
          </p:nvCxnSpPr>
          <p:spPr>
            <a:xfrm>
              <a:off x="1954924" y="2144113"/>
              <a:ext cx="0" cy="588579"/>
            </a:xfrm>
            <a:prstGeom prst="line">
              <a:avLst/>
            </a:prstGeom>
            <a:grpFill/>
            <a:ln>
              <a:tailEnd type="none"/>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3F9ABAB5-6E0D-47EF-8E6F-4B766C5EABB6}"/>
                </a:ext>
              </a:extLst>
            </p:cNvPr>
            <p:cNvSpPr/>
            <p:nvPr/>
          </p:nvSpPr>
          <p:spPr>
            <a:xfrm>
              <a:off x="1282262" y="2144113"/>
              <a:ext cx="582450" cy="588579"/>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685800"/>
              <a:r>
                <a:rPr lang="fr-FR" b="1" dirty="0">
                  <a:solidFill>
                    <a:srgbClr val="13404D"/>
                  </a:solidFill>
                  <a:latin typeface="Arial" panose="020B0604020202020204" pitchFamily="34" charset="0"/>
                  <a:cs typeface="Arial" panose="020B0604020202020204" pitchFamily="34" charset="0"/>
                </a:rPr>
                <a:t>03</a:t>
              </a:r>
            </a:p>
          </p:txBody>
        </p:sp>
      </p:grpSp>
      <p:grpSp>
        <p:nvGrpSpPr>
          <p:cNvPr id="45" name="Group 12">
            <a:extLst>
              <a:ext uri="{FF2B5EF4-FFF2-40B4-BE49-F238E27FC236}">
                <a16:creationId xmlns:a16="http://schemas.microsoft.com/office/drawing/2014/main" id="{79858885-7A6A-4EBE-AE9A-0DD94FEB4CB6}"/>
              </a:ext>
            </a:extLst>
          </p:cNvPr>
          <p:cNvGrpSpPr/>
          <p:nvPr/>
        </p:nvGrpSpPr>
        <p:grpSpPr>
          <a:xfrm>
            <a:off x="3022414" y="3716023"/>
            <a:ext cx="5271099" cy="595428"/>
            <a:chOff x="1282262" y="2144112"/>
            <a:chExt cx="7546427" cy="588580"/>
          </a:xfrm>
          <a:solidFill>
            <a:schemeClr val="accent3">
              <a:lumMod val="20000"/>
              <a:lumOff val="80000"/>
            </a:schemeClr>
          </a:solidFill>
        </p:grpSpPr>
        <p:sp>
          <p:nvSpPr>
            <p:cNvPr id="46" name="Rectangle 45">
              <a:extLst>
                <a:ext uri="{FF2B5EF4-FFF2-40B4-BE49-F238E27FC236}">
                  <a16:creationId xmlns:a16="http://schemas.microsoft.com/office/drawing/2014/main" id="{CAB99485-4E2E-4934-B99B-459B5CD2EB91}"/>
                </a:ext>
              </a:extLst>
            </p:cNvPr>
            <p:cNvSpPr/>
            <p:nvPr/>
          </p:nvSpPr>
          <p:spPr>
            <a:xfrm>
              <a:off x="2081046" y="2144112"/>
              <a:ext cx="6747643" cy="588578"/>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chorCtr="0"/>
            <a:lstStyle/>
            <a:p>
              <a:r>
                <a:rPr lang="pt-BR" sz="1600" b="1" dirty="0">
                  <a:solidFill>
                    <a:schemeClr val="tx1"/>
                  </a:solidFill>
                  <a:cs typeface="Raleway Light"/>
                </a:rPr>
                <a:t>Réalisation</a:t>
              </a:r>
            </a:p>
          </p:txBody>
        </p:sp>
        <p:cxnSp>
          <p:nvCxnSpPr>
            <p:cNvPr id="47" name="Straight Connector 5">
              <a:extLst>
                <a:ext uri="{FF2B5EF4-FFF2-40B4-BE49-F238E27FC236}">
                  <a16:creationId xmlns:a16="http://schemas.microsoft.com/office/drawing/2014/main" id="{AA01E75E-E4BE-4F1E-AEFB-A9B5486726DF}"/>
                </a:ext>
              </a:extLst>
            </p:cNvPr>
            <p:cNvCxnSpPr>
              <a:cxnSpLocks/>
            </p:cNvCxnSpPr>
            <p:nvPr/>
          </p:nvCxnSpPr>
          <p:spPr>
            <a:xfrm>
              <a:off x="1954924" y="2144113"/>
              <a:ext cx="0" cy="588579"/>
            </a:xfrm>
            <a:prstGeom prst="line">
              <a:avLst/>
            </a:prstGeom>
            <a:grpFill/>
            <a:ln>
              <a:tailEnd type="non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3F9ABAB5-6E0D-47EF-8E6F-4B766C5EABB6}"/>
                </a:ext>
              </a:extLst>
            </p:cNvPr>
            <p:cNvSpPr/>
            <p:nvPr/>
          </p:nvSpPr>
          <p:spPr>
            <a:xfrm>
              <a:off x="1282262" y="2144113"/>
              <a:ext cx="582450" cy="588579"/>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685800"/>
              <a:r>
                <a:rPr lang="fr-FR" b="1" dirty="0">
                  <a:solidFill>
                    <a:srgbClr val="13404D"/>
                  </a:solidFill>
                  <a:latin typeface="Arial" panose="020B0604020202020204" pitchFamily="34" charset="0"/>
                  <a:cs typeface="Arial" panose="020B0604020202020204" pitchFamily="34" charset="0"/>
                </a:rPr>
                <a:t>04</a:t>
              </a:r>
            </a:p>
          </p:txBody>
        </p:sp>
      </p:grpSp>
      <p:grpSp>
        <p:nvGrpSpPr>
          <p:cNvPr id="49" name="Group 12">
            <a:extLst>
              <a:ext uri="{FF2B5EF4-FFF2-40B4-BE49-F238E27FC236}">
                <a16:creationId xmlns:a16="http://schemas.microsoft.com/office/drawing/2014/main" id="{79858885-7A6A-4EBE-AE9A-0DD94FEB4CB6}"/>
              </a:ext>
            </a:extLst>
          </p:cNvPr>
          <p:cNvGrpSpPr/>
          <p:nvPr/>
        </p:nvGrpSpPr>
        <p:grpSpPr>
          <a:xfrm>
            <a:off x="3027327" y="4340798"/>
            <a:ext cx="5271099" cy="595428"/>
            <a:chOff x="1282262" y="2144112"/>
            <a:chExt cx="7546427" cy="588580"/>
          </a:xfrm>
          <a:solidFill>
            <a:schemeClr val="accent3">
              <a:lumMod val="20000"/>
              <a:lumOff val="80000"/>
            </a:schemeClr>
          </a:solidFill>
        </p:grpSpPr>
        <p:sp>
          <p:nvSpPr>
            <p:cNvPr id="50" name="Rectangle 49">
              <a:extLst>
                <a:ext uri="{FF2B5EF4-FFF2-40B4-BE49-F238E27FC236}">
                  <a16:creationId xmlns:a16="http://schemas.microsoft.com/office/drawing/2014/main" id="{CAB99485-4E2E-4934-B99B-459B5CD2EB91}"/>
                </a:ext>
              </a:extLst>
            </p:cNvPr>
            <p:cNvSpPr/>
            <p:nvPr/>
          </p:nvSpPr>
          <p:spPr>
            <a:xfrm>
              <a:off x="2081046" y="2144112"/>
              <a:ext cx="6747643" cy="588578"/>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nchorCtr="0"/>
            <a:lstStyle/>
            <a:p>
              <a:r>
                <a:rPr lang="pt-BR" sz="1600" b="1" dirty="0">
                  <a:solidFill>
                    <a:schemeClr val="tx1"/>
                  </a:solidFill>
                  <a:cs typeface="Raleway Light"/>
                </a:rPr>
                <a:t>Conclusion et perspectives</a:t>
              </a:r>
            </a:p>
          </p:txBody>
        </p:sp>
        <p:cxnSp>
          <p:nvCxnSpPr>
            <p:cNvPr id="51" name="Straight Connector 5">
              <a:extLst>
                <a:ext uri="{FF2B5EF4-FFF2-40B4-BE49-F238E27FC236}">
                  <a16:creationId xmlns:a16="http://schemas.microsoft.com/office/drawing/2014/main" id="{AA01E75E-E4BE-4F1E-AEFB-A9B5486726DF}"/>
                </a:ext>
              </a:extLst>
            </p:cNvPr>
            <p:cNvCxnSpPr>
              <a:cxnSpLocks/>
            </p:cNvCxnSpPr>
            <p:nvPr/>
          </p:nvCxnSpPr>
          <p:spPr>
            <a:xfrm>
              <a:off x="1954924" y="2144113"/>
              <a:ext cx="0" cy="588579"/>
            </a:xfrm>
            <a:prstGeom prst="line">
              <a:avLst/>
            </a:prstGeom>
            <a:grpFill/>
            <a:ln>
              <a:tailEnd type="non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3F9ABAB5-6E0D-47EF-8E6F-4B766C5EABB6}"/>
                </a:ext>
              </a:extLst>
            </p:cNvPr>
            <p:cNvSpPr/>
            <p:nvPr/>
          </p:nvSpPr>
          <p:spPr>
            <a:xfrm>
              <a:off x="1282262" y="2144113"/>
              <a:ext cx="582450" cy="588579"/>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defTabSz="685800"/>
              <a:r>
                <a:rPr lang="fr-FR" b="1" dirty="0">
                  <a:solidFill>
                    <a:srgbClr val="13404D"/>
                  </a:solidFill>
                  <a:latin typeface="Arial" panose="020B0604020202020204" pitchFamily="34" charset="0"/>
                  <a:cs typeface="Arial" panose="020B0604020202020204" pitchFamily="34" charset="0"/>
                </a:rPr>
                <a:t>05</a:t>
              </a:r>
            </a:p>
          </p:txBody>
        </p:sp>
      </p:grpSp>
      <p:sp>
        <p:nvSpPr>
          <p:cNvPr id="30" name="object 5"/>
          <p:cNvSpPr/>
          <p:nvPr/>
        </p:nvSpPr>
        <p:spPr>
          <a:xfrm>
            <a:off x="81293"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Tree>
    <p:extLst>
      <p:ext uri="{BB962C8B-B14F-4D97-AF65-F5344CB8AC3E}">
        <p14:creationId xmlns:p14="http://schemas.microsoft.com/office/powerpoint/2010/main" val="1845361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1+#ppt_w/2"/>
                                          </p:val>
                                        </p:tav>
                                        <p:tav tm="100000">
                                          <p:val>
                                            <p:strVal val="#ppt_x"/>
                                          </p:val>
                                        </p:tav>
                                      </p:tavLst>
                                    </p:anim>
                                    <p:anim calcmode="lin" valueType="num">
                                      <p:cBhvr additive="base">
                                        <p:cTn id="14"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anim calcmode="lin" valueType="num">
                                      <p:cBhvr additive="base">
                                        <p:cTn id="19" dur="500" fill="hold"/>
                                        <p:tgtEl>
                                          <p:spTgt spid="37"/>
                                        </p:tgtEl>
                                        <p:attrNameLst>
                                          <p:attrName>ppt_x</p:attrName>
                                        </p:attrNameLst>
                                      </p:cBhvr>
                                      <p:tavLst>
                                        <p:tav tm="0">
                                          <p:val>
                                            <p:strVal val="1+#ppt_w/2"/>
                                          </p:val>
                                        </p:tav>
                                        <p:tav tm="100000">
                                          <p:val>
                                            <p:strVal val="#ppt_x"/>
                                          </p:val>
                                        </p:tav>
                                      </p:tavLst>
                                    </p:anim>
                                    <p:anim calcmode="lin" valueType="num">
                                      <p:cBhvr additive="base">
                                        <p:cTn id="20"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41"/>
                                        </p:tgtEl>
                                        <p:attrNameLst>
                                          <p:attrName>style.visibility</p:attrName>
                                        </p:attrNameLst>
                                      </p:cBhvr>
                                      <p:to>
                                        <p:strVal val="visible"/>
                                      </p:to>
                                    </p:set>
                                    <p:anim calcmode="lin" valueType="num">
                                      <p:cBhvr additive="base">
                                        <p:cTn id="25" dur="500" fill="hold"/>
                                        <p:tgtEl>
                                          <p:spTgt spid="41"/>
                                        </p:tgtEl>
                                        <p:attrNameLst>
                                          <p:attrName>ppt_x</p:attrName>
                                        </p:attrNameLst>
                                      </p:cBhvr>
                                      <p:tavLst>
                                        <p:tav tm="0">
                                          <p:val>
                                            <p:strVal val="1+#ppt_w/2"/>
                                          </p:val>
                                        </p:tav>
                                        <p:tav tm="100000">
                                          <p:val>
                                            <p:strVal val="#ppt_x"/>
                                          </p:val>
                                        </p:tav>
                                      </p:tavLst>
                                    </p:anim>
                                    <p:anim calcmode="lin" valueType="num">
                                      <p:cBhvr additive="base">
                                        <p:cTn id="26"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45"/>
                                        </p:tgtEl>
                                        <p:attrNameLst>
                                          <p:attrName>style.visibility</p:attrName>
                                        </p:attrNameLst>
                                      </p:cBhvr>
                                      <p:to>
                                        <p:strVal val="visible"/>
                                      </p:to>
                                    </p:set>
                                    <p:anim calcmode="lin" valueType="num">
                                      <p:cBhvr additive="base">
                                        <p:cTn id="31" dur="500" fill="hold"/>
                                        <p:tgtEl>
                                          <p:spTgt spid="45"/>
                                        </p:tgtEl>
                                        <p:attrNameLst>
                                          <p:attrName>ppt_x</p:attrName>
                                        </p:attrNameLst>
                                      </p:cBhvr>
                                      <p:tavLst>
                                        <p:tav tm="0">
                                          <p:val>
                                            <p:strVal val="1+#ppt_w/2"/>
                                          </p:val>
                                        </p:tav>
                                        <p:tav tm="100000">
                                          <p:val>
                                            <p:strVal val="#ppt_x"/>
                                          </p:val>
                                        </p:tav>
                                      </p:tavLst>
                                    </p:anim>
                                    <p:anim calcmode="lin" valueType="num">
                                      <p:cBhvr additive="base">
                                        <p:cTn id="32"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49"/>
                                        </p:tgtEl>
                                        <p:attrNameLst>
                                          <p:attrName>style.visibility</p:attrName>
                                        </p:attrNameLst>
                                      </p:cBhvr>
                                      <p:to>
                                        <p:strVal val="visible"/>
                                      </p:to>
                                    </p:set>
                                    <p:anim calcmode="lin" valueType="num">
                                      <p:cBhvr additive="base">
                                        <p:cTn id="37" dur="500" fill="hold"/>
                                        <p:tgtEl>
                                          <p:spTgt spid="49"/>
                                        </p:tgtEl>
                                        <p:attrNameLst>
                                          <p:attrName>ppt_x</p:attrName>
                                        </p:attrNameLst>
                                      </p:cBhvr>
                                      <p:tavLst>
                                        <p:tav tm="0">
                                          <p:val>
                                            <p:strVal val="1+#ppt_w/2"/>
                                          </p:val>
                                        </p:tav>
                                        <p:tav tm="100000">
                                          <p:val>
                                            <p:strVal val="#ppt_x"/>
                                          </p:val>
                                        </p:tav>
                                      </p:tavLst>
                                    </p:anim>
                                    <p:anim calcmode="lin" valueType="num">
                                      <p:cBhvr additive="base">
                                        <p:cTn id="38" dur="500" fill="hold"/>
                                        <p:tgtEl>
                                          <p:spTgt spid="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5"/>
          <p:cNvSpPr/>
          <p:nvPr/>
        </p:nvSpPr>
        <p:spPr>
          <a:xfrm>
            <a:off x="81293"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8" name="object 2"/>
          <p:cNvSpPr/>
          <p:nvPr/>
        </p:nvSpPr>
        <p:spPr>
          <a:xfrm>
            <a:off x="2272101" y="2852842"/>
            <a:ext cx="9838605" cy="1152313"/>
          </a:xfrm>
          <a:custGeom>
            <a:avLst/>
            <a:gdLst/>
            <a:ahLst/>
            <a:cxnLst/>
            <a:rect l="l" t="t" r="r" b="b"/>
            <a:pathLst>
              <a:path w="8507095" h="864235">
                <a:moveTo>
                  <a:pt x="8506968" y="0"/>
                </a:moveTo>
                <a:lnTo>
                  <a:pt x="0" y="0"/>
                </a:lnTo>
                <a:lnTo>
                  <a:pt x="0" y="864107"/>
                </a:lnTo>
                <a:lnTo>
                  <a:pt x="8506968" y="864107"/>
                </a:lnTo>
                <a:lnTo>
                  <a:pt x="8506968" y="0"/>
                </a:lnTo>
                <a:close/>
              </a:path>
            </a:pathLst>
          </a:custGeom>
          <a:solidFill>
            <a:schemeClr val="accent6">
              <a:lumMod val="60000"/>
              <a:lumOff val="40000"/>
            </a:schemeClr>
          </a:solidFill>
        </p:spPr>
        <p:txBody>
          <a:bodyPr wrap="square" lIns="0" tIns="0" rIns="0" bIns="0" rtlCol="0"/>
          <a:lstStyle/>
          <a:p>
            <a:pPr defTabSz="1219170">
              <a:buClrTx/>
            </a:pPr>
            <a:endParaRPr sz="2400" kern="1200" dirty="0">
              <a:solidFill>
                <a:prstClr val="black"/>
              </a:solidFill>
              <a:latin typeface="Calibri"/>
              <a:ea typeface="+mn-ea"/>
              <a:cs typeface="+mn-cs"/>
            </a:endParaRPr>
          </a:p>
        </p:txBody>
      </p:sp>
      <p:sp>
        <p:nvSpPr>
          <p:cNvPr id="9" name="object 3"/>
          <p:cNvSpPr txBox="1">
            <a:spLocks noGrp="1"/>
          </p:cNvSpPr>
          <p:nvPr>
            <p:ph type="title"/>
          </p:nvPr>
        </p:nvSpPr>
        <p:spPr>
          <a:xfrm>
            <a:off x="4982046" y="3200979"/>
            <a:ext cx="3657600" cy="694720"/>
          </a:xfrm>
          <a:prstGeom prst="rect">
            <a:avLst/>
          </a:prstGeom>
        </p:spPr>
        <p:txBody>
          <a:bodyPr vert="horz" wrap="square" lIns="0" tIns="16933" rIns="0" bIns="0" rtlCol="0">
            <a:spAutoFit/>
          </a:bodyPr>
          <a:lstStyle/>
          <a:p>
            <a:pPr marL="16933" lvl="0">
              <a:spcBef>
                <a:spcPts val="133"/>
              </a:spcBef>
            </a:pPr>
            <a:r>
              <a:rPr lang="fr-FR" sz="2400" b="1" dirty="0">
                <a:solidFill>
                  <a:schemeClr val="bg1"/>
                </a:solidFill>
                <a:latin typeface="+mj-lt"/>
              </a:rPr>
              <a:t>Contexte général</a:t>
            </a:r>
            <a:br>
              <a:rPr lang="fr-FR" sz="2400" b="1" dirty="0">
                <a:solidFill>
                  <a:schemeClr val="bg1"/>
                </a:solidFill>
                <a:latin typeface="+mj-lt"/>
              </a:rPr>
            </a:br>
            <a:endParaRPr sz="2400" b="1" spc="-13" dirty="0">
              <a:solidFill>
                <a:schemeClr val="bg1"/>
              </a:solidFill>
              <a:latin typeface="+mj-lt"/>
            </a:endParaRPr>
          </a:p>
        </p:txBody>
      </p:sp>
      <p:pic>
        <p:nvPicPr>
          <p:cNvPr id="10" name="object 6"/>
          <p:cNvPicPr/>
          <p:nvPr/>
        </p:nvPicPr>
        <p:blipFill>
          <a:blip r:embed="rId3" cstate="print"/>
          <a:stretch>
            <a:fillRect/>
          </a:stretch>
        </p:blipFill>
        <p:spPr>
          <a:xfrm>
            <a:off x="3572681" y="2962465"/>
            <a:ext cx="919915" cy="933234"/>
          </a:xfrm>
          <a:prstGeom prst="rect">
            <a:avLst/>
          </a:prstGeom>
        </p:spPr>
      </p:pic>
      <p:sp>
        <p:nvSpPr>
          <p:cNvPr id="2" name="Espace réservé du numéro de diapositive 1">
            <a:extLst>
              <a:ext uri="{FF2B5EF4-FFF2-40B4-BE49-F238E27FC236}">
                <a16:creationId xmlns:a16="http://schemas.microsoft.com/office/drawing/2014/main" id="{4BBA0230-D7E8-4D5E-9467-F9A6208378B7}"/>
              </a:ext>
            </a:extLst>
          </p:cNvPr>
          <p:cNvSpPr>
            <a:spLocks noGrp="1"/>
          </p:cNvSpPr>
          <p:nvPr>
            <p:ph type="sldNum" idx="12"/>
          </p:nvPr>
        </p:nvSpPr>
        <p:spPr>
          <a:xfrm>
            <a:off x="11531600" y="6325870"/>
            <a:ext cx="299720" cy="365125"/>
          </a:xfrm>
        </p:spPr>
        <p:txBody>
          <a:bodyPr/>
          <a:lstStyle/>
          <a:p>
            <a:pPr marL="0" lvl="0" indent="0" algn="r" rtl="0">
              <a:spcBef>
                <a:spcPts val="0"/>
              </a:spcBef>
              <a:spcAft>
                <a:spcPts val="0"/>
              </a:spcAft>
              <a:buNone/>
            </a:pPr>
            <a:r>
              <a:rPr lang="fr-FR" dirty="0"/>
              <a:t>1</a:t>
            </a:r>
          </a:p>
        </p:txBody>
      </p:sp>
    </p:spTree>
    <p:extLst>
      <p:ext uri="{BB962C8B-B14F-4D97-AF65-F5344CB8AC3E}">
        <p14:creationId xmlns:p14="http://schemas.microsoft.com/office/powerpoint/2010/main" val="818345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8"/>
          <p:cNvSpPr/>
          <p:nvPr/>
        </p:nvSpPr>
        <p:spPr>
          <a:xfrm>
            <a:off x="208647" y="946766"/>
            <a:ext cx="5864278" cy="71733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endParaRPr sz="1600" i="0" u="none" strike="noStrike" cap="none" dirty="0">
              <a:solidFill>
                <a:schemeClr val="accent6">
                  <a:lumMod val="60000"/>
                  <a:lumOff val="40000"/>
                </a:schemeClr>
              </a:solidFill>
            </a:endParaRPr>
          </a:p>
          <a:p>
            <a:pPr marL="101600" lvl="0">
              <a:buClr>
                <a:srgbClr val="C55A11"/>
              </a:buClr>
              <a:buSzPts val="2000"/>
            </a:pPr>
            <a:r>
              <a:rPr lang="fr-FR" sz="2000" b="1" dirty="0">
                <a:solidFill>
                  <a:schemeClr val="accent6">
                    <a:lumMod val="60000"/>
                    <a:lumOff val="40000"/>
                  </a:schemeClr>
                </a:solidFill>
              </a:rPr>
              <a:t>   Organisme d’accueil</a:t>
            </a:r>
            <a:endParaRPr sz="1600" i="0" u="none" strike="noStrike" cap="none" dirty="0">
              <a:solidFill>
                <a:schemeClr val="accent6">
                  <a:lumMod val="60000"/>
                  <a:lumOff val="40000"/>
                </a:schemeClr>
              </a:solidFill>
            </a:endParaRPr>
          </a:p>
        </p:txBody>
      </p:sp>
      <p:sp>
        <p:nvSpPr>
          <p:cNvPr id="75" name="AutoShape 6" descr="Homme d&amp;#39;affaires mignon ou gestionnaire tenant un mégaphone ..."/>
          <p:cNvSpPr>
            <a:spLocks noChangeAspect="1" noChangeArrowheads="1"/>
          </p:cNvSpPr>
          <p:nvPr/>
        </p:nvSpPr>
        <p:spPr bwMode="auto">
          <a:xfrm>
            <a:off x="1175175" y="8886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6" name="AutoShape 8" descr="Homme d&amp;#39;affaires mignon ou gestionnaire tenant un mégaphone ..."/>
          <p:cNvSpPr>
            <a:spLocks noChangeAspect="1" noChangeArrowheads="1"/>
          </p:cNvSpPr>
          <p:nvPr/>
        </p:nvSpPr>
        <p:spPr bwMode="auto">
          <a:xfrm>
            <a:off x="1327575" y="10410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7" name="AutoShape 12" descr="Homme d&amp;#39;affaires mignon ou gestionnaire tenant un mégaphone ..."/>
          <p:cNvSpPr>
            <a:spLocks noChangeAspect="1" noChangeArrowheads="1"/>
          </p:cNvSpPr>
          <p:nvPr/>
        </p:nvSpPr>
        <p:spPr bwMode="auto">
          <a:xfrm>
            <a:off x="1479975" y="1193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pSp>
        <p:nvGrpSpPr>
          <p:cNvPr id="90" name="Google Shape;248;p19"/>
          <p:cNvGrpSpPr/>
          <p:nvPr/>
        </p:nvGrpSpPr>
        <p:grpSpPr>
          <a:xfrm>
            <a:off x="68379" y="258817"/>
            <a:ext cx="10365904" cy="650938"/>
            <a:chOff x="-43152" y="-19950"/>
            <a:chExt cx="10076703" cy="650938"/>
          </a:xfrm>
        </p:grpSpPr>
        <p:sp>
          <p:nvSpPr>
            <p:cNvPr id="91" name="Google Shape;250;p19"/>
            <p:cNvSpPr txBox="1"/>
            <p:nvPr/>
          </p:nvSpPr>
          <p:spPr>
            <a:xfrm>
              <a:off x="-43152" y="6652"/>
              <a:ext cx="2167800" cy="584700"/>
            </a:xfrm>
            <a:prstGeom prst="rect">
              <a:avLst/>
            </a:prstGeom>
            <a:solidFill>
              <a:schemeClr val="accent6">
                <a:lumMod val="60000"/>
                <a:lumOff val="40000"/>
              </a:schemeClr>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92" name="Google Shape;251;p19"/>
            <p:cNvSpPr/>
            <p:nvPr/>
          </p:nvSpPr>
          <p:spPr>
            <a:xfrm>
              <a:off x="1778963" y="0"/>
              <a:ext cx="26382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100" name="Google Shape;252;p19"/>
            <p:cNvSpPr txBox="1"/>
            <p:nvPr/>
          </p:nvSpPr>
          <p:spPr>
            <a:xfrm>
              <a:off x="2071350" y="0"/>
              <a:ext cx="2053500" cy="584700"/>
            </a:xfrm>
            <a:prstGeom prst="rect">
              <a:avLst/>
            </a:prstGeom>
            <a:no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105" name="Google Shape;253;p19"/>
            <p:cNvSpPr/>
            <p:nvPr/>
          </p:nvSpPr>
          <p:spPr>
            <a:xfrm>
              <a:off x="4023490" y="0"/>
              <a:ext cx="19680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109" name="Google Shape;254;p19"/>
            <p:cNvSpPr txBox="1"/>
            <p:nvPr/>
          </p:nvSpPr>
          <p:spPr>
            <a:xfrm>
              <a:off x="4261955" y="0"/>
              <a:ext cx="14373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110"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111" name="Google Shape;256;p19"/>
            <p:cNvSpPr txBox="1"/>
            <p:nvPr/>
          </p:nvSpPr>
          <p:spPr>
            <a:xfrm>
              <a:off x="5872496" y="-19950"/>
              <a:ext cx="18417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112"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113"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5</a:t>
              </a:r>
              <a:r>
                <a:rPr lang="fr-FR" sz="1700" b="1" i="0" u="none" strike="noStrike" cap="none" dirty="0">
                  <a:solidFill>
                    <a:schemeClr val="lt1"/>
                  </a:solidFill>
                </a:rPr>
                <a:t>.Conclusion et Perspectives</a:t>
              </a:r>
              <a:endParaRPr sz="1400" b="1" i="0" u="none" strike="noStrike" cap="none" dirty="0">
                <a:solidFill>
                  <a:schemeClr val="lt1"/>
                </a:solidFill>
              </a:endParaRPr>
            </a:p>
          </p:txBody>
        </p:sp>
      </p:grpSp>
      <p:sp>
        <p:nvSpPr>
          <p:cNvPr id="114" name="object 5"/>
          <p:cNvSpPr/>
          <p:nvPr/>
        </p:nvSpPr>
        <p:spPr>
          <a:xfrm>
            <a:off x="68379"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pic>
        <p:nvPicPr>
          <p:cNvPr id="20" name="Image 19">
            <a:extLst>
              <a:ext uri="{FF2B5EF4-FFF2-40B4-BE49-F238E27FC236}">
                <a16:creationId xmlns:a16="http://schemas.microsoft.com/office/drawing/2014/main" id="{AFACD4AD-646F-403E-BE49-61141CFE9B1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77313" y="1664105"/>
            <a:ext cx="1788160" cy="1317493"/>
          </a:xfrm>
          <a:prstGeom prst="rect">
            <a:avLst/>
          </a:prstGeom>
          <a:noFill/>
          <a:ln>
            <a:noFill/>
          </a:ln>
        </p:spPr>
      </p:pic>
      <p:sp>
        <p:nvSpPr>
          <p:cNvPr id="23" name="Espace réservé du numéro de diapositive 1">
            <a:extLst>
              <a:ext uri="{FF2B5EF4-FFF2-40B4-BE49-F238E27FC236}">
                <a16:creationId xmlns:a16="http://schemas.microsoft.com/office/drawing/2014/main" id="{33A862BF-B033-48C5-A724-C790E6288A11}"/>
              </a:ext>
            </a:extLst>
          </p:cNvPr>
          <p:cNvSpPr>
            <a:spLocks noGrp="1"/>
          </p:cNvSpPr>
          <p:nvPr>
            <p:ph type="sldNum" idx="12"/>
          </p:nvPr>
        </p:nvSpPr>
        <p:spPr>
          <a:xfrm>
            <a:off x="11531600" y="6325870"/>
            <a:ext cx="299720" cy="365125"/>
          </a:xfrm>
        </p:spPr>
        <p:txBody>
          <a:bodyPr/>
          <a:lstStyle/>
          <a:p>
            <a:pPr marL="0" lvl="0" indent="0" algn="r" rtl="0">
              <a:spcBef>
                <a:spcPts val="0"/>
              </a:spcBef>
              <a:spcAft>
                <a:spcPts val="0"/>
              </a:spcAft>
              <a:buNone/>
            </a:pPr>
            <a:r>
              <a:rPr lang="fr-FR" dirty="0"/>
              <a:t>2</a:t>
            </a:r>
          </a:p>
        </p:txBody>
      </p:sp>
      <p:grpSp>
        <p:nvGrpSpPr>
          <p:cNvPr id="21" name="Groupe 20">
            <a:extLst>
              <a:ext uri="{FF2B5EF4-FFF2-40B4-BE49-F238E27FC236}">
                <a16:creationId xmlns:a16="http://schemas.microsoft.com/office/drawing/2014/main" id="{D6102244-F327-4C6D-925E-863D78B800E5}"/>
              </a:ext>
            </a:extLst>
          </p:cNvPr>
          <p:cNvGrpSpPr/>
          <p:nvPr/>
        </p:nvGrpSpPr>
        <p:grpSpPr>
          <a:xfrm>
            <a:off x="1292374" y="3639800"/>
            <a:ext cx="2200427" cy="960011"/>
            <a:chOff x="891148" y="-13521"/>
            <a:chExt cx="2200427" cy="960011"/>
          </a:xfrm>
        </p:grpSpPr>
        <p:sp>
          <p:nvSpPr>
            <p:cNvPr id="24" name="Rectangle 23">
              <a:extLst>
                <a:ext uri="{FF2B5EF4-FFF2-40B4-BE49-F238E27FC236}">
                  <a16:creationId xmlns:a16="http://schemas.microsoft.com/office/drawing/2014/main" id="{6A7866AE-52EC-4D1F-A7D9-A2BB8C78E8EA}"/>
                </a:ext>
              </a:extLst>
            </p:cNvPr>
            <p:cNvSpPr/>
            <p:nvPr/>
          </p:nvSpPr>
          <p:spPr>
            <a:xfrm>
              <a:off x="933437" y="0"/>
              <a:ext cx="2158138" cy="946490"/>
            </a:xfrm>
            <a:prstGeom prst="rect">
              <a:avLst/>
            </a:prstGeom>
            <a:ln>
              <a:solidFill>
                <a:schemeClr val="accent6">
                  <a:lumMod val="60000"/>
                  <a:lumOff val="40000"/>
                </a:schemeClr>
              </a:solidFill>
            </a:ln>
          </p:spPr>
          <p:style>
            <a:lnRef idx="1">
              <a:scrgbClr r="0" g="0" b="0"/>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sp>
        <p:sp>
          <p:nvSpPr>
            <p:cNvPr id="25" name="ZoneTexte 24">
              <a:extLst>
                <a:ext uri="{FF2B5EF4-FFF2-40B4-BE49-F238E27FC236}">
                  <a16:creationId xmlns:a16="http://schemas.microsoft.com/office/drawing/2014/main" id="{72B21A30-7214-4C09-AFD9-7DD0C737261B}"/>
                </a:ext>
              </a:extLst>
            </p:cNvPr>
            <p:cNvSpPr txBox="1"/>
            <p:nvPr/>
          </p:nvSpPr>
          <p:spPr>
            <a:xfrm>
              <a:off x="891148" y="-13521"/>
              <a:ext cx="2158138" cy="94649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33839"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dirty="0"/>
                <a:t>Téléphonie mobile et fixe</a:t>
              </a:r>
            </a:p>
          </p:txBody>
        </p:sp>
      </p:grpSp>
      <p:sp>
        <p:nvSpPr>
          <p:cNvPr id="26" name="Rectangle 25">
            <a:extLst>
              <a:ext uri="{FF2B5EF4-FFF2-40B4-BE49-F238E27FC236}">
                <a16:creationId xmlns:a16="http://schemas.microsoft.com/office/drawing/2014/main" id="{CFB8D760-027D-4FCA-AD63-9B6F8E6F85F6}"/>
              </a:ext>
            </a:extLst>
          </p:cNvPr>
          <p:cNvSpPr/>
          <p:nvPr/>
        </p:nvSpPr>
        <p:spPr>
          <a:xfrm>
            <a:off x="976613" y="3593798"/>
            <a:ext cx="965089" cy="903569"/>
          </a:xfrm>
          <a:prstGeom prst="rect">
            <a:avLst/>
          </a:prstGeom>
          <a:blipFill>
            <a:blip r:embed="rId4"/>
            <a:srcRect/>
            <a:stretch>
              <a:fillRect t="-3000" b="-3000"/>
            </a:stretch>
          </a:blipFill>
        </p:spPr>
        <p:style>
          <a:lnRef idx="3">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sp>
      <p:grpSp>
        <p:nvGrpSpPr>
          <p:cNvPr id="27" name="Groupe 26">
            <a:extLst>
              <a:ext uri="{FF2B5EF4-FFF2-40B4-BE49-F238E27FC236}">
                <a16:creationId xmlns:a16="http://schemas.microsoft.com/office/drawing/2014/main" id="{228E2B64-6885-41B0-A98D-F52091751D8D}"/>
              </a:ext>
            </a:extLst>
          </p:cNvPr>
          <p:cNvGrpSpPr/>
          <p:nvPr/>
        </p:nvGrpSpPr>
        <p:grpSpPr>
          <a:xfrm>
            <a:off x="4846374" y="3691683"/>
            <a:ext cx="1843750" cy="805684"/>
            <a:chOff x="4607198" y="398397"/>
            <a:chExt cx="1843750" cy="805684"/>
          </a:xfrm>
        </p:grpSpPr>
        <p:sp>
          <p:nvSpPr>
            <p:cNvPr id="28" name="Rectangle 27">
              <a:extLst>
                <a:ext uri="{FF2B5EF4-FFF2-40B4-BE49-F238E27FC236}">
                  <a16:creationId xmlns:a16="http://schemas.microsoft.com/office/drawing/2014/main" id="{3C4C4A0A-DB0B-46E3-BD1C-1EB846CE04DB}"/>
                </a:ext>
              </a:extLst>
            </p:cNvPr>
            <p:cNvSpPr/>
            <p:nvPr/>
          </p:nvSpPr>
          <p:spPr>
            <a:xfrm>
              <a:off x="4607198" y="398397"/>
              <a:ext cx="1843750" cy="805684"/>
            </a:xfrm>
            <a:prstGeom prst="rect">
              <a:avLst/>
            </a:prstGeom>
            <a:ln>
              <a:solidFill>
                <a:schemeClr val="accent6">
                  <a:lumMod val="60000"/>
                  <a:lumOff val="40000"/>
                </a:schemeClr>
              </a:solidFill>
            </a:ln>
          </p:spPr>
          <p:style>
            <a:lnRef idx="1">
              <a:scrgbClr r="0" g="0" b="0"/>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sp>
        <p:sp>
          <p:nvSpPr>
            <p:cNvPr id="29" name="ZoneTexte 28">
              <a:extLst>
                <a:ext uri="{FF2B5EF4-FFF2-40B4-BE49-F238E27FC236}">
                  <a16:creationId xmlns:a16="http://schemas.microsoft.com/office/drawing/2014/main" id="{4A8E5EB0-8DE0-4E2A-A5D4-CD5330017321}"/>
                </a:ext>
              </a:extLst>
            </p:cNvPr>
            <p:cNvSpPr txBox="1"/>
            <p:nvPr/>
          </p:nvSpPr>
          <p:spPr>
            <a:xfrm>
              <a:off x="4607198" y="398397"/>
              <a:ext cx="1843750" cy="80568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33839"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dirty="0">
                  <a:latin typeface="Times New Roman" panose="02020603050405020304" pitchFamily="18" charset="0"/>
                  <a:cs typeface="Times New Roman" panose="02020603050405020304" pitchFamily="18" charset="0"/>
                </a:rPr>
                <a:t>Internet</a:t>
              </a:r>
            </a:p>
          </p:txBody>
        </p:sp>
      </p:grpSp>
      <p:sp>
        <p:nvSpPr>
          <p:cNvPr id="30" name="Rectangle 29">
            <a:extLst>
              <a:ext uri="{FF2B5EF4-FFF2-40B4-BE49-F238E27FC236}">
                <a16:creationId xmlns:a16="http://schemas.microsoft.com/office/drawing/2014/main" id="{CC9DE509-0A7A-4030-BDC0-ECB1593A99C2}"/>
              </a:ext>
            </a:extLst>
          </p:cNvPr>
          <p:cNvSpPr/>
          <p:nvPr/>
        </p:nvSpPr>
        <p:spPr>
          <a:xfrm>
            <a:off x="4658445" y="3576927"/>
            <a:ext cx="965089" cy="852801"/>
          </a:xfrm>
          <a:prstGeom prst="rect">
            <a:avLst/>
          </a:prstGeom>
          <a:blipFill>
            <a:blip r:embed="rId5"/>
            <a:srcRect/>
            <a:stretch>
              <a:fillRect/>
            </a:stretch>
          </a:blipFill>
        </p:spPr>
        <p:style>
          <a:lnRef idx="3">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sp>
      <p:grpSp>
        <p:nvGrpSpPr>
          <p:cNvPr id="31" name="Groupe 30">
            <a:extLst>
              <a:ext uri="{FF2B5EF4-FFF2-40B4-BE49-F238E27FC236}">
                <a16:creationId xmlns:a16="http://schemas.microsoft.com/office/drawing/2014/main" id="{2D831B05-C7EE-4B22-8CB4-D0FAA066C4DF}"/>
              </a:ext>
            </a:extLst>
          </p:cNvPr>
          <p:cNvGrpSpPr/>
          <p:nvPr/>
        </p:nvGrpSpPr>
        <p:grpSpPr>
          <a:xfrm>
            <a:off x="8233367" y="3584702"/>
            <a:ext cx="2181874" cy="898663"/>
            <a:chOff x="7754627" y="297610"/>
            <a:chExt cx="2181874" cy="898663"/>
          </a:xfrm>
        </p:grpSpPr>
        <p:sp>
          <p:nvSpPr>
            <p:cNvPr id="32" name="Rectangle 31">
              <a:extLst>
                <a:ext uri="{FF2B5EF4-FFF2-40B4-BE49-F238E27FC236}">
                  <a16:creationId xmlns:a16="http://schemas.microsoft.com/office/drawing/2014/main" id="{7083BB61-0D02-4DD7-A5CA-2A1442600667}"/>
                </a:ext>
              </a:extLst>
            </p:cNvPr>
            <p:cNvSpPr/>
            <p:nvPr/>
          </p:nvSpPr>
          <p:spPr>
            <a:xfrm>
              <a:off x="7754627" y="297610"/>
              <a:ext cx="2181874" cy="898663"/>
            </a:xfrm>
            <a:prstGeom prst="rect">
              <a:avLst/>
            </a:prstGeom>
            <a:ln>
              <a:solidFill>
                <a:schemeClr val="accent6">
                  <a:lumMod val="60000"/>
                  <a:lumOff val="40000"/>
                </a:schemeClr>
              </a:solidFill>
            </a:ln>
          </p:spPr>
          <p:style>
            <a:lnRef idx="1">
              <a:scrgbClr r="0" g="0" b="0"/>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sp>
        <p:sp>
          <p:nvSpPr>
            <p:cNvPr id="33" name="ZoneTexte 32">
              <a:extLst>
                <a:ext uri="{FF2B5EF4-FFF2-40B4-BE49-F238E27FC236}">
                  <a16:creationId xmlns:a16="http://schemas.microsoft.com/office/drawing/2014/main" id="{2638A866-BAA4-4493-B2BD-D471D1303DA3}"/>
                </a:ext>
              </a:extLst>
            </p:cNvPr>
            <p:cNvSpPr txBox="1"/>
            <p:nvPr/>
          </p:nvSpPr>
          <p:spPr>
            <a:xfrm>
              <a:off x="7754627" y="297610"/>
              <a:ext cx="2181874" cy="898663"/>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33839"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dirty="0">
                  <a:latin typeface="Times New Roman" panose="02020603050405020304" pitchFamily="18" charset="0"/>
                  <a:cs typeface="Times New Roman" panose="02020603050405020304" pitchFamily="18" charset="0"/>
                </a:rPr>
                <a:t>Solutions entreprises</a:t>
              </a:r>
            </a:p>
          </p:txBody>
        </p:sp>
      </p:grpSp>
      <p:sp>
        <p:nvSpPr>
          <p:cNvPr id="34" name="Rectangle 33">
            <a:extLst>
              <a:ext uri="{FF2B5EF4-FFF2-40B4-BE49-F238E27FC236}">
                <a16:creationId xmlns:a16="http://schemas.microsoft.com/office/drawing/2014/main" id="{868CBB72-828E-4E44-8798-56B8D96A02F6}"/>
              </a:ext>
            </a:extLst>
          </p:cNvPr>
          <p:cNvSpPr/>
          <p:nvPr/>
        </p:nvSpPr>
        <p:spPr>
          <a:xfrm>
            <a:off x="8040607" y="3576927"/>
            <a:ext cx="965089" cy="827800"/>
          </a:xfrm>
          <a:prstGeom prst="rect">
            <a:avLst/>
          </a:prstGeom>
          <a:blipFill>
            <a:blip r:embed="rId6"/>
            <a:srcRect/>
            <a:stretch>
              <a:fillRect t="-8000" b="-8000"/>
            </a:stretch>
          </a:blipFill>
        </p:spPr>
        <p:style>
          <a:lnRef idx="3">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sp>
      <p:grpSp>
        <p:nvGrpSpPr>
          <p:cNvPr id="35" name="Groupe 34">
            <a:extLst>
              <a:ext uri="{FF2B5EF4-FFF2-40B4-BE49-F238E27FC236}">
                <a16:creationId xmlns:a16="http://schemas.microsoft.com/office/drawing/2014/main" id="{A456844F-CB4F-4EEC-95E8-E9DBC4AAF41B}"/>
              </a:ext>
            </a:extLst>
          </p:cNvPr>
          <p:cNvGrpSpPr/>
          <p:nvPr/>
        </p:nvGrpSpPr>
        <p:grpSpPr>
          <a:xfrm>
            <a:off x="1175175" y="5260969"/>
            <a:ext cx="2456334" cy="853745"/>
            <a:chOff x="383100" y="1995955"/>
            <a:chExt cx="2456334" cy="853745"/>
          </a:xfrm>
        </p:grpSpPr>
        <p:sp>
          <p:nvSpPr>
            <p:cNvPr id="36" name="Rectangle 35">
              <a:extLst>
                <a:ext uri="{FF2B5EF4-FFF2-40B4-BE49-F238E27FC236}">
                  <a16:creationId xmlns:a16="http://schemas.microsoft.com/office/drawing/2014/main" id="{66F88596-1260-4F07-BD15-06266C0D2AB8}"/>
                </a:ext>
              </a:extLst>
            </p:cNvPr>
            <p:cNvSpPr/>
            <p:nvPr/>
          </p:nvSpPr>
          <p:spPr>
            <a:xfrm>
              <a:off x="383100" y="1995955"/>
              <a:ext cx="2456334" cy="853745"/>
            </a:xfrm>
            <a:prstGeom prst="rect">
              <a:avLst/>
            </a:prstGeom>
            <a:ln>
              <a:solidFill>
                <a:schemeClr val="accent6">
                  <a:lumMod val="60000"/>
                  <a:lumOff val="40000"/>
                </a:schemeClr>
              </a:solidFill>
            </a:ln>
          </p:spPr>
          <p:style>
            <a:lnRef idx="1">
              <a:scrgbClr r="0" g="0" b="0"/>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sp>
        <p:sp>
          <p:nvSpPr>
            <p:cNvPr id="37" name="ZoneTexte 36">
              <a:extLst>
                <a:ext uri="{FF2B5EF4-FFF2-40B4-BE49-F238E27FC236}">
                  <a16:creationId xmlns:a16="http://schemas.microsoft.com/office/drawing/2014/main" id="{ED4CFBAB-2EC5-4F8F-B4B8-45763EDCE75E}"/>
                </a:ext>
              </a:extLst>
            </p:cNvPr>
            <p:cNvSpPr txBox="1"/>
            <p:nvPr/>
          </p:nvSpPr>
          <p:spPr>
            <a:xfrm>
              <a:off x="383100" y="1995955"/>
              <a:ext cx="2456334" cy="85374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33839"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dirty="0">
                  <a:latin typeface="Times New Roman" panose="02020603050405020304" pitchFamily="18" charset="0"/>
                  <a:cs typeface="Times New Roman" panose="02020603050405020304" pitchFamily="18" charset="0"/>
                </a:rPr>
                <a:t> Infrastructure Télécom</a:t>
              </a:r>
            </a:p>
          </p:txBody>
        </p:sp>
      </p:grpSp>
      <p:sp>
        <p:nvSpPr>
          <p:cNvPr id="38" name="Rectangle 37">
            <a:extLst>
              <a:ext uri="{FF2B5EF4-FFF2-40B4-BE49-F238E27FC236}">
                <a16:creationId xmlns:a16="http://schemas.microsoft.com/office/drawing/2014/main" id="{1585284E-339B-49E3-8C2F-36768775EC36}"/>
              </a:ext>
            </a:extLst>
          </p:cNvPr>
          <p:cNvSpPr/>
          <p:nvPr/>
        </p:nvSpPr>
        <p:spPr>
          <a:xfrm>
            <a:off x="976612" y="5172046"/>
            <a:ext cx="965089" cy="867205"/>
          </a:xfrm>
          <a:prstGeom prst="rect">
            <a:avLst/>
          </a:prstGeom>
          <a:blipFill>
            <a:blip r:embed="rId7"/>
            <a:srcRect/>
            <a:stretch>
              <a:fillRect t="-6000" b="-6000"/>
            </a:stretch>
          </a:blipFill>
        </p:spPr>
        <p:style>
          <a:lnRef idx="3">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sp>
      <p:grpSp>
        <p:nvGrpSpPr>
          <p:cNvPr id="39" name="Groupe 38">
            <a:extLst>
              <a:ext uri="{FF2B5EF4-FFF2-40B4-BE49-F238E27FC236}">
                <a16:creationId xmlns:a16="http://schemas.microsoft.com/office/drawing/2014/main" id="{0A401B02-3065-4540-8568-63CB780FF101}"/>
              </a:ext>
            </a:extLst>
          </p:cNvPr>
          <p:cNvGrpSpPr/>
          <p:nvPr/>
        </p:nvGrpSpPr>
        <p:grpSpPr>
          <a:xfrm>
            <a:off x="8160698" y="5111419"/>
            <a:ext cx="2293041" cy="1048012"/>
            <a:chOff x="4196782" y="1930815"/>
            <a:chExt cx="2293041" cy="1048012"/>
          </a:xfrm>
        </p:grpSpPr>
        <p:sp>
          <p:nvSpPr>
            <p:cNvPr id="40" name="Rectangle 39">
              <a:extLst>
                <a:ext uri="{FF2B5EF4-FFF2-40B4-BE49-F238E27FC236}">
                  <a16:creationId xmlns:a16="http://schemas.microsoft.com/office/drawing/2014/main" id="{C2ACE258-8932-4647-872B-9612FCAB6D7F}"/>
                </a:ext>
              </a:extLst>
            </p:cNvPr>
            <p:cNvSpPr/>
            <p:nvPr/>
          </p:nvSpPr>
          <p:spPr>
            <a:xfrm>
              <a:off x="4196782" y="1930815"/>
              <a:ext cx="2293041" cy="1048012"/>
            </a:xfrm>
            <a:prstGeom prst="rect">
              <a:avLst/>
            </a:prstGeom>
            <a:ln>
              <a:solidFill>
                <a:schemeClr val="accent6">
                  <a:lumMod val="60000"/>
                  <a:lumOff val="40000"/>
                </a:schemeClr>
              </a:solidFill>
            </a:ln>
          </p:spPr>
          <p:style>
            <a:lnRef idx="1">
              <a:scrgbClr r="0" g="0" b="0"/>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sp>
        <p:sp>
          <p:nvSpPr>
            <p:cNvPr id="41" name="ZoneTexte 40">
              <a:extLst>
                <a:ext uri="{FF2B5EF4-FFF2-40B4-BE49-F238E27FC236}">
                  <a16:creationId xmlns:a16="http://schemas.microsoft.com/office/drawing/2014/main" id="{E544C042-EFA0-43CC-BD57-2C871484BC36}"/>
                </a:ext>
              </a:extLst>
            </p:cNvPr>
            <p:cNvSpPr txBox="1"/>
            <p:nvPr/>
          </p:nvSpPr>
          <p:spPr>
            <a:xfrm>
              <a:off x="4196782" y="1930815"/>
              <a:ext cx="2293041" cy="104801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0664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dirty="0"/>
                <a:t>Solutions intelligentes</a:t>
              </a:r>
            </a:p>
          </p:txBody>
        </p:sp>
      </p:grpSp>
      <p:sp>
        <p:nvSpPr>
          <p:cNvPr id="42" name="Rectangle 41">
            <a:extLst>
              <a:ext uri="{FF2B5EF4-FFF2-40B4-BE49-F238E27FC236}">
                <a16:creationId xmlns:a16="http://schemas.microsoft.com/office/drawing/2014/main" id="{DAC4A6A2-FA83-4C6D-9203-839757F8CE83}"/>
              </a:ext>
            </a:extLst>
          </p:cNvPr>
          <p:cNvSpPr/>
          <p:nvPr/>
        </p:nvSpPr>
        <p:spPr>
          <a:xfrm>
            <a:off x="7695902" y="5074365"/>
            <a:ext cx="1151360" cy="972964"/>
          </a:xfrm>
          <a:prstGeom prst="rect">
            <a:avLst/>
          </a:prstGeom>
          <a:blipFill>
            <a:blip r:embed="rId8"/>
            <a:srcRect/>
            <a:stretch>
              <a:fillRect/>
            </a:stretch>
          </a:blipFill>
        </p:spPr>
        <p:style>
          <a:lnRef idx="3">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sp>
      <p:grpSp>
        <p:nvGrpSpPr>
          <p:cNvPr id="43" name="Groupe 42">
            <a:extLst>
              <a:ext uri="{FF2B5EF4-FFF2-40B4-BE49-F238E27FC236}">
                <a16:creationId xmlns:a16="http://schemas.microsoft.com/office/drawing/2014/main" id="{92795AF2-662C-4E4D-824C-C70EE1EFFAEC}"/>
              </a:ext>
            </a:extLst>
          </p:cNvPr>
          <p:cNvGrpSpPr/>
          <p:nvPr/>
        </p:nvGrpSpPr>
        <p:grpSpPr>
          <a:xfrm>
            <a:off x="4597568" y="5216250"/>
            <a:ext cx="2341361" cy="943181"/>
            <a:chOff x="8256544" y="1993697"/>
            <a:chExt cx="2341361" cy="943181"/>
          </a:xfrm>
        </p:grpSpPr>
        <p:sp>
          <p:nvSpPr>
            <p:cNvPr id="44" name="Rectangle 43">
              <a:extLst>
                <a:ext uri="{FF2B5EF4-FFF2-40B4-BE49-F238E27FC236}">
                  <a16:creationId xmlns:a16="http://schemas.microsoft.com/office/drawing/2014/main" id="{F3312457-DD1E-4B2B-9961-B4AEF80D6029}"/>
                </a:ext>
              </a:extLst>
            </p:cNvPr>
            <p:cNvSpPr/>
            <p:nvPr/>
          </p:nvSpPr>
          <p:spPr>
            <a:xfrm>
              <a:off x="8256544" y="1993697"/>
              <a:ext cx="2341361" cy="943181"/>
            </a:xfrm>
            <a:prstGeom prst="rect">
              <a:avLst/>
            </a:prstGeom>
            <a:ln>
              <a:solidFill>
                <a:schemeClr val="accent6">
                  <a:lumMod val="60000"/>
                  <a:lumOff val="40000"/>
                </a:schemeClr>
              </a:solidFill>
            </a:ln>
          </p:spPr>
          <p:style>
            <a:lnRef idx="1">
              <a:scrgbClr r="0" g="0" b="0"/>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sp>
        <p:sp>
          <p:nvSpPr>
            <p:cNvPr id="45" name="ZoneTexte 44">
              <a:extLst>
                <a:ext uri="{FF2B5EF4-FFF2-40B4-BE49-F238E27FC236}">
                  <a16:creationId xmlns:a16="http://schemas.microsoft.com/office/drawing/2014/main" id="{784460B5-AD8A-4D29-8121-E507F59A609E}"/>
                </a:ext>
              </a:extLst>
            </p:cNvPr>
            <p:cNvSpPr txBox="1"/>
            <p:nvPr/>
          </p:nvSpPr>
          <p:spPr>
            <a:xfrm>
              <a:off x="8256544" y="1993697"/>
              <a:ext cx="2341361" cy="94318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33839"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dirty="0">
                  <a:latin typeface="Times New Roman" panose="02020603050405020304" pitchFamily="18" charset="0"/>
                  <a:cs typeface="Times New Roman" panose="02020603050405020304" pitchFamily="18" charset="0"/>
                </a:rPr>
                <a:t>Qualité de service</a:t>
              </a:r>
              <a:endParaRPr lang="fr-FR" sz="4200" kern="1200" dirty="0">
                <a:latin typeface="Times New Roman" panose="02020603050405020304" pitchFamily="18" charset="0"/>
                <a:cs typeface="Times New Roman" panose="02020603050405020304" pitchFamily="18" charset="0"/>
              </a:endParaRPr>
            </a:p>
          </p:txBody>
        </p:sp>
      </p:grpSp>
      <p:sp>
        <p:nvSpPr>
          <p:cNvPr id="46" name="Rectangle 45">
            <a:extLst>
              <a:ext uri="{FF2B5EF4-FFF2-40B4-BE49-F238E27FC236}">
                <a16:creationId xmlns:a16="http://schemas.microsoft.com/office/drawing/2014/main" id="{186CC8A7-E3FC-4821-8351-AA1C81951414}"/>
              </a:ext>
            </a:extLst>
          </p:cNvPr>
          <p:cNvSpPr/>
          <p:nvPr/>
        </p:nvSpPr>
        <p:spPr>
          <a:xfrm>
            <a:off x="4251733" y="5127031"/>
            <a:ext cx="1069241" cy="957233"/>
          </a:xfrm>
          <a:prstGeom prst="rect">
            <a:avLst/>
          </a:prstGeom>
          <a:blipFill>
            <a:blip r:embed="rId9"/>
            <a:srcRect/>
            <a:stretch>
              <a:fillRect t="-6000" b="-6000"/>
            </a:stretch>
          </a:blipFill>
        </p:spPr>
        <p:style>
          <a:lnRef idx="3">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sp>
    </p:spTree>
    <p:extLst>
      <p:ext uri="{BB962C8B-B14F-4D97-AF65-F5344CB8AC3E}">
        <p14:creationId xmlns:p14="http://schemas.microsoft.com/office/powerpoint/2010/main" val="159600449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par>
                                <p:cTn id="13" presetID="10"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par>
                                <p:cTn id="21" presetID="10"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500"/>
                                        <p:tgtEl>
                                          <p:spTgt spid="3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500"/>
                                        <p:tgtEl>
                                          <p:spTgt spid="38"/>
                                        </p:tgtEl>
                                      </p:cBhvr>
                                    </p:animEffect>
                                  </p:childTnLst>
                                </p:cTn>
                              </p:par>
                              <p:par>
                                <p:cTn id="37" presetID="10" presetClass="entr" presetSubtype="0" fill="hold" nodeType="with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fade">
                                      <p:cBhvr>
                                        <p:cTn id="39" dur="500"/>
                                        <p:tgtEl>
                                          <p:spTgt spid="3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fade">
                                      <p:cBhvr>
                                        <p:cTn id="44" dur="500"/>
                                        <p:tgtEl>
                                          <p:spTgt spid="46"/>
                                        </p:tgtEl>
                                      </p:cBhvr>
                                    </p:animEffect>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500"/>
                                        <p:tgtEl>
                                          <p:spTgt spid="4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fade">
                                      <p:cBhvr>
                                        <p:cTn id="52" dur="500"/>
                                        <p:tgtEl>
                                          <p:spTgt spid="42"/>
                                        </p:tgtEl>
                                      </p:cBhvr>
                                    </p:animEffect>
                                  </p:childTnLst>
                                </p:cTn>
                              </p:par>
                              <p:par>
                                <p:cTn id="53" presetID="10" presetClass="entr" presetSubtype="0" fill="hold" nodeType="with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fade">
                                      <p:cBhvr>
                                        <p:cTn id="5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8"/>
          <p:cNvSpPr/>
          <p:nvPr/>
        </p:nvSpPr>
        <p:spPr>
          <a:xfrm>
            <a:off x="2528278" y="2027204"/>
            <a:ext cx="5567107" cy="717339"/>
          </a:xfrm>
          <a:prstGeom prst="rect">
            <a:avLst/>
          </a:prstGeom>
          <a:noFill/>
          <a:ln>
            <a:noFill/>
          </a:ln>
        </p:spPr>
        <p:txBody>
          <a:bodyPr spcFirstLastPara="1" wrap="square" lIns="91425" tIns="45700" rIns="91425" bIns="45700" anchor="t" anchorCtr="0">
            <a:noAutofit/>
          </a:bodyPr>
          <a:lstStyle/>
          <a:p>
            <a:pPr marL="101600" marR="0" lvl="0" algn="ctr" rtl="0">
              <a:lnSpc>
                <a:spcPct val="100000"/>
              </a:lnSpc>
              <a:spcBef>
                <a:spcPts val="0"/>
              </a:spcBef>
              <a:spcAft>
                <a:spcPts val="0"/>
              </a:spcAft>
              <a:buClr>
                <a:srgbClr val="C55A11"/>
              </a:buClr>
              <a:buSzPts val="2000"/>
            </a:pPr>
            <a:r>
              <a:rPr lang="fr-FR" sz="2000" b="1" dirty="0"/>
              <a:t>Comment assurer une gestion intelligente et un suivi efficace des plantes ?</a:t>
            </a:r>
            <a:endParaRPr sz="1600" b="1" i="0" u="none" strike="noStrike" cap="none" dirty="0">
              <a:solidFill>
                <a:schemeClr val="tx1"/>
              </a:solidFill>
            </a:endParaRPr>
          </a:p>
        </p:txBody>
      </p:sp>
      <p:sp>
        <p:nvSpPr>
          <p:cNvPr id="75" name="AutoShape 6" descr="Homme d&amp;#39;affaires mignon ou gestionnaire tenant un mégaphone ..."/>
          <p:cNvSpPr>
            <a:spLocks noChangeAspect="1" noChangeArrowheads="1"/>
          </p:cNvSpPr>
          <p:nvPr/>
        </p:nvSpPr>
        <p:spPr bwMode="auto">
          <a:xfrm>
            <a:off x="1175175" y="8886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6" name="AutoShape 8" descr="Homme d&amp;#39;affaires mignon ou gestionnaire tenant un mégaphone ..."/>
          <p:cNvSpPr>
            <a:spLocks noChangeAspect="1" noChangeArrowheads="1"/>
          </p:cNvSpPr>
          <p:nvPr/>
        </p:nvSpPr>
        <p:spPr bwMode="auto">
          <a:xfrm>
            <a:off x="1327575" y="10410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7" name="AutoShape 12" descr="Homme d&amp;#39;affaires mignon ou gestionnaire tenant un mégaphone ..."/>
          <p:cNvSpPr>
            <a:spLocks noChangeAspect="1" noChangeArrowheads="1"/>
          </p:cNvSpPr>
          <p:nvPr/>
        </p:nvSpPr>
        <p:spPr bwMode="auto">
          <a:xfrm>
            <a:off x="1479975" y="1193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pSp>
        <p:nvGrpSpPr>
          <p:cNvPr id="90" name="Google Shape;248;p19"/>
          <p:cNvGrpSpPr/>
          <p:nvPr/>
        </p:nvGrpSpPr>
        <p:grpSpPr>
          <a:xfrm>
            <a:off x="39196" y="192937"/>
            <a:ext cx="10365904" cy="650938"/>
            <a:chOff x="-43152" y="-19950"/>
            <a:chExt cx="10076703" cy="650938"/>
          </a:xfrm>
        </p:grpSpPr>
        <p:sp>
          <p:nvSpPr>
            <p:cNvPr id="91" name="Google Shape;250;p19"/>
            <p:cNvSpPr txBox="1"/>
            <p:nvPr/>
          </p:nvSpPr>
          <p:spPr>
            <a:xfrm>
              <a:off x="-43152" y="6652"/>
              <a:ext cx="2167800" cy="584700"/>
            </a:xfrm>
            <a:prstGeom prst="rect">
              <a:avLst/>
            </a:prstGeom>
            <a:solidFill>
              <a:schemeClr val="accent6">
                <a:lumMod val="60000"/>
                <a:lumOff val="40000"/>
              </a:schemeClr>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92" name="Google Shape;251;p19"/>
            <p:cNvSpPr/>
            <p:nvPr/>
          </p:nvSpPr>
          <p:spPr>
            <a:xfrm>
              <a:off x="1778963" y="0"/>
              <a:ext cx="26382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100" name="Google Shape;252;p19"/>
            <p:cNvSpPr txBox="1"/>
            <p:nvPr/>
          </p:nvSpPr>
          <p:spPr>
            <a:xfrm>
              <a:off x="2071350" y="0"/>
              <a:ext cx="2053500" cy="584700"/>
            </a:xfrm>
            <a:prstGeom prst="rect">
              <a:avLst/>
            </a:prstGeom>
            <a:no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105" name="Google Shape;253;p19"/>
            <p:cNvSpPr/>
            <p:nvPr/>
          </p:nvSpPr>
          <p:spPr>
            <a:xfrm>
              <a:off x="4023490" y="0"/>
              <a:ext cx="19680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109" name="Google Shape;254;p19"/>
            <p:cNvSpPr txBox="1"/>
            <p:nvPr/>
          </p:nvSpPr>
          <p:spPr>
            <a:xfrm>
              <a:off x="4261955" y="0"/>
              <a:ext cx="14373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3.Conception</a:t>
              </a:r>
              <a:endParaRPr sz="1400" b="1" i="0" u="none" strike="noStrike" cap="none">
                <a:solidFill>
                  <a:schemeClr val="lt1"/>
                </a:solidFill>
              </a:endParaRPr>
            </a:p>
          </p:txBody>
        </p:sp>
        <p:sp>
          <p:nvSpPr>
            <p:cNvPr id="110"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111" name="Google Shape;256;p19"/>
            <p:cNvSpPr txBox="1"/>
            <p:nvPr/>
          </p:nvSpPr>
          <p:spPr>
            <a:xfrm>
              <a:off x="5872496" y="-19950"/>
              <a:ext cx="18417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112"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113"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5</a:t>
              </a:r>
              <a:r>
                <a:rPr lang="fr-FR" sz="1700" b="1" i="0" u="none" strike="noStrike" cap="none">
                  <a:solidFill>
                    <a:schemeClr val="lt1"/>
                  </a:solidFill>
                </a:rPr>
                <a:t>.Conclusion et Perspectives</a:t>
              </a:r>
              <a:endParaRPr sz="1400" b="1" i="0" u="none" strike="noStrike" cap="none">
                <a:solidFill>
                  <a:schemeClr val="lt1"/>
                </a:solidFill>
              </a:endParaRPr>
            </a:p>
          </p:txBody>
        </p:sp>
      </p:grpSp>
      <p:sp>
        <p:nvSpPr>
          <p:cNvPr id="114" name="object 5"/>
          <p:cNvSpPr/>
          <p:nvPr/>
        </p:nvSpPr>
        <p:spPr>
          <a:xfrm>
            <a:off x="81293"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pic>
        <p:nvPicPr>
          <p:cNvPr id="7" name="Image 6">
            <a:extLst>
              <a:ext uri="{FF2B5EF4-FFF2-40B4-BE49-F238E27FC236}">
                <a16:creationId xmlns:a16="http://schemas.microsoft.com/office/drawing/2014/main" id="{1E2FB199-3DF5-4B1B-B8A1-F012B2124460}"/>
              </a:ext>
            </a:extLst>
          </p:cNvPr>
          <p:cNvPicPr>
            <a:picLocks noChangeAspect="1"/>
          </p:cNvPicPr>
          <p:nvPr/>
        </p:nvPicPr>
        <p:blipFill>
          <a:blip r:embed="rId3"/>
          <a:stretch>
            <a:fillRect/>
          </a:stretch>
        </p:blipFill>
        <p:spPr>
          <a:xfrm>
            <a:off x="8072682" y="1740832"/>
            <a:ext cx="1075836" cy="1239520"/>
          </a:xfrm>
          <a:prstGeom prst="rect">
            <a:avLst/>
          </a:prstGeom>
        </p:spPr>
      </p:pic>
      <p:pic>
        <p:nvPicPr>
          <p:cNvPr id="11" name="Image 10">
            <a:extLst>
              <a:ext uri="{FF2B5EF4-FFF2-40B4-BE49-F238E27FC236}">
                <a16:creationId xmlns:a16="http://schemas.microsoft.com/office/drawing/2014/main" id="{4E55741E-20D9-4A4A-B134-CB3FF95745CB}"/>
              </a:ext>
            </a:extLst>
          </p:cNvPr>
          <p:cNvPicPr>
            <a:picLocks noChangeAspect="1"/>
          </p:cNvPicPr>
          <p:nvPr/>
        </p:nvPicPr>
        <p:blipFill>
          <a:blip r:embed="rId4"/>
          <a:stretch>
            <a:fillRect/>
          </a:stretch>
        </p:blipFill>
        <p:spPr>
          <a:xfrm>
            <a:off x="980918" y="3514344"/>
            <a:ext cx="1865376" cy="1118616"/>
          </a:xfrm>
          <a:prstGeom prst="rect">
            <a:avLst/>
          </a:prstGeom>
        </p:spPr>
      </p:pic>
      <p:sp>
        <p:nvSpPr>
          <p:cNvPr id="12" name="ZoneTexte 11">
            <a:extLst>
              <a:ext uri="{FF2B5EF4-FFF2-40B4-BE49-F238E27FC236}">
                <a16:creationId xmlns:a16="http://schemas.microsoft.com/office/drawing/2014/main" id="{1B106778-538B-4861-AFB6-7035B8B44503}"/>
              </a:ext>
            </a:extLst>
          </p:cNvPr>
          <p:cNvSpPr txBox="1"/>
          <p:nvPr/>
        </p:nvSpPr>
        <p:spPr>
          <a:xfrm>
            <a:off x="785850" y="4784050"/>
            <a:ext cx="2322576" cy="738664"/>
          </a:xfrm>
          <a:prstGeom prst="rect">
            <a:avLst/>
          </a:prstGeom>
          <a:noFill/>
        </p:spPr>
        <p:txBody>
          <a:bodyPr wrap="square" rtlCol="0">
            <a:spAutoFit/>
          </a:bodyPr>
          <a:lstStyle/>
          <a:p>
            <a:r>
              <a:rPr lang="fr-FR" dirty="0"/>
              <a:t>Assurer un apport en eau adapté selon les besoins de chaque plante.</a:t>
            </a:r>
          </a:p>
        </p:txBody>
      </p:sp>
      <p:pic>
        <p:nvPicPr>
          <p:cNvPr id="14" name="Image 13">
            <a:extLst>
              <a:ext uri="{FF2B5EF4-FFF2-40B4-BE49-F238E27FC236}">
                <a16:creationId xmlns:a16="http://schemas.microsoft.com/office/drawing/2014/main" id="{E73A48FF-1A8F-449A-ADAD-72C1CDEAFEFD}"/>
              </a:ext>
            </a:extLst>
          </p:cNvPr>
          <p:cNvPicPr>
            <a:picLocks noChangeAspect="1"/>
          </p:cNvPicPr>
          <p:nvPr/>
        </p:nvPicPr>
        <p:blipFill>
          <a:blip r:embed="rId5"/>
          <a:stretch>
            <a:fillRect/>
          </a:stretch>
        </p:blipFill>
        <p:spPr>
          <a:xfrm>
            <a:off x="3694834" y="3493729"/>
            <a:ext cx="1865376" cy="1290975"/>
          </a:xfrm>
          <a:prstGeom prst="rect">
            <a:avLst/>
          </a:prstGeom>
        </p:spPr>
      </p:pic>
      <p:sp>
        <p:nvSpPr>
          <p:cNvPr id="15" name="ZoneTexte 14">
            <a:extLst>
              <a:ext uri="{FF2B5EF4-FFF2-40B4-BE49-F238E27FC236}">
                <a16:creationId xmlns:a16="http://schemas.microsoft.com/office/drawing/2014/main" id="{8D89E759-DC10-4CD2-B72B-609D373D2B1F}"/>
              </a:ext>
            </a:extLst>
          </p:cNvPr>
          <p:cNvSpPr txBox="1"/>
          <p:nvPr/>
        </p:nvSpPr>
        <p:spPr>
          <a:xfrm>
            <a:off x="3525520" y="4784050"/>
            <a:ext cx="2570480" cy="738664"/>
          </a:xfrm>
          <a:prstGeom prst="rect">
            <a:avLst/>
          </a:prstGeom>
          <a:noFill/>
        </p:spPr>
        <p:txBody>
          <a:bodyPr wrap="square" rtlCol="0">
            <a:spAutoFit/>
          </a:bodyPr>
          <a:lstStyle/>
          <a:p>
            <a:r>
              <a:rPr lang="fr-FR" dirty="0"/>
              <a:t>Surveiller le niveau d’humidité afin d’éviter le dessèchement ou l’excès en eau.</a:t>
            </a:r>
          </a:p>
        </p:txBody>
      </p:sp>
      <p:pic>
        <p:nvPicPr>
          <p:cNvPr id="21" name="Image 20">
            <a:extLst>
              <a:ext uri="{FF2B5EF4-FFF2-40B4-BE49-F238E27FC236}">
                <a16:creationId xmlns:a16="http://schemas.microsoft.com/office/drawing/2014/main" id="{E8E4EB19-6238-473B-8899-8CDC0180026A}"/>
              </a:ext>
            </a:extLst>
          </p:cNvPr>
          <p:cNvPicPr>
            <a:picLocks noChangeAspect="1"/>
          </p:cNvPicPr>
          <p:nvPr/>
        </p:nvPicPr>
        <p:blipFill>
          <a:blip r:embed="rId6"/>
          <a:stretch>
            <a:fillRect/>
          </a:stretch>
        </p:blipFill>
        <p:spPr>
          <a:xfrm>
            <a:off x="6792440" y="3482553"/>
            <a:ext cx="1536304" cy="1301497"/>
          </a:xfrm>
          <a:prstGeom prst="rect">
            <a:avLst/>
          </a:prstGeom>
        </p:spPr>
      </p:pic>
      <p:sp>
        <p:nvSpPr>
          <p:cNvPr id="22" name="ZoneTexte 21">
            <a:extLst>
              <a:ext uri="{FF2B5EF4-FFF2-40B4-BE49-F238E27FC236}">
                <a16:creationId xmlns:a16="http://schemas.microsoft.com/office/drawing/2014/main" id="{0B683B19-7B15-41F9-BA21-3F3EEEFB23E2}"/>
              </a:ext>
            </a:extLst>
          </p:cNvPr>
          <p:cNvSpPr txBox="1"/>
          <p:nvPr/>
        </p:nvSpPr>
        <p:spPr>
          <a:xfrm>
            <a:off x="6513094" y="4804370"/>
            <a:ext cx="2422680" cy="738664"/>
          </a:xfrm>
          <a:prstGeom prst="rect">
            <a:avLst/>
          </a:prstGeom>
          <a:noFill/>
        </p:spPr>
        <p:txBody>
          <a:bodyPr wrap="square" rtlCol="0">
            <a:spAutoFit/>
          </a:bodyPr>
          <a:lstStyle/>
          <a:p>
            <a:r>
              <a:rPr lang="fr-FR" dirty="0"/>
              <a:t>Maintenir une température adaptée aux besoins de la plante.</a:t>
            </a:r>
          </a:p>
        </p:txBody>
      </p:sp>
      <p:pic>
        <p:nvPicPr>
          <p:cNvPr id="26" name="Image 25">
            <a:extLst>
              <a:ext uri="{FF2B5EF4-FFF2-40B4-BE49-F238E27FC236}">
                <a16:creationId xmlns:a16="http://schemas.microsoft.com/office/drawing/2014/main" id="{35BD90EC-0E04-4FD9-96A3-ECD1DA21D709}"/>
              </a:ext>
            </a:extLst>
          </p:cNvPr>
          <p:cNvPicPr>
            <a:picLocks noChangeAspect="1"/>
          </p:cNvPicPr>
          <p:nvPr/>
        </p:nvPicPr>
        <p:blipFill>
          <a:blip r:embed="rId7"/>
          <a:stretch>
            <a:fillRect/>
          </a:stretch>
        </p:blipFill>
        <p:spPr>
          <a:xfrm>
            <a:off x="9769855" y="3392599"/>
            <a:ext cx="1270490" cy="1239520"/>
          </a:xfrm>
          <a:prstGeom prst="rect">
            <a:avLst/>
          </a:prstGeom>
        </p:spPr>
      </p:pic>
      <p:sp>
        <p:nvSpPr>
          <p:cNvPr id="27" name="ZoneTexte 26">
            <a:extLst>
              <a:ext uri="{FF2B5EF4-FFF2-40B4-BE49-F238E27FC236}">
                <a16:creationId xmlns:a16="http://schemas.microsoft.com/office/drawing/2014/main" id="{36E6E41A-5053-469E-9CC4-B1A985ACAE30}"/>
              </a:ext>
            </a:extLst>
          </p:cNvPr>
          <p:cNvSpPr txBox="1"/>
          <p:nvPr/>
        </p:nvSpPr>
        <p:spPr>
          <a:xfrm>
            <a:off x="9500668" y="4804370"/>
            <a:ext cx="2204720" cy="1169551"/>
          </a:xfrm>
          <a:prstGeom prst="rect">
            <a:avLst/>
          </a:prstGeom>
          <a:noFill/>
        </p:spPr>
        <p:txBody>
          <a:bodyPr wrap="square" rtlCol="0">
            <a:spAutoFit/>
          </a:bodyPr>
          <a:lstStyle/>
          <a:p>
            <a:r>
              <a:rPr lang="fr-FR" dirty="0"/>
              <a:t>Observer régulièrement l’état général de la plante afin de détecter d’éventuelles anomalies ou maladies.</a:t>
            </a:r>
          </a:p>
        </p:txBody>
      </p:sp>
      <p:sp>
        <p:nvSpPr>
          <p:cNvPr id="28" name="Espace réservé du numéro de diapositive 1">
            <a:extLst>
              <a:ext uri="{FF2B5EF4-FFF2-40B4-BE49-F238E27FC236}">
                <a16:creationId xmlns:a16="http://schemas.microsoft.com/office/drawing/2014/main" id="{B6841D0A-5B12-46FA-993F-33C6A9EBB1EE}"/>
              </a:ext>
            </a:extLst>
          </p:cNvPr>
          <p:cNvSpPr>
            <a:spLocks noGrp="1"/>
          </p:cNvSpPr>
          <p:nvPr>
            <p:ph type="sldNum" idx="12"/>
          </p:nvPr>
        </p:nvSpPr>
        <p:spPr>
          <a:xfrm>
            <a:off x="11531600" y="6325870"/>
            <a:ext cx="299720" cy="365125"/>
          </a:xfrm>
        </p:spPr>
        <p:txBody>
          <a:bodyPr/>
          <a:lstStyle/>
          <a:p>
            <a:pPr marL="0" lvl="0" indent="0" algn="r" rtl="0">
              <a:spcBef>
                <a:spcPts val="0"/>
              </a:spcBef>
              <a:spcAft>
                <a:spcPts val="0"/>
              </a:spcAft>
              <a:buNone/>
            </a:pPr>
            <a:r>
              <a:rPr lang="fr-FR" dirty="0"/>
              <a:t>3</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barn(inVertical)">
                                      <p:cBhvr>
                                        <p:cTn id="7" dur="500"/>
                                        <p:tgtEl>
                                          <p:spTgt spid="194"/>
                                        </p:tgtEl>
                                      </p:cBhvr>
                                    </p:animEffect>
                                  </p:childTnLst>
                                </p:cTn>
                              </p:par>
                              <p:par>
                                <p:cTn id="8" presetID="16" presetClass="entr" presetSubtype="21"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1000"/>
                                        <p:tgtEl>
                                          <p:spTgt spid="11"/>
                                        </p:tgtEl>
                                      </p:cBhvr>
                                    </p:animEffect>
                                    <p:anim calcmode="lin" valueType="num">
                                      <p:cBhvr>
                                        <p:cTn id="16" dur="1000" fill="hold"/>
                                        <p:tgtEl>
                                          <p:spTgt spid="11"/>
                                        </p:tgtEl>
                                        <p:attrNameLst>
                                          <p:attrName>ppt_x</p:attrName>
                                        </p:attrNameLst>
                                      </p:cBhvr>
                                      <p:tavLst>
                                        <p:tav tm="0">
                                          <p:val>
                                            <p:strVal val="#ppt_x"/>
                                          </p:val>
                                        </p:tav>
                                        <p:tav tm="100000">
                                          <p:val>
                                            <p:strVal val="#ppt_x"/>
                                          </p:val>
                                        </p:tav>
                                      </p:tavLst>
                                    </p:anim>
                                    <p:anim calcmode="lin" valueType="num">
                                      <p:cBhvr>
                                        <p:cTn id="17" dur="1000" fill="hold"/>
                                        <p:tgtEl>
                                          <p:spTgt spid="11"/>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000"/>
                                        <p:tgtEl>
                                          <p:spTgt spid="12"/>
                                        </p:tgtEl>
                                      </p:cBhvr>
                                    </p:animEffect>
                                    <p:anim calcmode="lin" valueType="num">
                                      <p:cBhvr>
                                        <p:cTn id="21" dur="1000" fill="hold"/>
                                        <p:tgtEl>
                                          <p:spTgt spid="12"/>
                                        </p:tgtEl>
                                        <p:attrNameLst>
                                          <p:attrName>ppt_x</p:attrName>
                                        </p:attrNameLst>
                                      </p:cBhvr>
                                      <p:tavLst>
                                        <p:tav tm="0">
                                          <p:val>
                                            <p:strVal val="#ppt_x"/>
                                          </p:val>
                                        </p:tav>
                                        <p:tav tm="100000">
                                          <p:val>
                                            <p:strVal val="#ppt_x"/>
                                          </p:val>
                                        </p:tav>
                                      </p:tavLst>
                                    </p:anim>
                                    <p:anim calcmode="lin" valueType="num">
                                      <p:cBhvr>
                                        <p:cTn id="2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anim calcmode="lin" valueType="num">
                                      <p:cBhvr>
                                        <p:cTn id="28" dur="1000" fill="hold"/>
                                        <p:tgtEl>
                                          <p:spTgt spid="14"/>
                                        </p:tgtEl>
                                        <p:attrNameLst>
                                          <p:attrName>ppt_x</p:attrName>
                                        </p:attrNameLst>
                                      </p:cBhvr>
                                      <p:tavLst>
                                        <p:tav tm="0">
                                          <p:val>
                                            <p:strVal val="#ppt_x"/>
                                          </p:val>
                                        </p:tav>
                                        <p:tav tm="100000">
                                          <p:val>
                                            <p:strVal val="#ppt_x"/>
                                          </p:val>
                                        </p:tav>
                                      </p:tavLst>
                                    </p:anim>
                                    <p:anim calcmode="lin" valueType="num">
                                      <p:cBhvr>
                                        <p:cTn id="29" dur="1000" fill="hold"/>
                                        <p:tgtEl>
                                          <p:spTgt spid="1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1000"/>
                                        <p:tgtEl>
                                          <p:spTgt spid="15"/>
                                        </p:tgtEl>
                                      </p:cBhvr>
                                    </p:animEffect>
                                    <p:anim calcmode="lin" valueType="num">
                                      <p:cBhvr>
                                        <p:cTn id="33" dur="1000" fill="hold"/>
                                        <p:tgtEl>
                                          <p:spTgt spid="15"/>
                                        </p:tgtEl>
                                        <p:attrNameLst>
                                          <p:attrName>ppt_x</p:attrName>
                                        </p:attrNameLst>
                                      </p:cBhvr>
                                      <p:tavLst>
                                        <p:tav tm="0">
                                          <p:val>
                                            <p:strVal val="#ppt_x"/>
                                          </p:val>
                                        </p:tav>
                                        <p:tav tm="100000">
                                          <p:val>
                                            <p:strVal val="#ppt_x"/>
                                          </p:val>
                                        </p:tav>
                                      </p:tavLst>
                                    </p:anim>
                                    <p:anim calcmode="lin" valueType="num">
                                      <p:cBhvr>
                                        <p:cTn id="3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000"/>
                                        <p:tgtEl>
                                          <p:spTgt spid="21"/>
                                        </p:tgtEl>
                                      </p:cBhvr>
                                    </p:animEffect>
                                    <p:anim calcmode="lin" valueType="num">
                                      <p:cBhvr>
                                        <p:cTn id="40" dur="1000" fill="hold"/>
                                        <p:tgtEl>
                                          <p:spTgt spid="21"/>
                                        </p:tgtEl>
                                        <p:attrNameLst>
                                          <p:attrName>ppt_x</p:attrName>
                                        </p:attrNameLst>
                                      </p:cBhvr>
                                      <p:tavLst>
                                        <p:tav tm="0">
                                          <p:val>
                                            <p:strVal val="#ppt_x"/>
                                          </p:val>
                                        </p:tav>
                                        <p:tav tm="100000">
                                          <p:val>
                                            <p:strVal val="#ppt_x"/>
                                          </p:val>
                                        </p:tav>
                                      </p:tavLst>
                                    </p:anim>
                                    <p:anim calcmode="lin" valueType="num">
                                      <p:cBhvr>
                                        <p:cTn id="41" dur="1000" fill="hold"/>
                                        <p:tgtEl>
                                          <p:spTgt spid="2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1000"/>
                                        <p:tgtEl>
                                          <p:spTgt spid="22"/>
                                        </p:tgtEl>
                                      </p:cBhvr>
                                    </p:animEffect>
                                    <p:anim calcmode="lin" valueType="num">
                                      <p:cBhvr>
                                        <p:cTn id="45" dur="1000" fill="hold"/>
                                        <p:tgtEl>
                                          <p:spTgt spid="22"/>
                                        </p:tgtEl>
                                        <p:attrNameLst>
                                          <p:attrName>ppt_x</p:attrName>
                                        </p:attrNameLst>
                                      </p:cBhvr>
                                      <p:tavLst>
                                        <p:tav tm="0">
                                          <p:val>
                                            <p:strVal val="#ppt_x"/>
                                          </p:val>
                                        </p:tav>
                                        <p:tav tm="100000">
                                          <p:val>
                                            <p:strVal val="#ppt_x"/>
                                          </p:val>
                                        </p:tav>
                                      </p:tavLst>
                                    </p:anim>
                                    <p:anim calcmode="lin" valueType="num">
                                      <p:cBhvr>
                                        <p:cTn id="4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1000"/>
                                        <p:tgtEl>
                                          <p:spTgt spid="26"/>
                                        </p:tgtEl>
                                      </p:cBhvr>
                                    </p:animEffect>
                                    <p:anim calcmode="lin" valueType="num">
                                      <p:cBhvr>
                                        <p:cTn id="52" dur="1000" fill="hold"/>
                                        <p:tgtEl>
                                          <p:spTgt spid="26"/>
                                        </p:tgtEl>
                                        <p:attrNameLst>
                                          <p:attrName>ppt_x</p:attrName>
                                        </p:attrNameLst>
                                      </p:cBhvr>
                                      <p:tavLst>
                                        <p:tav tm="0">
                                          <p:val>
                                            <p:strVal val="#ppt_x"/>
                                          </p:val>
                                        </p:tav>
                                        <p:tav tm="100000">
                                          <p:val>
                                            <p:strVal val="#ppt_x"/>
                                          </p:val>
                                        </p:tav>
                                      </p:tavLst>
                                    </p:anim>
                                    <p:anim calcmode="lin" valueType="num">
                                      <p:cBhvr>
                                        <p:cTn id="53" dur="1000" fill="hold"/>
                                        <p:tgtEl>
                                          <p:spTgt spid="26"/>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1000"/>
                                        <p:tgtEl>
                                          <p:spTgt spid="27"/>
                                        </p:tgtEl>
                                      </p:cBhvr>
                                    </p:animEffect>
                                    <p:anim calcmode="lin" valueType="num">
                                      <p:cBhvr>
                                        <p:cTn id="57" dur="1000" fill="hold"/>
                                        <p:tgtEl>
                                          <p:spTgt spid="27"/>
                                        </p:tgtEl>
                                        <p:attrNameLst>
                                          <p:attrName>ppt_x</p:attrName>
                                        </p:attrNameLst>
                                      </p:cBhvr>
                                      <p:tavLst>
                                        <p:tav tm="0">
                                          <p:val>
                                            <p:strVal val="#ppt_x"/>
                                          </p:val>
                                        </p:tav>
                                        <p:tav tm="100000">
                                          <p:val>
                                            <p:strVal val="#ppt_x"/>
                                          </p:val>
                                        </p:tav>
                                      </p:tavLst>
                                    </p:anim>
                                    <p:anim calcmode="lin" valueType="num">
                                      <p:cBhvr>
                                        <p:cTn id="58"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p:bldP spid="12" grpId="0"/>
      <p:bldP spid="15" grpId="0"/>
      <p:bldP spid="22" grpId="0"/>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27"/>
          <p:cNvSpPr/>
          <p:nvPr/>
        </p:nvSpPr>
        <p:spPr>
          <a:xfrm rot="18590841">
            <a:off x="3822557" y="1260952"/>
            <a:ext cx="5245101" cy="5245101"/>
          </a:xfrm>
          <a:prstGeom prst="ellipse">
            <a:avLst/>
          </a:prstGeom>
          <a:gradFill flip="none" rotWithShape="1">
            <a:gsLst>
              <a:gs pos="0">
                <a:srgbClr val="D0D5D9"/>
              </a:gs>
              <a:gs pos="100000">
                <a:srgbClr val="FFFFFF"/>
              </a:gs>
            </a:gsLst>
            <a:lin ang="2700000" scaled="1"/>
            <a:tileRect/>
          </a:gradFill>
          <a:ln>
            <a:solidFill>
              <a:schemeClr val="bg1"/>
            </a:solidFill>
          </a:ln>
          <a:effectLst>
            <a:outerShdw blurRad="558800" dist="38100" dir="2700000" sx="103000" sy="103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Partial Circle 29"/>
          <p:cNvSpPr/>
          <p:nvPr/>
        </p:nvSpPr>
        <p:spPr>
          <a:xfrm rot="3741366">
            <a:off x="3608446" y="924868"/>
            <a:ext cx="5835492" cy="5835492"/>
          </a:xfrm>
          <a:prstGeom prst="pie">
            <a:avLst>
              <a:gd name="adj1" fmla="val 5283198"/>
              <a:gd name="adj2" fmla="val 8662092"/>
            </a:avLst>
          </a:prstGeom>
          <a:solidFill>
            <a:schemeClr val="accent2">
              <a:lumMod val="60000"/>
              <a:lumOff val="40000"/>
            </a:schemeClr>
          </a:solidFill>
          <a:ln>
            <a:noFill/>
          </a:ln>
          <a:effectLst>
            <a:outerShdw blurRad="317500" dist="38100" dir="8100000" algn="tr" rotWithShape="0">
              <a:schemeClr val="tx1">
                <a:lumMod val="85000"/>
                <a:lumOff val="1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9" name="Partial Circle 29"/>
          <p:cNvSpPr/>
          <p:nvPr/>
        </p:nvSpPr>
        <p:spPr>
          <a:xfrm>
            <a:off x="3547962" y="930479"/>
            <a:ext cx="5835492" cy="5835492"/>
          </a:xfrm>
          <a:prstGeom prst="pie">
            <a:avLst>
              <a:gd name="adj1" fmla="val 1666455"/>
              <a:gd name="adj2" fmla="val 5418988"/>
            </a:avLst>
          </a:prstGeom>
          <a:solidFill>
            <a:schemeClr val="bg1">
              <a:lumMod val="7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10" name="Partial Circle 26"/>
          <p:cNvSpPr/>
          <p:nvPr/>
        </p:nvSpPr>
        <p:spPr>
          <a:xfrm>
            <a:off x="3547962" y="1000021"/>
            <a:ext cx="5835492" cy="5835492"/>
          </a:xfrm>
          <a:prstGeom prst="pie">
            <a:avLst>
              <a:gd name="adj1" fmla="val 19207856"/>
              <a:gd name="adj2" fmla="val 1789850"/>
            </a:avLst>
          </a:prstGeom>
          <a:solidFill>
            <a:schemeClr val="accent1">
              <a:lumMod val="60000"/>
              <a:lumOff val="40000"/>
            </a:schemeClr>
          </a:solidFill>
          <a:ln>
            <a:noFill/>
          </a:ln>
          <a:effectLst>
            <a:outerShdw blurRad="254000" dist="38100" dir="5400000" sx="103000" sy="103000" algn="t"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solidFill>
                <a:schemeClr val="tx1"/>
              </a:solidFill>
            </a:endParaRPr>
          </a:p>
        </p:txBody>
      </p:sp>
      <p:sp>
        <p:nvSpPr>
          <p:cNvPr id="12" name="TextBox 53"/>
          <p:cNvSpPr txBox="1"/>
          <p:nvPr/>
        </p:nvSpPr>
        <p:spPr>
          <a:xfrm>
            <a:off x="7583363" y="2985688"/>
            <a:ext cx="1800091" cy="1384995"/>
          </a:xfrm>
          <a:prstGeom prst="rect">
            <a:avLst/>
          </a:prstGeom>
          <a:noFill/>
        </p:spPr>
        <p:txBody>
          <a:bodyPr wrap="square" rtlCol="0">
            <a:spAutoFit/>
          </a:bodyPr>
          <a:lstStyle/>
          <a:p>
            <a:r>
              <a:rPr lang="fr-FR" b="1" dirty="0">
                <a:solidFill>
                  <a:schemeClr val="bg1"/>
                </a:solidFill>
              </a:rPr>
              <a:t>Absence</a:t>
            </a:r>
            <a:r>
              <a:rPr lang="fr-FR" sz="1400" b="1" dirty="0">
                <a:solidFill>
                  <a:schemeClr val="bg1"/>
                </a:solidFill>
              </a:rPr>
              <a:t> de solutions intelligentes en Tunisie dédiés à la gestion et au suivi des plantes. </a:t>
            </a:r>
          </a:p>
        </p:txBody>
      </p:sp>
      <p:sp>
        <p:nvSpPr>
          <p:cNvPr id="13" name="TextBox 54"/>
          <p:cNvSpPr txBox="1"/>
          <p:nvPr/>
        </p:nvSpPr>
        <p:spPr>
          <a:xfrm>
            <a:off x="6521746" y="5059403"/>
            <a:ext cx="1587921" cy="1384995"/>
          </a:xfrm>
          <a:prstGeom prst="rect">
            <a:avLst/>
          </a:prstGeom>
          <a:noFill/>
        </p:spPr>
        <p:txBody>
          <a:bodyPr wrap="square" rtlCol="0">
            <a:spAutoFit/>
          </a:bodyPr>
          <a:lstStyle/>
          <a:p>
            <a:r>
              <a:rPr lang="fr-FR" b="1" dirty="0">
                <a:solidFill>
                  <a:schemeClr val="bg1"/>
                </a:solidFill>
              </a:rPr>
              <a:t>Manque de connaissances techniques liées à la gestion et à l’entretien des plantes.</a:t>
            </a:r>
            <a:endParaRPr lang="fr-FR" sz="1400" dirty="0">
              <a:solidFill>
                <a:schemeClr val="bg1"/>
              </a:solidFill>
            </a:endParaRPr>
          </a:p>
        </p:txBody>
      </p:sp>
      <p:sp>
        <p:nvSpPr>
          <p:cNvPr id="14" name="TextBox 54"/>
          <p:cNvSpPr txBox="1"/>
          <p:nvPr/>
        </p:nvSpPr>
        <p:spPr>
          <a:xfrm>
            <a:off x="3638186" y="3365561"/>
            <a:ext cx="1691269" cy="1169551"/>
          </a:xfrm>
          <a:prstGeom prst="rect">
            <a:avLst/>
          </a:prstGeom>
          <a:noFill/>
        </p:spPr>
        <p:txBody>
          <a:bodyPr wrap="square" rtlCol="0">
            <a:spAutoFit/>
          </a:bodyPr>
          <a:lstStyle/>
          <a:p>
            <a:pPr lvl="0">
              <a:buSzPts val="1400"/>
            </a:pPr>
            <a:r>
              <a:rPr lang="fr-FR" b="1" dirty="0">
                <a:solidFill>
                  <a:schemeClr val="bg1"/>
                </a:solidFill>
              </a:rPr>
              <a:t>Gaspillage des ressources hydriques dû à une irrigation non optimisé. </a:t>
            </a:r>
          </a:p>
        </p:txBody>
      </p:sp>
      <p:sp>
        <p:nvSpPr>
          <p:cNvPr id="15" name="Partial Circle 29"/>
          <p:cNvSpPr/>
          <p:nvPr/>
        </p:nvSpPr>
        <p:spPr>
          <a:xfrm rot="10800000">
            <a:off x="3604000" y="946354"/>
            <a:ext cx="5835492" cy="5835492"/>
          </a:xfrm>
          <a:prstGeom prst="pie">
            <a:avLst>
              <a:gd name="adj1" fmla="val 1666455"/>
              <a:gd name="adj2" fmla="val 5394915"/>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Oval 31"/>
          <p:cNvSpPr/>
          <p:nvPr/>
        </p:nvSpPr>
        <p:spPr>
          <a:xfrm>
            <a:off x="5857908" y="3241393"/>
            <a:ext cx="1209122" cy="1209122"/>
          </a:xfrm>
          <a:prstGeom prst="ellipse">
            <a:avLst/>
          </a:prstGeom>
          <a:gradFill flip="none" rotWithShape="1">
            <a:gsLst>
              <a:gs pos="0">
                <a:srgbClr val="D0D5D9"/>
              </a:gs>
              <a:gs pos="100000">
                <a:srgbClr val="FFFFFF"/>
              </a:gs>
            </a:gsLst>
            <a:lin ang="2700000" scaled="1"/>
            <a:tileRect/>
          </a:gradFill>
          <a:ln>
            <a:solidFill>
              <a:schemeClr val="bg1"/>
            </a:solidFill>
          </a:ln>
          <a:effectLst>
            <a:outerShdw blurRad="330200" dist="38100" dir="2700000" sx="103000" sy="103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54"/>
          <p:cNvSpPr txBox="1"/>
          <p:nvPr/>
        </p:nvSpPr>
        <p:spPr>
          <a:xfrm>
            <a:off x="4693894" y="1590334"/>
            <a:ext cx="1691269" cy="1384995"/>
          </a:xfrm>
          <a:prstGeom prst="rect">
            <a:avLst/>
          </a:prstGeom>
          <a:noFill/>
        </p:spPr>
        <p:txBody>
          <a:bodyPr wrap="square" rtlCol="0">
            <a:spAutoFit/>
          </a:bodyPr>
          <a:lstStyle/>
          <a:p>
            <a:r>
              <a:rPr lang="fr-FR" b="1" dirty="0">
                <a:solidFill>
                  <a:schemeClr val="bg1"/>
                </a:solidFill>
              </a:rPr>
              <a:t>Difficulté de gestion et de suivi des plantes face aux changements climatiques.</a:t>
            </a:r>
            <a:endParaRPr lang="fr-FR" sz="1400" b="1" dirty="0">
              <a:solidFill>
                <a:schemeClr val="bg1"/>
              </a:solidFill>
            </a:endParaRPr>
          </a:p>
        </p:txBody>
      </p:sp>
      <p:pic>
        <p:nvPicPr>
          <p:cNvPr id="19" name="Picture 5" descr="C:\Users\mohamed ben samir\Downloads\like.png"/>
          <p:cNvPicPr>
            <a:picLocks noChangeAspect="1" noChangeArrowheads="1"/>
          </p:cNvPicPr>
          <p:nvPr/>
        </p:nvPicPr>
        <p:blipFill>
          <a:blip r:embed="rId3"/>
          <a:srcRect/>
          <a:stretch>
            <a:fillRect/>
          </a:stretch>
        </p:blipFill>
        <p:spPr bwMode="auto">
          <a:xfrm>
            <a:off x="10226418" y="4115176"/>
            <a:ext cx="325148" cy="325148"/>
          </a:xfrm>
          <a:prstGeom prst="rect">
            <a:avLst/>
          </a:prstGeom>
          <a:noFill/>
        </p:spPr>
      </p:pic>
      <p:sp>
        <p:nvSpPr>
          <p:cNvPr id="37" name="Google Shape;247;p19"/>
          <p:cNvSpPr txBox="1"/>
          <p:nvPr/>
        </p:nvSpPr>
        <p:spPr>
          <a:xfrm>
            <a:off x="191350" y="1002325"/>
            <a:ext cx="8476800" cy="601545"/>
          </a:xfrm>
          <a:prstGeom prst="rect">
            <a:avLst/>
          </a:prstGeom>
          <a:noFill/>
          <a:ln>
            <a:noFill/>
          </a:ln>
        </p:spPr>
        <p:txBody>
          <a:bodyPr spcFirstLastPara="1" wrap="square" lIns="91425" tIns="91425" rIns="91425" bIns="91425" anchor="t" anchorCtr="0">
            <a:spAutoFit/>
          </a:bodyPr>
          <a:lstStyle/>
          <a:p>
            <a:pPr marL="101600" lvl="0" algn="l" rtl="0">
              <a:lnSpc>
                <a:spcPct val="128571"/>
              </a:lnSpc>
              <a:spcBef>
                <a:spcPts val="0"/>
              </a:spcBef>
              <a:spcAft>
                <a:spcPts val="0"/>
              </a:spcAft>
              <a:buClr>
                <a:schemeClr val="accent2"/>
              </a:buClr>
              <a:buSzPts val="2000"/>
            </a:pPr>
            <a:r>
              <a:rPr lang="fr-FR" sz="2100" b="1" dirty="0">
                <a:solidFill>
                  <a:schemeClr val="accent6">
                    <a:lumMod val="60000"/>
                    <a:lumOff val="40000"/>
                  </a:schemeClr>
                </a:solidFill>
                <a:highlight>
                  <a:srgbClr val="FFFFFF"/>
                </a:highlight>
              </a:rPr>
              <a:t>Problématique</a:t>
            </a:r>
            <a:endParaRPr b="1" dirty="0">
              <a:solidFill>
                <a:schemeClr val="accent6">
                  <a:lumMod val="60000"/>
                  <a:lumOff val="40000"/>
                </a:schemeClr>
              </a:solidFill>
              <a:latin typeface="Calibri"/>
              <a:ea typeface="Calibri"/>
              <a:cs typeface="Calibri"/>
              <a:sym typeface="Calibri"/>
            </a:endParaRPr>
          </a:p>
        </p:txBody>
      </p:sp>
      <p:sp>
        <p:nvSpPr>
          <p:cNvPr id="39" name="ZoneTexte 38"/>
          <p:cNvSpPr txBox="1"/>
          <p:nvPr/>
        </p:nvSpPr>
        <p:spPr>
          <a:xfrm>
            <a:off x="323336" y="2546576"/>
            <a:ext cx="3017520" cy="584775"/>
          </a:xfrm>
          <a:prstGeom prst="rect">
            <a:avLst/>
          </a:prstGeom>
          <a:noFill/>
        </p:spPr>
        <p:txBody>
          <a:bodyPr wrap="square" rtlCol="0">
            <a:spAutoFit/>
          </a:bodyPr>
          <a:lstStyle/>
          <a:p>
            <a:pPr algn="ctr"/>
            <a:r>
              <a:rPr lang="fr-FR" sz="1600" b="1" dirty="0"/>
              <a:t>Processus de gestion et de suivi manuel ! </a:t>
            </a:r>
          </a:p>
        </p:txBody>
      </p:sp>
      <p:grpSp>
        <p:nvGrpSpPr>
          <p:cNvPr id="51" name="Google Shape;248;p19"/>
          <p:cNvGrpSpPr/>
          <p:nvPr/>
        </p:nvGrpSpPr>
        <p:grpSpPr>
          <a:xfrm>
            <a:off x="78370" y="259301"/>
            <a:ext cx="10365904" cy="650938"/>
            <a:chOff x="-43152" y="-19950"/>
            <a:chExt cx="10076703" cy="650938"/>
          </a:xfrm>
        </p:grpSpPr>
        <p:sp>
          <p:nvSpPr>
            <p:cNvPr id="52" name="Google Shape;250;p19"/>
            <p:cNvSpPr txBox="1"/>
            <p:nvPr/>
          </p:nvSpPr>
          <p:spPr>
            <a:xfrm>
              <a:off x="-43152" y="6652"/>
              <a:ext cx="2167800" cy="584700"/>
            </a:xfrm>
            <a:prstGeom prst="rect">
              <a:avLst/>
            </a:prstGeom>
            <a:solidFill>
              <a:schemeClr val="accent6">
                <a:lumMod val="60000"/>
                <a:lumOff val="40000"/>
              </a:schemeClr>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53" name="Google Shape;251;p19"/>
            <p:cNvSpPr/>
            <p:nvPr/>
          </p:nvSpPr>
          <p:spPr>
            <a:xfrm>
              <a:off x="1778963" y="0"/>
              <a:ext cx="26382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dirty="0">
                <a:solidFill>
                  <a:schemeClr val="lt1"/>
                </a:solidFill>
              </a:endParaRPr>
            </a:p>
          </p:txBody>
        </p:sp>
        <p:sp>
          <p:nvSpPr>
            <p:cNvPr id="54" name="Google Shape;252;p19"/>
            <p:cNvSpPr txBox="1"/>
            <p:nvPr/>
          </p:nvSpPr>
          <p:spPr>
            <a:xfrm>
              <a:off x="2071350" y="0"/>
              <a:ext cx="2053500" cy="584700"/>
            </a:xfrm>
            <a:prstGeom prst="rect">
              <a:avLst/>
            </a:prstGeom>
            <a:no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55" name="Google Shape;253;p19"/>
            <p:cNvSpPr/>
            <p:nvPr/>
          </p:nvSpPr>
          <p:spPr>
            <a:xfrm>
              <a:off x="4023490" y="0"/>
              <a:ext cx="19680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56" name="Google Shape;254;p19"/>
            <p:cNvSpPr txBox="1"/>
            <p:nvPr/>
          </p:nvSpPr>
          <p:spPr>
            <a:xfrm>
              <a:off x="4261955" y="0"/>
              <a:ext cx="14373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3.Conception</a:t>
              </a:r>
              <a:endParaRPr sz="1400" b="1" i="0" u="none" strike="noStrike" cap="none">
                <a:solidFill>
                  <a:schemeClr val="lt1"/>
                </a:solidFill>
              </a:endParaRPr>
            </a:p>
          </p:txBody>
        </p:sp>
        <p:sp>
          <p:nvSpPr>
            <p:cNvPr id="57"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58" name="Google Shape;256;p19"/>
            <p:cNvSpPr txBox="1"/>
            <p:nvPr/>
          </p:nvSpPr>
          <p:spPr>
            <a:xfrm>
              <a:off x="5872496" y="-19950"/>
              <a:ext cx="18417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59"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60"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5</a:t>
              </a:r>
              <a:r>
                <a:rPr lang="fr-FR" sz="1700" b="1" i="0" u="none" strike="noStrike" cap="none">
                  <a:solidFill>
                    <a:schemeClr val="lt1"/>
                  </a:solidFill>
                </a:rPr>
                <a:t>.Conclusion et Perspectives</a:t>
              </a:r>
              <a:endParaRPr sz="1400" b="1" i="0" u="none" strike="noStrike" cap="none">
                <a:solidFill>
                  <a:schemeClr val="lt1"/>
                </a:solidFill>
              </a:endParaRPr>
            </a:p>
          </p:txBody>
        </p:sp>
      </p:grpSp>
      <p:sp>
        <p:nvSpPr>
          <p:cNvPr id="61" name="object 5"/>
          <p:cNvSpPr/>
          <p:nvPr/>
        </p:nvSpPr>
        <p:spPr>
          <a:xfrm>
            <a:off x="78370" y="76154"/>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pic>
        <p:nvPicPr>
          <p:cNvPr id="4" name="Image 3">
            <a:extLst>
              <a:ext uri="{FF2B5EF4-FFF2-40B4-BE49-F238E27FC236}">
                <a16:creationId xmlns:a16="http://schemas.microsoft.com/office/drawing/2014/main" id="{2F6B5611-B33D-49F5-8102-3ABA234A8391}"/>
              </a:ext>
            </a:extLst>
          </p:cNvPr>
          <p:cNvPicPr>
            <a:picLocks noChangeAspect="1"/>
          </p:cNvPicPr>
          <p:nvPr/>
        </p:nvPicPr>
        <p:blipFill>
          <a:blip r:embed="rId4"/>
          <a:stretch>
            <a:fillRect/>
          </a:stretch>
        </p:blipFill>
        <p:spPr>
          <a:xfrm>
            <a:off x="686660" y="3345062"/>
            <a:ext cx="2301145" cy="2649338"/>
          </a:xfrm>
          <a:prstGeom prst="rect">
            <a:avLst/>
          </a:prstGeom>
        </p:spPr>
      </p:pic>
      <p:sp>
        <p:nvSpPr>
          <p:cNvPr id="28" name="Espace réservé du numéro de diapositive 1">
            <a:extLst>
              <a:ext uri="{FF2B5EF4-FFF2-40B4-BE49-F238E27FC236}">
                <a16:creationId xmlns:a16="http://schemas.microsoft.com/office/drawing/2014/main" id="{8E5204E8-0DB5-4428-8664-19EF7F629CB7}"/>
              </a:ext>
            </a:extLst>
          </p:cNvPr>
          <p:cNvSpPr>
            <a:spLocks noGrp="1"/>
          </p:cNvSpPr>
          <p:nvPr>
            <p:ph type="sldNum" idx="12"/>
          </p:nvPr>
        </p:nvSpPr>
        <p:spPr>
          <a:xfrm>
            <a:off x="11531600" y="6325870"/>
            <a:ext cx="299720" cy="365125"/>
          </a:xfrm>
        </p:spPr>
        <p:txBody>
          <a:bodyPr/>
          <a:lstStyle/>
          <a:p>
            <a:pPr marL="0" lvl="0" indent="0" algn="r" rtl="0">
              <a:spcBef>
                <a:spcPts val="0"/>
              </a:spcBef>
              <a:spcAft>
                <a:spcPts val="0"/>
              </a:spcAft>
              <a:buNone/>
            </a:pPr>
            <a:r>
              <a:rPr lang="fr-FR" dirty="0"/>
              <a:t>4</a:t>
            </a:r>
          </a:p>
        </p:txBody>
      </p:sp>
    </p:spTree>
    <p:extLst>
      <p:ext uri="{BB962C8B-B14F-4D97-AF65-F5344CB8AC3E}">
        <p14:creationId xmlns:p14="http://schemas.microsoft.com/office/powerpoint/2010/main" val="1870516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heel(1)">
                                      <p:cBhvr>
                                        <p:cTn id="15" dur="10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heel(1)">
                                      <p:cBhvr>
                                        <p:cTn id="20" dur="10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1000" fill="hold"/>
                                        <p:tgtEl>
                                          <p:spTgt spid="10"/>
                                        </p:tgtEl>
                                        <p:attrNameLst>
                                          <p:attrName>ppt_w</p:attrName>
                                        </p:attrNameLst>
                                      </p:cBhvr>
                                      <p:tavLst>
                                        <p:tav tm="0">
                                          <p:val>
                                            <p:strVal val="#ppt_w*0.70"/>
                                          </p:val>
                                        </p:tav>
                                        <p:tav tm="100000">
                                          <p:val>
                                            <p:strVal val="#ppt_w"/>
                                          </p:val>
                                        </p:tav>
                                      </p:tavLst>
                                    </p:anim>
                                    <p:anim calcmode="lin" valueType="num">
                                      <p:cBhvr>
                                        <p:cTn id="26" dur="1000" fill="hold"/>
                                        <p:tgtEl>
                                          <p:spTgt spid="10"/>
                                        </p:tgtEl>
                                        <p:attrNameLst>
                                          <p:attrName>ppt_h</p:attrName>
                                        </p:attrNameLst>
                                      </p:cBhvr>
                                      <p:tavLst>
                                        <p:tav tm="0">
                                          <p:val>
                                            <p:strVal val="#ppt_h"/>
                                          </p:val>
                                        </p:tav>
                                        <p:tav tm="100000">
                                          <p:val>
                                            <p:strVal val="#ppt_h"/>
                                          </p:val>
                                        </p:tav>
                                      </p:tavLst>
                                    </p:anim>
                                    <p:animEffect transition="in" filter="fade">
                                      <p:cBhvr>
                                        <p:cTn id="27" dur="1000"/>
                                        <p:tgtEl>
                                          <p:spTgt spid="10"/>
                                        </p:tgtEl>
                                      </p:cBhvr>
                                    </p:animEffect>
                                  </p:childTnLst>
                                </p:cTn>
                              </p:par>
                              <p:par>
                                <p:cTn id="28" presetID="55"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p:cTn id="30" dur="1000" fill="hold"/>
                                        <p:tgtEl>
                                          <p:spTgt spid="12"/>
                                        </p:tgtEl>
                                        <p:attrNameLst>
                                          <p:attrName>ppt_w</p:attrName>
                                        </p:attrNameLst>
                                      </p:cBhvr>
                                      <p:tavLst>
                                        <p:tav tm="0">
                                          <p:val>
                                            <p:strVal val="#ppt_w*0.70"/>
                                          </p:val>
                                        </p:tav>
                                        <p:tav tm="100000">
                                          <p:val>
                                            <p:strVal val="#ppt_w"/>
                                          </p:val>
                                        </p:tav>
                                      </p:tavLst>
                                    </p:anim>
                                    <p:anim calcmode="lin" valueType="num">
                                      <p:cBhvr>
                                        <p:cTn id="31" dur="1000" fill="hold"/>
                                        <p:tgtEl>
                                          <p:spTgt spid="12"/>
                                        </p:tgtEl>
                                        <p:attrNameLst>
                                          <p:attrName>ppt_h</p:attrName>
                                        </p:attrNameLst>
                                      </p:cBhvr>
                                      <p:tavLst>
                                        <p:tav tm="0">
                                          <p:val>
                                            <p:strVal val="#ppt_h"/>
                                          </p:val>
                                        </p:tav>
                                        <p:tav tm="100000">
                                          <p:val>
                                            <p:strVal val="#ppt_h"/>
                                          </p:val>
                                        </p:tav>
                                      </p:tavLst>
                                    </p:anim>
                                    <p:animEffect transition="in" filter="fade">
                                      <p:cBhvr>
                                        <p:cTn id="32" dur="10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55"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1000" fill="hold"/>
                                        <p:tgtEl>
                                          <p:spTgt spid="15"/>
                                        </p:tgtEl>
                                        <p:attrNameLst>
                                          <p:attrName>ppt_w</p:attrName>
                                        </p:attrNameLst>
                                      </p:cBhvr>
                                      <p:tavLst>
                                        <p:tav tm="0">
                                          <p:val>
                                            <p:strVal val="#ppt_w*0.70"/>
                                          </p:val>
                                        </p:tav>
                                        <p:tav tm="100000">
                                          <p:val>
                                            <p:strVal val="#ppt_w"/>
                                          </p:val>
                                        </p:tav>
                                      </p:tavLst>
                                    </p:anim>
                                    <p:anim calcmode="lin" valueType="num">
                                      <p:cBhvr>
                                        <p:cTn id="38" dur="1000" fill="hold"/>
                                        <p:tgtEl>
                                          <p:spTgt spid="15"/>
                                        </p:tgtEl>
                                        <p:attrNameLst>
                                          <p:attrName>ppt_h</p:attrName>
                                        </p:attrNameLst>
                                      </p:cBhvr>
                                      <p:tavLst>
                                        <p:tav tm="0">
                                          <p:val>
                                            <p:strVal val="#ppt_h"/>
                                          </p:val>
                                        </p:tav>
                                        <p:tav tm="100000">
                                          <p:val>
                                            <p:strVal val="#ppt_h"/>
                                          </p:val>
                                        </p:tav>
                                      </p:tavLst>
                                    </p:anim>
                                    <p:animEffect transition="in" filter="fade">
                                      <p:cBhvr>
                                        <p:cTn id="39" dur="1000"/>
                                        <p:tgtEl>
                                          <p:spTgt spid="15"/>
                                        </p:tgtEl>
                                      </p:cBhvr>
                                    </p:animEffect>
                                  </p:childTnLst>
                                </p:cTn>
                              </p:par>
                              <p:par>
                                <p:cTn id="40" presetID="55"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 calcmode="lin" valueType="num">
                                      <p:cBhvr>
                                        <p:cTn id="42" dur="1000" fill="hold"/>
                                        <p:tgtEl>
                                          <p:spTgt spid="17"/>
                                        </p:tgtEl>
                                        <p:attrNameLst>
                                          <p:attrName>ppt_w</p:attrName>
                                        </p:attrNameLst>
                                      </p:cBhvr>
                                      <p:tavLst>
                                        <p:tav tm="0">
                                          <p:val>
                                            <p:strVal val="#ppt_w*0.70"/>
                                          </p:val>
                                        </p:tav>
                                        <p:tav tm="100000">
                                          <p:val>
                                            <p:strVal val="#ppt_w"/>
                                          </p:val>
                                        </p:tav>
                                      </p:tavLst>
                                    </p:anim>
                                    <p:anim calcmode="lin" valueType="num">
                                      <p:cBhvr>
                                        <p:cTn id="43" dur="1000" fill="hold"/>
                                        <p:tgtEl>
                                          <p:spTgt spid="17"/>
                                        </p:tgtEl>
                                        <p:attrNameLst>
                                          <p:attrName>ppt_h</p:attrName>
                                        </p:attrNameLst>
                                      </p:cBhvr>
                                      <p:tavLst>
                                        <p:tav tm="0">
                                          <p:val>
                                            <p:strVal val="#ppt_h"/>
                                          </p:val>
                                        </p:tav>
                                        <p:tav tm="100000">
                                          <p:val>
                                            <p:strVal val="#ppt_h"/>
                                          </p:val>
                                        </p:tav>
                                      </p:tavLst>
                                    </p:anim>
                                    <p:animEffect transition="in" filter="fade">
                                      <p:cBhvr>
                                        <p:cTn id="44" dur="10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55" presetClass="entr" presetSubtype="0"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p:cTn id="49" dur="1000" fill="hold"/>
                                        <p:tgtEl>
                                          <p:spTgt spid="8"/>
                                        </p:tgtEl>
                                        <p:attrNameLst>
                                          <p:attrName>ppt_w</p:attrName>
                                        </p:attrNameLst>
                                      </p:cBhvr>
                                      <p:tavLst>
                                        <p:tav tm="0">
                                          <p:val>
                                            <p:strVal val="#ppt_w*0.70"/>
                                          </p:val>
                                        </p:tav>
                                        <p:tav tm="100000">
                                          <p:val>
                                            <p:strVal val="#ppt_w"/>
                                          </p:val>
                                        </p:tav>
                                      </p:tavLst>
                                    </p:anim>
                                    <p:anim calcmode="lin" valueType="num">
                                      <p:cBhvr>
                                        <p:cTn id="50" dur="1000" fill="hold"/>
                                        <p:tgtEl>
                                          <p:spTgt spid="8"/>
                                        </p:tgtEl>
                                        <p:attrNameLst>
                                          <p:attrName>ppt_h</p:attrName>
                                        </p:attrNameLst>
                                      </p:cBhvr>
                                      <p:tavLst>
                                        <p:tav tm="0">
                                          <p:val>
                                            <p:strVal val="#ppt_h"/>
                                          </p:val>
                                        </p:tav>
                                        <p:tav tm="100000">
                                          <p:val>
                                            <p:strVal val="#ppt_h"/>
                                          </p:val>
                                        </p:tav>
                                      </p:tavLst>
                                    </p:anim>
                                    <p:animEffect transition="in" filter="fade">
                                      <p:cBhvr>
                                        <p:cTn id="51" dur="1000"/>
                                        <p:tgtEl>
                                          <p:spTgt spid="8"/>
                                        </p:tgtEl>
                                      </p:cBhvr>
                                    </p:animEffect>
                                  </p:childTnLst>
                                </p:cTn>
                              </p:par>
                              <p:par>
                                <p:cTn id="52" presetID="55"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p:cTn id="54" dur="1000" fill="hold"/>
                                        <p:tgtEl>
                                          <p:spTgt spid="14"/>
                                        </p:tgtEl>
                                        <p:attrNameLst>
                                          <p:attrName>ppt_w</p:attrName>
                                        </p:attrNameLst>
                                      </p:cBhvr>
                                      <p:tavLst>
                                        <p:tav tm="0">
                                          <p:val>
                                            <p:strVal val="#ppt_w*0.70"/>
                                          </p:val>
                                        </p:tav>
                                        <p:tav tm="100000">
                                          <p:val>
                                            <p:strVal val="#ppt_w"/>
                                          </p:val>
                                        </p:tav>
                                      </p:tavLst>
                                    </p:anim>
                                    <p:anim calcmode="lin" valueType="num">
                                      <p:cBhvr>
                                        <p:cTn id="55" dur="1000" fill="hold"/>
                                        <p:tgtEl>
                                          <p:spTgt spid="14"/>
                                        </p:tgtEl>
                                        <p:attrNameLst>
                                          <p:attrName>ppt_h</p:attrName>
                                        </p:attrNameLst>
                                      </p:cBhvr>
                                      <p:tavLst>
                                        <p:tav tm="0">
                                          <p:val>
                                            <p:strVal val="#ppt_h"/>
                                          </p:val>
                                        </p:tav>
                                        <p:tav tm="100000">
                                          <p:val>
                                            <p:strVal val="#ppt_h"/>
                                          </p:val>
                                        </p:tav>
                                      </p:tavLst>
                                    </p:anim>
                                    <p:animEffect transition="in" filter="fade">
                                      <p:cBhvr>
                                        <p:cTn id="56" dur="10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additive="base">
                                        <p:cTn id="61" dur="500" fill="hold"/>
                                        <p:tgtEl>
                                          <p:spTgt spid="9"/>
                                        </p:tgtEl>
                                        <p:attrNameLst>
                                          <p:attrName>ppt_x</p:attrName>
                                        </p:attrNameLst>
                                      </p:cBhvr>
                                      <p:tavLst>
                                        <p:tav tm="0">
                                          <p:val>
                                            <p:strVal val="#ppt_x"/>
                                          </p:val>
                                        </p:tav>
                                        <p:tav tm="100000">
                                          <p:val>
                                            <p:strVal val="#ppt_x"/>
                                          </p:val>
                                        </p:tav>
                                      </p:tavLst>
                                    </p:anim>
                                    <p:anim calcmode="lin" valueType="num">
                                      <p:cBhvr additive="base">
                                        <p:cTn id="62" dur="500" fill="hold"/>
                                        <p:tgtEl>
                                          <p:spTgt spid="9"/>
                                        </p:tgtEl>
                                        <p:attrNameLst>
                                          <p:attrName>ppt_y</p:attrName>
                                        </p:attrNameLst>
                                      </p:cBhvr>
                                      <p:tavLst>
                                        <p:tav tm="0">
                                          <p:val>
                                            <p:strVal val="1+#ppt_h/2"/>
                                          </p:val>
                                        </p:tav>
                                        <p:tav tm="100000">
                                          <p:val>
                                            <p:strVal val="#ppt_y"/>
                                          </p:val>
                                        </p:tav>
                                      </p:tavLst>
                                    </p:anim>
                                  </p:childTnLst>
                                </p:cTn>
                              </p:par>
                              <p:par>
                                <p:cTn id="63" presetID="55" presetClass="entr" presetSubtype="0"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anim calcmode="lin" valueType="num">
                                      <p:cBhvr>
                                        <p:cTn id="65" dur="1000" fill="hold"/>
                                        <p:tgtEl>
                                          <p:spTgt spid="13"/>
                                        </p:tgtEl>
                                        <p:attrNameLst>
                                          <p:attrName>ppt_w</p:attrName>
                                        </p:attrNameLst>
                                      </p:cBhvr>
                                      <p:tavLst>
                                        <p:tav tm="0">
                                          <p:val>
                                            <p:strVal val="#ppt_w*0.70"/>
                                          </p:val>
                                        </p:tav>
                                        <p:tav tm="100000">
                                          <p:val>
                                            <p:strVal val="#ppt_w"/>
                                          </p:val>
                                        </p:tav>
                                      </p:tavLst>
                                    </p:anim>
                                    <p:anim calcmode="lin" valueType="num">
                                      <p:cBhvr>
                                        <p:cTn id="66" dur="1000" fill="hold"/>
                                        <p:tgtEl>
                                          <p:spTgt spid="13"/>
                                        </p:tgtEl>
                                        <p:attrNameLst>
                                          <p:attrName>ppt_h</p:attrName>
                                        </p:attrNameLst>
                                      </p:cBhvr>
                                      <p:tavLst>
                                        <p:tav tm="0">
                                          <p:val>
                                            <p:strVal val="#ppt_h"/>
                                          </p:val>
                                        </p:tav>
                                        <p:tav tm="100000">
                                          <p:val>
                                            <p:strVal val="#ppt_h"/>
                                          </p:val>
                                        </p:tav>
                                      </p:tavLst>
                                    </p:anim>
                                    <p:animEffect transition="in" filter="fade">
                                      <p:cBhvr>
                                        <p:cTn id="6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p:bldP spid="13" grpId="0"/>
      <p:bldP spid="14" grpId="0"/>
      <p:bldP spid="15" grpId="0" animBg="1"/>
      <p:bldP spid="16" grpId="0" animBg="1"/>
      <p:bldP spid="17" grpId="0"/>
      <p:bldP spid="3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Google Shape;264;p20"/>
          <p:cNvSpPr/>
          <p:nvPr/>
        </p:nvSpPr>
        <p:spPr>
          <a:xfrm>
            <a:off x="165100" y="838725"/>
            <a:ext cx="8228700" cy="725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endParaRPr sz="2000" b="1" dirty="0">
              <a:solidFill>
                <a:schemeClr val="accent6">
                  <a:lumMod val="60000"/>
                  <a:lumOff val="40000"/>
                </a:schemeClr>
              </a:solidFill>
            </a:endParaRPr>
          </a:p>
          <a:p>
            <a:pPr marL="101600" marR="0" lvl="0" algn="l" rtl="0">
              <a:lnSpc>
                <a:spcPct val="100000"/>
              </a:lnSpc>
              <a:spcBef>
                <a:spcPts val="0"/>
              </a:spcBef>
              <a:spcAft>
                <a:spcPts val="0"/>
              </a:spcAft>
              <a:buClr>
                <a:srgbClr val="C55A11"/>
              </a:buClr>
              <a:buSzPts val="2000"/>
            </a:pPr>
            <a:r>
              <a:rPr lang="fr-FR" sz="2000" b="1" dirty="0">
                <a:solidFill>
                  <a:schemeClr val="accent6">
                    <a:lumMod val="60000"/>
                    <a:lumOff val="40000"/>
                  </a:schemeClr>
                </a:solidFill>
              </a:rPr>
              <a:t>Solution proposée</a:t>
            </a:r>
            <a:endParaRPr sz="1600" i="0" u="none" strike="noStrike" cap="none" dirty="0">
              <a:solidFill>
                <a:schemeClr val="accent6">
                  <a:lumMod val="60000"/>
                  <a:lumOff val="40000"/>
                </a:schemeClr>
              </a:solidFil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accent6">
                  <a:lumMod val="60000"/>
                  <a:lumOff val="40000"/>
                </a:schemeClr>
              </a:solidFill>
              <a:latin typeface="Arial"/>
              <a:ea typeface="Arial"/>
              <a:cs typeface="Arial"/>
              <a:sym typeface="Arial"/>
            </a:endParaRPr>
          </a:p>
        </p:txBody>
      </p:sp>
      <p:grpSp>
        <p:nvGrpSpPr>
          <p:cNvPr id="70" name="Google Shape;248;p19"/>
          <p:cNvGrpSpPr/>
          <p:nvPr/>
        </p:nvGrpSpPr>
        <p:grpSpPr>
          <a:xfrm>
            <a:off x="73066" y="293216"/>
            <a:ext cx="10365904" cy="650938"/>
            <a:chOff x="-43152" y="-19950"/>
            <a:chExt cx="10076703" cy="650938"/>
          </a:xfrm>
        </p:grpSpPr>
        <p:sp>
          <p:nvSpPr>
            <p:cNvPr id="71" name="Google Shape;250;p19"/>
            <p:cNvSpPr txBox="1"/>
            <p:nvPr/>
          </p:nvSpPr>
          <p:spPr>
            <a:xfrm>
              <a:off x="-43152" y="6652"/>
              <a:ext cx="2167800" cy="584700"/>
            </a:xfrm>
            <a:prstGeom prst="rect">
              <a:avLst/>
            </a:prstGeom>
            <a:solidFill>
              <a:schemeClr val="accent6">
                <a:lumMod val="60000"/>
                <a:lumOff val="40000"/>
              </a:schemeClr>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72" name="Google Shape;251;p19"/>
            <p:cNvSpPr/>
            <p:nvPr/>
          </p:nvSpPr>
          <p:spPr>
            <a:xfrm>
              <a:off x="1778963" y="0"/>
              <a:ext cx="26382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73" name="Google Shape;252;p19"/>
            <p:cNvSpPr txBox="1"/>
            <p:nvPr/>
          </p:nvSpPr>
          <p:spPr>
            <a:xfrm>
              <a:off x="2071350" y="0"/>
              <a:ext cx="2053500" cy="584700"/>
            </a:xfrm>
            <a:prstGeom prst="rect">
              <a:avLst/>
            </a:prstGeom>
            <a:no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74" name="Google Shape;253;p19"/>
            <p:cNvSpPr/>
            <p:nvPr/>
          </p:nvSpPr>
          <p:spPr>
            <a:xfrm>
              <a:off x="4023490" y="0"/>
              <a:ext cx="19680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75" name="Google Shape;254;p19"/>
            <p:cNvSpPr txBox="1"/>
            <p:nvPr/>
          </p:nvSpPr>
          <p:spPr>
            <a:xfrm>
              <a:off x="4261955" y="0"/>
              <a:ext cx="14373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3.Conception</a:t>
              </a:r>
              <a:endParaRPr sz="1400" b="1" i="0" u="none" strike="noStrike" cap="none">
                <a:solidFill>
                  <a:schemeClr val="lt1"/>
                </a:solidFill>
              </a:endParaRPr>
            </a:p>
          </p:txBody>
        </p:sp>
        <p:sp>
          <p:nvSpPr>
            <p:cNvPr id="76"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77" name="Google Shape;256;p19"/>
            <p:cNvSpPr txBox="1"/>
            <p:nvPr/>
          </p:nvSpPr>
          <p:spPr>
            <a:xfrm>
              <a:off x="5872496" y="-19950"/>
              <a:ext cx="18417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78"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79" name="Google Shape;258;p19"/>
            <p:cNvSpPr txBox="1"/>
            <p:nvPr/>
          </p:nvSpPr>
          <p:spPr>
            <a:xfrm>
              <a:off x="7746930"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5</a:t>
              </a:r>
              <a:r>
                <a:rPr lang="fr-FR" sz="1700" b="1" i="0" u="none" strike="noStrike" cap="none" dirty="0">
                  <a:solidFill>
                    <a:schemeClr val="lt1"/>
                  </a:solidFill>
                </a:rPr>
                <a:t>.Conclusion et Perspectives</a:t>
              </a:r>
              <a:endParaRPr sz="1400" b="1" i="0" u="none" strike="noStrike" cap="none" dirty="0">
                <a:solidFill>
                  <a:schemeClr val="lt1"/>
                </a:solidFill>
              </a:endParaRPr>
            </a:p>
          </p:txBody>
        </p:sp>
      </p:grpSp>
      <p:sp>
        <p:nvSpPr>
          <p:cNvPr id="80" name="object 5"/>
          <p:cNvSpPr/>
          <p:nvPr/>
        </p:nvSpPr>
        <p:spPr>
          <a:xfrm>
            <a:off x="68379" y="124979"/>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2" name="Espace réservé du numéro de diapositive 1">
            <a:extLst>
              <a:ext uri="{FF2B5EF4-FFF2-40B4-BE49-F238E27FC236}">
                <a16:creationId xmlns:a16="http://schemas.microsoft.com/office/drawing/2014/main" id="{6ED61D63-8821-4E78-B130-910D585D4259}"/>
              </a:ext>
            </a:extLst>
          </p:cNvPr>
          <p:cNvSpPr>
            <a:spLocks noGrp="1"/>
          </p:cNvSpPr>
          <p:nvPr>
            <p:ph type="sldNum" idx="12"/>
          </p:nvPr>
        </p:nvSpPr>
        <p:spPr>
          <a:xfrm>
            <a:off x="11607964" y="6361158"/>
            <a:ext cx="289560" cy="365125"/>
          </a:xfrm>
        </p:spPr>
        <p:txBody>
          <a:bodyPr/>
          <a:lstStyle/>
          <a:p>
            <a:pPr marL="0" lvl="0" indent="0" algn="r" rtl="0">
              <a:spcBef>
                <a:spcPts val="0"/>
              </a:spcBef>
              <a:spcAft>
                <a:spcPts val="0"/>
              </a:spcAft>
              <a:buNone/>
            </a:pPr>
            <a:r>
              <a:rPr lang="fr-FR" dirty="0"/>
              <a:t>5</a:t>
            </a:r>
          </a:p>
        </p:txBody>
      </p:sp>
      <p:grpSp>
        <p:nvGrpSpPr>
          <p:cNvPr id="64" name="Group 107">
            <a:extLst>
              <a:ext uri="{FF2B5EF4-FFF2-40B4-BE49-F238E27FC236}">
                <a16:creationId xmlns:a16="http://schemas.microsoft.com/office/drawing/2014/main" id="{F21598D4-AD81-491F-B8FB-1F7A1D026153}"/>
              </a:ext>
            </a:extLst>
          </p:cNvPr>
          <p:cNvGrpSpPr/>
          <p:nvPr/>
        </p:nvGrpSpPr>
        <p:grpSpPr>
          <a:xfrm flipH="1">
            <a:off x="2112841" y="1647424"/>
            <a:ext cx="7307739" cy="1247633"/>
            <a:chOff x="4229624" y="-90194"/>
            <a:chExt cx="2933700" cy="1957121"/>
          </a:xfrm>
        </p:grpSpPr>
        <p:sp>
          <p:nvSpPr>
            <p:cNvPr id="66" name="Rectangle 65">
              <a:extLst>
                <a:ext uri="{FF2B5EF4-FFF2-40B4-BE49-F238E27FC236}">
                  <a16:creationId xmlns:a16="http://schemas.microsoft.com/office/drawing/2014/main" id="{EBE7D07E-B02B-440A-A176-E4E1F551B302}"/>
                </a:ext>
              </a:extLst>
            </p:cNvPr>
            <p:cNvSpPr/>
            <p:nvPr/>
          </p:nvSpPr>
          <p:spPr>
            <a:xfrm flipH="1">
              <a:off x="4229624" y="-90194"/>
              <a:ext cx="2933700" cy="1523925"/>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solidFill>
                    <a:schemeClr val="bg1"/>
                  </a:solidFill>
                  <a:latin typeface="Times New Roman" panose="02020603050405020304" pitchFamily="18" charset="0"/>
                  <a:cs typeface="Times New Roman" panose="02020603050405020304" pitchFamily="18" charset="0"/>
                </a:rPr>
                <a:t>Concevoir et développer une plateforme de gestion et de suivi des plantes connectée à un pot intelligent. </a:t>
              </a:r>
              <a:endParaRPr lang="en-US" sz="2000" b="1" dirty="0">
                <a:solidFill>
                  <a:schemeClr val="bg1"/>
                </a:solidFill>
                <a:latin typeface="Times New Roman" panose="02020603050405020304" pitchFamily="18" charset="0"/>
                <a:cs typeface="Times New Roman" panose="02020603050405020304" pitchFamily="18" charset="0"/>
              </a:endParaRPr>
            </a:p>
          </p:txBody>
        </p:sp>
        <p:sp>
          <p:nvSpPr>
            <p:cNvPr id="67" name="Right Triangle 57">
              <a:extLst>
                <a:ext uri="{FF2B5EF4-FFF2-40B4-BE49-F238E27FC236}">
                  <a16:creationId xmlns:a16="http://schemas.microsoft.com/office/drawing/2014/main" id="{A3048CE8-5536-46C2-84EC-A458C2B0C2F4}"/>
                </a:ext>
              </a:extLst>
            </p:cNvPr>
            <p:cNvSpPr/>
            <p:nvPr/>
          </p:nvSpPr>
          <p:spPr>
            <a:xfrm rot="5400000">
              <a:off x="6666520" y="1376200"/>
              <a:ext cx="448055" cy="533400"/>
            </a:xfrm>
            <a:prstGeom prst="rtTriangl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cxnSp>
        <p:nvCxnSpPr>
          <p:cNvPr id="68" name="Connecteur droit avec flèche 67">
            <a:extLst>
              <a:ext uri="{FF2B5EF4-FFF2-40B4-BE49-F238E27FC236}">
                <a16:creationId xmlns:a16="http://schemas.microsoft.com/office/drawing/2014/main" id="{E43AE49C-AAD8-465A-A2C1-39B14A1BCAD6}"/>
              </a:ext>
            </a:extLst>
          </p:cNvPr>
          <p:cNvCxnSpPr>
            <a:cxnSpLocks/>
            <a:endCxn id="84" idx="3"/>
          </p:cNvCxnSpPr>
          <p:nvPr/>
        </p:nvCxnSpPr>
        <p:spPr>
          <a:xfrm flipH="1">
            <a:off x="1735303" y="2618902"/>
            <a:ext cx="787120" cy="1344040"/>
          </a:xfrm>
          <a:prstGeom prst="straightConnector1">
            <a:avLst/>
          </a:prstGeom>
          <a:ln w="38100">
            <a:solidFill>
              <a:schemeClr val="accent2">
                <a:lumMod val="60000"/>
                <a:lumOff val="4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1" name="Connecteur droit avec flèche 80">
            <a:extLst>
              <a:ext uri="{FF2B5EF4-FFF2-40B4-BE49-F238E27FC236}">
                <a16:creationId xmlns:a16="http://schemas.microsoft.com/office/drawing/2014/main" id="{D50D6178-44B2-450C-8DE0-B5D13368748B}"/>
              </a:ext>
            </a:extLst>
          </p:cNvPr>
          <p:cNvCxnSpPr>
            <a:cxnSpLocks/>
          </p:cNvCxnSpPr>
          <p:nvPr/>
        </p:nvCxnSpPr>
        <p:spPr>
          <a:xfrm>
            <a:off x="4460240" y="2611120"/>
            <a:ext cx="0" cy="1567705"/>
          </a:xfrm>
          <a:prstGeom prst="straightConnector1">
            <a:avLst/>
          </a:prstGeom>
          <a:ln w="38100">
            <a:solidFill>
              <a:schemeClr val="accent2">
                <a:lumMod val="60000"/>
                <a:lumOff val="4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9F0DADEB-A39D-4C1F-8C05-EC6ECB70BC4C}"/>
              </a:ext>
            </a:extLst>
          </p:cNvPr>
          <p:cNvCxnSpPr>
            <a:cxnSpLocks/>
          </p:cNvCxnSpPr>
          <p:nvPr/>
        </p:nvCxnSpPr>
        <p:spPr>
          <a:xfrm>
            <a:off x="7368969" y="2686970"/>
            <a:ext cx="9253" cy="1355719"/>
          </a:xfrm>
          <a:prstGeom prst="straightConnector1">
            <a:avLst/>
          </a:prstGeom>
          <a:ln w="38100">
            <a:solidFill>
              <a:schemeClr val="accent2">
                <a:lumMod val="60000"/>
                <a:lumOff val="4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4" name="Rectangle : avec coin arrondi et coin rogné en haut 83">
            <a:extLst>
              <a:ext uri="{FF2B5EF4-FFF2-40B4-BE49-F238E27FC236}">
                <a16:creationId xmlns:a16="http://schemas.microsoft.com/office/drawing/2014/main" id="{7FD5F6C5-C4C0-446F-B730-BC3A88DC30D0}"/>
              </a:ext>
            </a:extLst>
          </p:cNvPr>
          <p:cNvSpPr/>
          <p:nvPr/>
        </p:nvSpPr>
        <p:spPr>
          <a:xfrm>
            <a:off x="626439" y="3962942"/>
            <a:ext cx="2217728" cy="2305777"/>
          </a:xfrm>
          <a:prstGeom prst="snipRoundRect">
            <a:avLst/>
          </a:prstGeom>
          <a:noFill/>
          <a:ln w="57150">
            <a:solidFill>
              <a:schemeClr val="accent6">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endParaRPr lang="fr-FR" sz="2400" dirty="0">
              <a:latin typeface="Times New Roman" panose="02020603050405020304" pitchFamily="18" charset="0"/>
              <a:cs typeface="Times New Roman" panose="02020603050405020304" pitchFamily="18" charset="0"/>
            </a:endParaRPr>
          </a:p>
        </p:txBody>
      </p:sp>
      <p:grpSp>
        <p:nvGrpSpPr>
          <p:cNvPr id="87" name="Groupe 86">
            <a:extLst>
              <a:ext uri="{FF2B5EF4-FFF2-40B4-BE49-F238E27FC236}">
                <a16:creationId xmlns:a16="http://schemas.microsoft.com/office/drawing/2014/main" id="{19C1F5DD-0DF3-4106-9B54-CB58226E961D}"/>
              </a:ext>
            </a:extLst>
          </p:cNvPr>
          <p:cNvGrpSpPr/>
          <p:nvPr/>
        </p:nvGrpSpPr>
        <p:grpSpPr>
          <a:xfrm>
            <a:off x="3210309" y="4178825"/>
            <a:ext cx="2476489" cy="2089894"/>
            <a:chOff x="4162313" y="3506920"/>
            <a:chExt cx="3269759" cy="2231631"/>
          </a:xfrm>
        </p:grpSpPr>
        <p:sp>
          <p:nvSpPr>
            <p:cNvPr id="88" name="Rectangle : avec coin arrondi et coin rogné en haut 87">
              <a:extLst>
                <a:ext uri="{FF2B5EF4-FFF2-40B4-BE49-F238E27FC236}">
                  <a16:creationId xmlns:a16="http://schemas.microsoft.com/office/drawing/2014/main" id="{4474A9B4-0F38-4B5E-866C-930F292ADC70}"/>
                </a:ext>
              </a:extLst>
            </p:cNvPr>
            <p:cNvSpPr/>
            <p:nvPr/>
          </p:nvSpPr>
          <p:spPr>
            <a:xfrm>
              <a:off x="4162313" y="3506920"/>
              <a:ext cx="3269759" cy="2231631"/>
            </a:xfrm>
            <a:prstGeom prst="snipRoundRect">
              <a:avLst/>
            </a:prstGeom>
            <a:ln w="57150">
              <a:solidFill>
                <a:schemeClr val="accent6">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dirty="0"/>
            </a:p>
          </p:txBody>
        </p:sp>
        <p:sp>
          <p:nvSpPr>
            <p:cNvPr id="89" name="ZoneTexte 88">
              <a:extLst>
                <a:ext uri="{FF2B5EF4-FFF2-40B4-BE49-F238E27FC236}">
                  <a16:creationId xmlns:a16="http://schemas.microsoft.com/office/drawing/2014/main" id="{C374F97B-4996-4F00-ABFB-B451C2303140}"/>
                </a:ext>
              </a:extLst>
            </p:cNvPr>
            <p:cNvSpPr txBox="1"/>
            <p:nvPr/>
          </p:nvSpPr>
          <p:spPr>
            <a:xfrm>
              <a:off x="4269813" y="3570140"/>
              <a:ext cx="2891176" cy="322100"/>
            </a:xfrm>
            <a:prstGeom prst="rect">
              <a:avLst/>
            </a:prstGeom>
            <a:noFill/>
          </p:spPr>
          <p:txBody>
            <a:bodyPr wrap="square" rtlCol="0">
              <a:spAutoFit/>
            </a:bodyPr>
            <a:lstStyle/>
            <a:p>
              <a:endParaRPr lang="fr-FR" sz="2000" dirty="0">
                <a:latin typeface="+mj-lt"/>
              </a:endParaRPr>
            </a:p>
          </p:txBody>
        </p:sp>
      </p:grpSp>
      <p:sp>
        <p:nvSpPr>
          <p:cNvPr id="6" name="ZoneTexte 5">
            <a:extLst>
              <a:ext uri="{FF2B5EF4-FFF2-40B4-BE49-F238E27FC236}">
                <a16:creationId xmlns:a16="http://schemas.microsoft.com/office/drawing/2014/main" id="{7FE2F0D0-E798-4AA7-AAA2-D06D41BFC9C3}"/>
              </a:ext>
            </a:extLst>
          </p:cNvPr>
          <p:cNvSpPr txBox="1"/>
          <p:nvPr/>
        </p:nvSpPr>
        <p:spPr>
          <a:xfrm>
            <a:off x="747130" y="4074109"/>
            <a:ext cx="2032000" cy="1323439"/>
          </a:xfrm>
          <a:prstGeom prst="rect">
            <a:avLst/>
          </a:prstGeom>
          <a:noFill/>
        </p:spPr>
        <p:txBody>
          <a:bodyPr wrap="square" rtlCol="0">
            <a:spAutoFit/>
          </a:bodyPr>
          <a:lstStyle/>
          <a:p>
            <a:r>
              <a:rPr lang="fr-FR" sz="1600" dirty="0"/>
              <a:t>Assurer une surveillance en temps réel des paramètres environnementaux</a:t>
            </a:r>
          </a:p>
        </p:txBody>
      </p:sp>
      <p:sp>
        <p:nvSpPr>
          <p:cNvPr id="12" name="ZoneTexte 11">
            <a:extLst>
              <a:ext uri="{FF2B5EF4-FFF2-40B4-BE49-F238E27FC236}">
                <a16:creationId xmlns:a16="http://schemas.microsoft.com/office/drawing/2014/main" id="{335543AC-A708-4BA4-85D6-08F56A1AC7A2}"/>
              </a:ext>
            </a:extLst>
          </p:cNvPr>
          <p:cNvSpPr txBox="1"/>
          <p:nvPr/>
        </p:nvSpPr>
        <p:spPr>
          <a:xfrm>
            <a:off x="3315944" y="4267233"/>
            <a:ext cx="2141321" cy="1323439"/>
          </a:xfrm>
          <a:prstGeom prst="rect">
            <a:avLst/>
          </a:prstGeom>
          <a:noFill/>
        </p:spPr>
        <p:txBody>
          <a:bodyPr wrap="square" rtlCol="0">
            <a:spAutoFit/>
          </a:bodyPr>
          <a:lstStyle/>
          <a:p>
            <a:r>
              <a:rPr lang="fr-FR" sz="1600" dirty="0">
                <a:latin typeface="+mj-lt"/>
                <a:cs typeface="Times New Roman" panose="02020603050405020304" pitchFamily="18" charset="0"/>
              </a:rPr>
              <a:t>Piloter et optimiser  l’irrigation afin de réduire le gaspillage des ressources hydriques</a:t>
            </a:r>
            <a:endParaRPr lang="fr-FR" sz="1600" dirty="0">
              <a:latin typeface="+mj-lt"/>
            </a:endParaRPr>
          </a:p>
        </p:txBody>
      </p:sp>
      <p:sp>
        <p:nvSpPr>
          <p:cNvPr id="96" name="Rectangle : avec coin arrondi et coin rogné en haut 95">
            <a:extLst>
              <a:ext uri="{FF2B5EF4-FFF2-40B4-BE49-F238E27FC236}">
                <a16:creationId xmlns:a16="http://schemas.microsoft.com/office/drawing/2014/main" id="{400EACA8-8ECA-4DA6-BBFB-415106C73066}"/>
              </a:ext>
            </a:extLst>
          </p:cNvPr>
          <p:cNvSpPr/>
          <p:nvPr/>
        </p:nvSpPr>
        <p:spPr>
          <a:xfrm>
            <a:off x="9069646" y="3983168"/>
            <a:ext cx="2538318" cy="2285549"/>
          </a:xfrm>
          <a:prstGeom prst="snipRoundRect">
            <a:avLst/>
          </a:prstGeom>
          <a:ln w="57150">
            <a:solidFill>
              <a:schemeClr val="accent6">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dirty="0"/>
          </a:p>
        </p:txBody>
      </p:sp>
      <p:cxnSp>
        <p:nvCxnSpPr>
          <p:cNvPr id="98" name="Connecteur droit avec flèche 97">
            <a:extLst>
              <a:ext uri="{FF2B5EF4-FFF2-40B4-BE49-F238E27FC236}">
                <a16:creationId xmlns:a16="http://schemas.microsoft.com/office/drawing/2014/main" id="{EA47231F-B9CD-4328-8418-EC256E776D41}"/>
              </a:ext>
            </a:extLst>
          </p:cNvPr>
          <p:cNvCxnSpPr>
            <a:cxnSpLocks/>
          </p:cNvCxnSpPr>
          <p:nvPr/>
        </p:nvCxnSpPr>
        <p:spPr>
          <a:xfrm>
            <a:off x="8681185" y="2618902"/>
            <a:ext cx="1397974" cy="1344040"/>
          </a:xfrm>
          <a:prstGeom prst="straightConnector1">
            <a:avLst/>
          </a:prstGeom>
          <a:ln w="38100">
            <a:solidFill>
              <a:schemeClr val="accent2">
                <a:lumMod val="60000"/>
                <a:lumOff val="4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99" name="Image 98">
            <a:extLst>
              <a:ext uri="{FF2B5EF4-FFF2-40B4-BE49-F238E27FC236}">
                <a16:creationId xmlns:a16="http://schemas.microsoft.com/office/drawing/2014/main" id="{FFFF96A2-E695-4FD9-BB79-E4185D42BBB3}"/>
              </a:ext>
            </a:extLst>
          </p:cNvPr>
          <p:cNvPicPr>
            <a:picLocks noChangeAspect="1"/>
          </p:cNvPicPr>
          <p:nvPr/>
        </p:nvPicPr>
        <p:blipFill>
          <a:blip r:embed="rId3"/>
          <a:stretch>
            <a:fillRect/>
          </a:stretch>
        </p:blipFill>
        <p:spPr>
          <a:xfrm>
            <a:off x="1795372" y="5384323"/>
            <a:ext cx="905763" cy="850992"/>
          </a:xfrm>
          <a:prstGeom prst="rect">
            <a:avLst/>
          </a:prstGeom>
        </p:spPr>
      </p:pic>
      <p:pic>
        <p:nvPicPr>
          <p:cNvPr id="101" name="Image 100">
            <a:extLst>
              <a:ext uri="{FF2B5EF4-FFF2-40B4-BE49-F238E27FC236}">
                <a16:creationId xmlns:a16="http://schemas.microsoft.com/office/drawing/2014/main" id="{F9D5FD55-92F4-4B23-9C5A-E048A770655B}"/>
              </a:ext>
            </a:extLst>
          </p:cNvPr>
          <p:cNvPicPr>
            <a:picLocks noChangeAspect="1"/>
          </p:cNvPicPr>
          <p:nvPr/>
        </p:nvPicPr>
        <p:blipFill>
          <a:blip r:embed="rId4"/>
          <a:stretch>
            <a:fillRect/>
          </a:stretch>
        </p:blipFill>
        <p:spPr>
          <a:xfrm>
            <a:off x="4590634" y="5258826"/>
            <a:ext cx="1045352" cy="976489"/>
          </a:xfrm>
          <a:prstGeom prst="rect">
            <a:avLst/>
          </a:prstGeom>
        </p:spPr>
      </p:pic>
      <p:pic>
        <p:nvPicPr>
          <p:cNvPr id="108" name="Image 107">
            <a:extLst>
              <a:ext uri="{FF2B5EF4-FFF2-40B4-BE49-F238E27FC236}">
                <a16:creationId xmlns:a16="http://schemas.microsoft.com/office/drawing/2014/main" id="{571AA829-960F-42F9-ADF9-4BD19B5F8A78}"/>
              </a:ext>
            </a:extLst>
          </p:cNvPr>
          <p:cNvPicPr>
            <a:picLocks noChangeAspect="1"/>
          </p:cNvPicPr>
          <p:nvPr/>
        </p:nvPicPr>
        <p:blipFill>
          <a:blip r:embed="rId5"/>
          <a:stretch>
            <a:fillRect/>
          </a:stretch>
        </p:blipFill>
        <p:spPr>
          <a:xfrm>
            <a:off x="10764551" y="5580091"/>
            <a:ext cx="685012" cy="641292"/>
          </a:xfrm>
          <a:prstGeom prst="rect">
            <a:avLst/>
          </a:prstGeom>
        </p:spPr>
      </p:pic>
      <p:sp>
        <p:nvSpPr>
          <p:cNvPr id="39" name="Rectangle : avec coin arrondi et coin rogné en haut 38">
            <a:extLst>
              <a:ext uri="{FF2B5EF4-FFF2-40B4-BE49-F238E27FC236}">
                <a16:creationId xmlns:a16="http://schemas.microsoft.com/office/drawing/2014/main" id="{241CCA36-4A30-4B39-8E15-C427B21272D7}"/>
              </a:ext>
            </a:extLst>
          </p:cNvPr>
          <p:cNvSpPr/>
          <p:nvPr/>
        </p:nvSpPr>
        <p:spPr>
          <a:xfrm>
            <a:off x="6344708" y="4028081"/>
            <a:ext cx="2217728" cy="2226029"/>
          </a:xfrm>
          <a:prstGeom prst="snipRoundRect">
            <a:avLst/>
          </a:prstGeom>
          <a:ln w="57150">
            <a:solidFill>
              <a:schemeClr val="accent6">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FR" dirty="0"/>
          </a:p>
        </p:txBody>
      </p:sp>
      <p:pic>
        <p:nvPicPr>
          <p:cNvPr id="41" name="Image 40">
            <a:extLst>
              <a:ext uri="{FF2B5EF4-FFF2-40B4-BE49-F238E27FC236}">
                <a16:creationId xmlns:a16="http://schemas.microsoft.com/office/drawing/2014/main" id="{2D88D052-A274-4482-92AA-8962F1D1D2AD}"/>
              </a:ext>
            </a:extLst>
          </p:cNvPr>
          <p:cNvPicPr>
            <a:picLocks noChangeAspect="1"/>
          </p:cNvPicPr>
          <p:nvPr/>
        </p:nvPicPr>
        <p:blipFill>
          <a:blip r:embed="rId6"/>
          <a:stretch>
            <a:fillRect/>
          </a:stretch>
        </p:blipFill>
        <p:spPr>
          <a:xfrm>
            <a:off x="7270082" y="5338172"/>
            <a:ext cx="1267213" cy="828695"/>
          </a:xfrm>
          <a:prstGeom prst="rect">
            <a:avLst/>
          </a:prstGeom>
        </p:spPr>
      </p:pic>
      <p:sp>
        <p:nvSpPr>
          <p:cNvPr id="3" name="ZoneTexte 2">
            <a:extLst>
              <a:ext uri="{FF2B5EF4-FFF2-40B4-BE49-F238E27FC236}">
                <a16:creationId xmlns:a16="http://schemas.microsoft.com/office/drawing/2014/main" id="{32F6F7E5-48F8-4A07-B9DB-95D2BDA90EF6}"/>
              </a:ext>
            </a:extLst>
          </p:cNvPr>
          <p:cNvSpPr txBox="1"/>
          <p:nvPr/>
        </p:nvSpPr>
        <p:spPr>
          <a:xfrm>
            <a:off x="6475858" y="4207583"/>
            <a:ext cx="1955427" cy="1292662"/>
          </a:xfrm>
          <a:prstGeom prst="rect">
            <a:avLst/>
          </a:prstGeom>
          <a:noFill/>
        </p:spPr>
        <p:txBody>
          <a:bodyPr wrap="square" rtlCol="0">
            <a:spAutoFit/>
          </a:bodyPr>
          <a:lstStyle/>
          <a:p>
            <a:r>
              <a:rPr lang="fr-FR" sz="1600" dirty="0">
                <a:latin typeface="+mj-lt"/>
                <a:cs typeface="Times New Roman" panose="02020603050405020304" pitchFamily="18" charset="0"/>
              </a:rPr>
              <a:t>Intégrer une boutique en ligne permettant l’achat des pots connectés</a:t>
            </a:r>
          </a:p>
          <a:p>
            <a:endParaRPr lang="fr-FR" dirty="0"/>
          </a:p>
        </p:txBody>
      </p:sp>
      <p:sp>
        <p:nvSpPr>
          <p:cNvPr id="4" name="ZoneTexte 3">
            <a:extLst>
              <a:ext uri="{FF2B5EF4-FFF2-40B4-BE49-F238E27FC236}">
                <a16:creationId xmlns:a16="http://schemas.microsoft.com/office/drawing/2014/main" id="{7756AB21-112B-435E-A37A-32FD215F170D}"/>
              </a:ext>
            </a:extLst>
          </p:cNvPr>
          <p:cNvSpPr txBox="1"/>
          <p:nvPr/>
        </p:nvSpPr>
        <p:spPr>
          <a:xfrm>
            <a:off x="9249330" y="4146047"/>
            <a:ext cx="2178950" cy="1569660"/>
          </a:xfrm>
          <a:prstGeom prst="rect">
            <a:avLst/>
          </a:prstGeom>
          <a:noFill/>
        </p:spPr>
        <p:txBody>
          <a:bodyPr wrap="square" rtlCol="0">
            <a:spAutoFit/>
          </a:bodyPr>
          <a:lstStyle/>
          <a:p>
            <a:r>
              <a:rPr lang="fr-FR" sz="1600" dirty="0">
                <a:latin typeface="+mj-lt"/>
                <a:cs typeface="Times New Roman" panose="02020603050405020304" pitchFamily="18" charset="0"/>
              </a:rPr>
              <a:t>Sensibiliser et accompagner les utilisateurs dans l’entretien des plantes grâce aux cours et jeux éducatifs</a:t>
            </a:r>
          </a:p>
        </p:txBody>
      </p:sp>
    </p:spTree>
    <p:extLst>
      <p:ext uri="{BB962C8B-B14F-4D97-AF65-F5344CB8AC3E}">
        <p14:creationId xmlns:p14="http://schemas.microsoft.com/office/powerpoint/2010/main" val="1700025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1000"/>
                                        <p:tgtEl>
                                          <p:spTgt spid="64"/>
                                        </p:tgtEl>
                                      </p:cBhvr>
                                    </p:animEffect>
                                    <p:anim calcmode="lin" valueType="num">
                                      <p:cBhvr>
                                        <p:cTn id="8" dur="1000" fill="hold"/>
                                        <p:tgtEl>
                                          <p:spTgt spid="64"/>
                                        </p:tgtEl>
                                        <p:attrNameLst>
                                          <p:attrName>ppt_x</p:attrName>
                                        </p:attrNameLst>
                                      </p:cBhvr>
                                      <p:tavLst>
                                        <p:tav tm="0">
                                          <p:val>
                                            <p:strVal val="#ppt_x"/>
                                          </p:val>
                                        </p:tav>
                                        <p:tav tm="100000">
                                          <p:val>
                                            <p:strVal val="#ppt_x"/>
                                          </p:val>
                                        </p:tav>
                                      </p:tavLst>
                                    </p:anim>
                                    <p:anim calcmode="lin" valueType="num">
                                      <p:cBhvr>
                                        <p:cTn id="9" dur="1000" fill="hold"/>
                                        <p:tgtEl>
                                          <p:spTgt spid="6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5" presetClass="entr" presetSubtype="0" fill="hold" nodeType="clickEffect">
                                  <p:stCondLst>
                                    <p:cond delay="0"/>
                                  </p:stCondLst>
                                  <p:childTnLst>
                                    <p:set>
                                      <p:cBhvr>
                                        <p:cTn id="13" dur="1" fill="hold">
                                          <p:stCondLst>
                                            <p:cond delay="0"/>
                                          </p:stCondLst>
                                        </p:cTn>
                                        <p:tgtEl>
                                          <p:spTgt spid="68"/>
                                        </p:tgtEl>
                                        <p:attrNameLst>
                                          <p:attrName>style.visibility</p:attrName>
                                        </p:attrNameLst>
                                      </p:cBhvr>
                                      <p:to>
                                        <p:strVal val="visible"/>
                                      </p:to>
                                    </p:set>
                                    <p:anim calcmode="lin" valueType="num">
                                      <p:cBhvr>
                                        <p:cTn id="14" dur="1000" fill="hold"/>
                                        <p:tgtEl>
                                          <p:spTgt spid="68"/>
                                        </p:tgtEl>
                                        <p:attrNameLst>
                                          <p:attrName>ppt_w</p:attrName>
                                        </p:attrNameLst>
                                      </p:cBhvr>
                                      <p:tavLst>
                                        <p:tav tm="0">
                                          <p:val>
                                            <p:fltVal val="0"/>
                                          </p:val>
                                        </p:tav>
                                        <p:tav tm="100000">
                                          <p:val>
                                            <p:strVal val="#ppt_w"/>
                                          </p:val>
                                        </p:tav>
                                      </p:tavLst>
                                    </p:anim>
                                    <p:anim calcmode="lin" valueType="num">
                                      <p:cBhvr>
                                        <p:cTn id="15" dur="1000" fill="hold"/>
                                        <p:tgtEl>
                                          <p:spTgt spid="68"/>
                                        </p:tgtEl>
                                        <p:attrNameLst>
                                          <p:attrName>ppt_h</p:attrName>
                                        </p:attrNameLst>
                                      </p:cBhvr>
                                      <p:tavLst>
                                        <p:tav tm="0">
                                          <p:val>
                                            <p:fltVal val="0"/>
                                          </p:val>
                                        </p:tav>
                                        <p:tav tm="100000">
                                          <p:val>
                                            <p:strVal val="#ppt_h"/>
                                          </p:val>
                                        </p:tav>
                                      </p:tavLst>
                                    </p:anim>
                                    <p:anim calcmode="lin" valueType="num">
                                      <p:cBhvr>
                                        <p:cTn id="16" dur="1000" fill="hold"/>
                                        <p:tgtEl>
                                          <p:spTgt spid="68"/>
                                        </p:tgtEl>
                                        <p:attrNameLst>
                                          <p:attrName>ppt_x</p:attrName>
                                        </p:attrNameLst>
                                      </p:cBhvr>
                                      <p:tavLst>
                                        <p:tav tm="0" fmla="#ppt_x+(cos(-2*pi*(1-$))*-#ppt_x-sin(-2*pi*(1-$))*(1-#ppt_y))*(1-$)">
                                          <p:val>
                                            <p:fltVal val="0"/>
                                          </p:val>
                                        </p:tav>
                                        <p:tav tm="100000">
                                          <p:val>
                                            <p:fltVal val="1"/>
                                          </p:val>
                                        </p:tav>
                                      </p:tavLst>
                                    </p:anim>
                                    <p:anim calcmode="lin" valueType="num">
                                      <p:cBhvr>
                                        <p:cTn id="17" dur="1000" fill="hold"/>
                                        <p:tgtEl>
                                          <p:spTgt spid="68"/>
                                        </p:tgtEl>
                                        <p:attrNameLst>
                                          <p:attrName>ppt_y</p:attrName>
                                        </p:attrNameLst>
                                      </p:cBhvr>
                                      <p:tavLst>
                                        <p:tav tm="0" fmla="#ppt_y+(sin(-2*pi*(1-$))*-#ppt_x+cos(-2*pi*(1-$))*(1-#ppt_y))*(1-$)">
                                          <p:val>
                                            <p:fltVal val="0"/>
                                          </p:val>
                                        </p:tav>
                                        <p:tav tm="100000">
                                          <p:val>
                                            <p:fltVal val="1"/>
                                          </p:val>
                                        </p:tav>
                                      </p:tavLst>
                                    </p:anim>
                                  </p:childTnLst>
                                </p:cTn>
                              </p:par>
                              <p:par>
                                <p:cTn id="18" presetID="22" presetClass="entr" presetSubtype="4" fill="hold" grpId="0" nodeType="withEffect">
                                  <p:stCondLst>
                                    <p:cond delay="0"/>
                                  </p:stCondLst>
                                  <p:childTnLst>
                                    <p:set>
                                      <p:cBhvr>
                                        <p:cTn id="19" dur="1" fill="hold">
                                          <p:stCondLst>
                                            <p:cond delay="0"/>
                                          </p:stCondLst>
                                        </p:cTn>
                                        <p:tgtEl>
                                          <p:spTgt spid="84"/>
                                        </p:tgtEl>
                                        <p:attrNameLst>
                                          <p:attrName>style.visibility</p:attrName>
                                        </p:attrNameLst>
                                      </p:cBhvr>
                                      <p:to>
                                        <p:strVal val="visible"/>
                                      </p:to>
                                    </p:set>
                                    <p:animEffect transition="in" filter="wipe(down)">
                                      <p:cBhvr>
                                        <p:cTn id="20" dur="500"/>
                                        <p:tgtEl>
                                          <p:spTgt spid="8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nodeType="withEffect">
                                  <p:stCondLst>
                                    <p:cond delay="0"/>
                                  </p:stCondLst>
                                  <p:childTnLst>
                                    <p:set>
                                      <p:cBhvr>
                                        <p:cTn id="27" dur="1" fill="hold">
                                          <p:stCondLst>
                                            <p:cond delay="0"/>
                                          </p:stCondLst>
                                        </p:cTn>
                                        <p:tgtEl>
                                          <p:spTgt spid="99"/>
                                        </p:tgtEl>
                                        <p:attrNameLst>
                                          <p:attrName>style.visibility</p:attrName>
                                        </p:attrNameLst>
                                      </p:cBhvr>
                                      <p:to>
                                        <p:strVal val="visible"/>
                                      </p:to>
                                    </p:set>
                                    <p:animEffect transition="in" filter="fade">
                                      <p:cBhvr>
                                        <p:cTn id="28" dur="500"/>
                                        <p:tgtEl>
                                          <p:spTgt spid="99"/>
                                        </p:tgtEl>
                                      </p:cBhvr>
                                    </p:animEffect>
                                  </p:childTnLst>
                                </p:cTn>
                              </p:par>
                            </p:childTnLst>
                          </p:cTn>
                        </p:par>
                      </p:childTnLst>
                    </p:cTn>
                  </p:par>
                  <p:par>
                    <p:cTn id="29" fill="hold">
                      <p:stCondLst>
                        <p:cond delay="indefinite"/>
                      </p:stCondLst>
                      <p:childTnLst>
                        <p:par>
                          <p:cTn id="30" fill="hold">
                            <p:stCondLst>
                              <p:cond delay="0"/>
                            </p:stCondLst>
                            <p:childTnLst>
                              <p:par>
                                <p:cTn id="31" presetID="15" presetClass="entr" presetSubtype="0" fill="hold" nodeType="clickEffect">
                                  <p:stCondLst>
                                    <p:cond delay="0"/>
                                  </p:stCondLst>
                                  <p:childTnLst>
                                    <p:set>
                                      <p:cBhvr>
                                        <p:cTn id="32" dur="1" fill="hold">
                                          <p:stCondLst>
                                            <p:cond delay="0"/>
                                          </p:stCondLst>
                                        </p:cTn>
                                        <p:tgtEl>
                                          <p:spTgt spid="81"/>
                                        </p:tgtEl>
                                        <p:attrNameLst>
                                          <p:attrName>style.visibility</p:attrName>
                                        </p:attrNameLst>
                                      </p:cBhvr>
                                      <p:to>
                                        <p:strVal val="visible"/>
                                      </p:to>
                                    </p:set>
                                    <p:anim calcmode="lin" valueType="num">
                                      <p:cBhvr>
                                        <p:cTn id="33" dur="1000" fill="hold"/>
                                        <p:tgtEl>
                                          <p:spTgt spid="81"/>
                                        </p:tgtEl>
                                        <p:attrNameLst>
                                          <p:attrName>ppt_w</p:attrName>
                                        </p:attrNameLst>
                                      </p:cBhvr>
                                      <p:tavLst>
                                        <p:tav tm="0">
                                          <p:val>
                                            <p:fltVal val="0"/>
                                          </p:val>
                                        </p:tav>
                                        <p:tav tm="100000">
                                          <p:val>
                                            <p:strVal val="#ppt_w"/>
                                          </p:val>
                                        </p:tav>
                                      </p:tavLst>
                                    </p:anim>
                                    <p:anim calcmode="lin" valueType="num">
                                      <p:cBhvr>
                                        <p:cTn id="34" dur="1000" fill="hold"/>
                                        <p:tgtEl>
                                          <p:spTgt spid="81"/>
                                        </p:tgtEl>
                                        <p:attrNameLst>
                                          <p:attrName>ppt_h</p:attrName>
                                        </p:attrNameLst>
                                      </p:cBhvr>
                                      <p:tavLst>
                                        <p:tav tm="0">
                                          <p:val>
                                            <p:fltVal val="0"/>
                                          </p:val>
                                        </p:tav>
                                        <p:tav tm="100000">
                                          <p:val>
                                            <p:strVal val="#ppt_h"/>
                                          </p:val>
                                        </p:tav>
                                      </p:tavLst>
                                    </p:anim>
                                    <p:anim calcmode="lin" valueType="num">
                                      <p:cBhvr>
                                        <p:cTn id="35" dur="1000" fill="hold"/>
                                        <p:tgtEl>
                                          <p:spTgt spid="81"/>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81"/>
                                        </p:tgtEl>
                                        <p:attrNameLst>
                                          <p:attrName>ppt_y</p:attrName>
                                        </p:attrNameLst>
                                      </p:cBhvr>
                                      <p:tavLst>
                                        <p:tav tm="0" fmla="#ppt_y+(sin(-2*pi*(1-$))*-#ppt_x+cos(-2*pi*(1-$))*(1-#ppt_y))*(1-$)">
                                          <p:val>
                                            <p:fltVal val="0"/>
                                          </p:val>
                                        </p:tav>
                                        <p:tav tm="100000">
                                          <p:val>
                                            <p:fltVal val="1"/>
                                          </p:val>
                                        </p:tav>
                                      </p:tavLst>
                                    </p:anim>
                                  </p:childTnLst>
                                </p:cTn>
                              </p:par>
                              <p:par>
                                <p:cTn id="37" presetID="22" presetClass="entr" presetSubtype="4" fill="hold" nodeType="withEffect">
                                  <p:stCondLst>
                                    <p:cond delay="0"/>
                                  </p:stCondLst>
                                  <p:childTnLst>
                                    <p:set>
                                      <p:cBhvr>
                                        <p:cTn id="38" dur="1" fill="hold">
                                          <p:stCondLst>
                                            <p:cond delay="0"/>
                                          </p:stCondLst>
                                        </p:cTn>
                                        <p:tgtEl>
                                          <p:spTgt spid="87"/>
                                        </p:tgtEl>
                                        <p:attrNameLst>
                                          <p:attrName>style.visibility</p:attrName>
                                        </p:attrNameLst>
                                      </p:cBhvr>
                                      <p:to>
                                        <p:strVal val="visible"/>
                                      </p:to>
                                    </p:set>
                                    <p:animEffect transition="in" filter="wipe(down)">
                                      <p:cBhvr>
                                        <p:cTn id="39" dur="500"/>
                                        <p:tgtEl>
                                          <p:spTgt spid="87"/>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par>
                                <p:cTn id="45" presetID="10" presetClass="entr" presetSubtype="0" fill="hold" nodeType="withEffect">
                                  <p:stCondLst>
                                    <p:cond delay="0"/>
                                  </p:stCondLst>
                                  <p:childTnLst>
                                    <p:set>
                                      <p:cBhvr>
                                        <p:cTn id="46" dur="1" fill="hold">
                                          <p:stCondLst>
                                            <p:cond delay="0"/>
                                          </p:stCondLst>
                                        </p:cTn>
                                        <p:tgtEl>
                                          <p:spTgt spid="101"/>
                                        </p:tgtEl>
                                        <p:attrNameLst>
                                          <p:attrName>style.visibility</p:attrName>
                                        </p:attrNameLst>
                                      </p:cBhvr>
                                      <p:to>
                                        <p:strVal val="visible"/>
                                      </p:to>
                                    </p:set>
                                    <p:animEffect transition="in" filter="fade">
                                      <p:cBhvr>
                                        <p:cTn id="47" dur="500"/>
                                        <p:tgtEl>
                                          <p:spTgt spid="101"/>
                                        </p:tgtEl>
                                      </p:cBhvr>
                                    </p:animEffect>
                                  </p:childTnLst>
                                </p:cTn>
                              </p:par>
                            </p:childTnLst>
                          </p:cTn>
                        </p:par>
                      </p:childTnLst>
                    </p:cTn>
                  </p:par>
                  <p:par>
                    <p:cTn id="48" fill="hold">
                      <p:stCondLst>
                        <p:cond delay="indefinite"/>
                      </p:stCondLst>
                      <p:childTnLst>
                        <p:par>
                          <p:cTn id="49" fill="hold">
                            <p:stCondLst>
                              <p:cond delay="0"/>
                            </p:stCondLst>
                            <p:childTnLst>
                              <p:par>
                                <p:cTn id="50" presetID="15" presetClass="entr" presetSubtype="0" fill="hold" nodeType="clickEffect">
                                  <p:stCondLst>
                                    <p:cond delay="0"/>
                                  </p:stCondLst>
                                  <p:childTnLst>
                                    <p:set>
                                      <p:cBhvr>
                                        <p:cTn id="51" dur="1" fill="hold">
                                          <p:stCondLst>
                                            <p:cond delay="0"/>
                                          </p:stCondLst>
                                        </p:cTn>
                                        <p:tgtEl>
                                          <p:spTgt spid="82"/>
                                        </p:tgtEl>
                                        <p:attrNameLst>
                                          <p:attrName>style.visibility</p:attrName>
                                        </p:attrNameLst>
                                      </p:cBhvr>
                                      <p:to>
                                        <p:strVal val="visible"/>
                                      </p:to>
                                    </p:set>
                                    <p:anim calcmode="lin" valueType="num">
                                      <p:cBhvr>
                                        <p:cTn id="52" dur="1000" fill="hold"/>
                                        <p:tgtEl>
                                          <p:spTgt spid="82"/>
                                        </p:tgtEl>
                                        <p:attrNameLst>
                                          <p:attrName>ppt_w</p:attrName>
                                        </p:attrNameLst>
                                      </p:cBhvr>
                                      <p:tavLst>
                                        <p:tav tm="0">
                                          <p:val>
                                            <p:fltVal val="0"/>
                                          </p:val>
                                        </p:tav>
                                        <p:tav tm="100000">
                                          <p:val>
                                            <p:strVal val="#ppt_w"/>
                                          </p:val>
                                        </p:tav>
                                      </p:tavLst>
                                    </p:anim>
                                    <p:anim calcmode="lin" valueType="num">
                                      <p:cBhvr>
                                        <p:cTn id="53" dur="1000" fill="hold"/>
                                        <p:tgtEl>
                                          <p:spTgt spid="82"/>
                                        </p:tgtEl>
                                        <p:attrNameLst>
                                          <p:attrName>ppt_h</p:attrName>
                                        </p:attrNameLst>
                                      </p:cBhvr>
                                      <p:tavLst>
                                        <p:tav tm="0">
                                          <p:val>
                                            <p:fltVal val="0"/>
                                          </p:val>
                                        </p:tav>
                                        <p:tav tm="100000">
                                          <p:val>
                                            <p:strVal val="#ppt_h"/>
                                          </p:val>
                                        </p:tav>
                                      </p:tavLst>
                                    </p:anim>
                                    <p:anim calcmode="lin" valueType="num">
                                      <p:cBhvr>
                                        <p:cTn id="54" dur="1000" fill="hold"/>
                                        <p:tgtEl>
                                          <p:spTgt spid="82"/>
                                        </p:tgtEl>
                                        <p:attrNameLst>
                                          <p:attrName>ppt_x</p:attrName>
                                        </p:attrNameLst>
                                      </p:cBhvr>
                                      <p:tavLst>
                                        <p:tav tm="0" fmla="#ppt_x+(cos(-2*pi*(1-$))*-#ppt_x-sin(-2*pi*(1-$))*(1-#ppt_y))*(1-$)">
                                          <p:val>
                                            <p:fltVal val="0"/>
                                          </p:val>
                                        </p:tav>
                                        <p:tav tm="100000">
                                          <p:val>
                                            <p:fltVal val="1"/>
                                          </p:val>
                                        </p:tav>
                                      </p:tavLst>
                                    </p:anim>
                                    <p:anim calcmode="lin" valueType="num">
                                      <p:cBhvr>
                                        <p:cTn id="55" dur="1000" fill="hold"/>
                                        <p:tgtEl>
                                          <p:spTgt spid="82"/>
                                        </p:tgtEl>
                                        <p:attrNameLst>
                                          <p:attrName>ppt_y</p:attrName>
                                        </p:attrNameLst>
                                      </p:cBhvr>
                                      <p:tavLst>
                                        <p:tav tm="0" fmla="#ppt_y+(sin(-2*pi*(1-$))*-#ppt_x+cos(-2*pi*(1-$))*(1-#ppt_y))*(1-$)">
                                          <p:val>
                                            <p:fltVal val="0"/>
                                          </p:val>
                                        </p:tav>
                                        <p:tav tm="100000">
                                          <p:val>
                                            <p:fltVal val="1"/>
                                          </p:val>
                                        </p:tav>
                                      </p:tavLst>
                                    </p:anim>
                                  </p:childTnLst>
                                </p:cTn>
                              </p:par>
                              <p:par>
                                <p:cTn id="56" presetID="10" presetClass="entr" presetSubtype="0" fill="hold" grpId="0"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500"/>
                                        <p:tgtEl>
                                          <p:spTgt spid="3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fade">
                                      <p:cBhvr>
                                        <p:cTn id="63" dur="500"/>
                                        <p:tgtEl>
                                          <p:spTgt spid="3"/>
                                        </p:tgtEl>
                                      </p:cBhvr>
                                    </p:animEffect>
                                  </p:childTnLst>
                                </p:cTn>
                              </p:par>
                              <p:par>
                                <p:cTn id="64" presetID="10" presetClass="entr" presetSubtype="0" fill="hold" nodeType="with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fade">
                                      <p:cBhvr>
                                        <p:cTn id="66" dur="500"/>
                                        <p:tgtEl>
                                          <p:spTgt spid="41"/>
                                        </p:tgtEl>
                                      </p:cBhvr>
                                    </p:animEffect>
                                  </p:childTnLst>
                                </p:cTn>
                              </p:par>
                            </p:childTnLst>
                          </p:cTn>
                        </p:par>
                      </p:childTnLst>
                    </p:cTn>
                  </p:par>
                  <p:par>
                    <p:cTn id="67" fill="hold">
                      <p:stCondLst>
                        <p:cond delay="indefinite"/>
                      </p:stCondLst>
                      <p:childTnLst>
                        <p:par>
                          <p:cTn id="68" fill="hold">
                            <p:stCondLst>
                              <p:cond delay="0"/>
                            </p:stCondLst>
                            <p:childTnLst>
                              <p:par>
                                <p:cTn id="69" presetID="15" presetClass="entr" presetSubtype="0" fill="hold" nodeType="clickEffect">
                                  <p:stCondLst>
                                    <p:cond delay="0"/>
                                  </p:stCondLst>
                                  <p:childTnLst>
                                    <p:set>
                                      <p:cBhvr>
                                        <p:cTn id="70" dur="1" fill="hold">
                                          <p:stCondLst>
                                            <p:cond delay="0"/>
                                          </p:stCondLst>
                                        </p:cTn>
                                        <p:tgtEl>
                                          <p:spTgt spid="98"/>
                                        </p:tgtEl>
                                        <p:attrNameLst>
                                          <p:attrName>style.visibility</p:attrName>
                                        </p:attrNameLst>
                                      </p:cBhvr>
                                      <p:to>
                                        <p:strVal val="visible"/>
                                      </p:to>
                                    </p:set>
                                    <p:anim calcmode="lin" valueType="num">
                                      <p:cBhvr>
                                        <p:cTn id="71" dur="1000" fill="hold"/>
                                        <p:tgtEl>
                                          <p:spTgt spid="98"/>
                                        </p:tgtEl>
                                        <p:attrNameLst>
                                          <p:attrName>ppt_w</p:attrName>
                                        </p:attrNameLst>
                                      </p:cBhvr>
                                      <p:tavLst>
                                        <p:tav tm="0">
                                          <p:val>
                                            <p:fltVal val="0"/>
                                          </p:val>
                                        </p:tav>
                                        <p:tav tm="100000">
                                          <p:val>
                                            <p:strVal val="#ppt_w"/>
                                          </p:val>
                                        </p:tav>
                                      </p:tavLst>
                                    </p:anim>
                                    <p:anim calcmode="lin" valueType="num">
                                      <p:cBhvr>
                                        <p:cTn id="72" dur="1000" fill="hold"/>
                                        <p:tgtEl>
                                          <p:spTgt spid="98"/>
                                        </p:tgtEl>
                                        <p:attrNameLst>
                                          <p:attrName>ppt_h</p:attrName>
                                        </p:attrNameLst>
                                      </p:cBhvr>
                                      <p:tavLst>
                                        <p:tav tm="0">
                                          <p:val>
                                            <p:fltVal val="0"/>
                                          </p:val>
                                        </p:tav>
                                        <p:tav tm="100000">
                                          <p:val>
                                            <p:strVal val="#ppt_h"/>
                                          </p:val>
                                        </p:tav>
                                      </p:tavLst>
                                    </p:anim>
                                    <p:anim calcmode="lin" valueType="num">
                                      <p:cBhvr>
                                        <p:cTn id="73" dur="1000" fill="hold"/>
                                        <p:tgtEl>
                                          <p:spTgt spid="98"/>
                                        </p:tgtEl>
                                        <p:attrNameLst>
                                          <p:attrName>ppt_x</p:attrName>
                                        </p:attrNameLst>
                                      </p:cBhvr>
                                      <p:tavLst>
                                        <p:tav tm="0" fmla="#ppt_x+(cos(-2*pi*(1-$))*-#ppt_x-sin(-2*pi*(1-$))*(1-#ppt_y))*(1-$)">
                                          <p:val>
                                            <p:fltVal val="0"/>
                                          </p:val>
                                        </p:tav>
                                        <p:tav tm="100000">
                                          <p:val>
                                            <p:fltVal val="1"/>
                                          </p:val>
                                        </p:tav>
                                      </p:tavLst>
                                    </p:anim>
                                    <p:anim calcmode="lin" valueType="num">
                                      <p:cBhvr>
                                        <p:cTn id="74" dur="1000" fill="hold"/>
                                        <p:tgtEl>
                                          <p:spTgt spid="98"/>
                                        </p:tgtEl>
                                        <p:attrNameLst>
                                          <p:attrName>ppt_y</p:attrName>
                                        </p:attrNameLst>
                                      </p:cBhvr>
                                      <p:tavLst>
                                        <p:tav tm="0" fmla="#ppt_y+(sin(-2*pi*(1-$))*-#ppt_x+cos(-2*pi*(1-$))*(1-#ppt_y))*(1-$)">
                                          <p:val>
                                            <p:fltVal val="0"/>
                                          </p:val>
                                        </p:tav>
                                        <p:tav tm="100000">
                                          <p:val>
                                            <p:fltVal val="1"/>
                                          </p:val>
                                        </p:tav>
                                      </p:tavLst>
                                    </p:anim>
                                  </p:childTnLst>
                                </p:cTn>
                              </p:par>
                              <p:par>
                                <p:cTn id="75" presetID="10" presetClass="entr" presetSubtype="0" fill="hold" grpId="0" nodeType="withEffect">
                                  <p:stCondLst>
                                    <p:cond delay="0"/>
                                  </p:stCondLst>
                                  <p:childTnLst>
                                    <p:set>
                                      <p:cBhvr>
                                        <p:cTn id="76" dur="1" fill="hold">
                                          <p:stCondLst>
                                            <p:cond delay="0"/>
                                          </p:stCondLst>
                                        </p:cTn>
                                        <p:tgtEl>
                                          <p:spTgt spid="96"/>
                                        </p:tgtEl>
                                        <p:attrNameLst>
                                          <p:attrName>style.visibility</p:attrName>
                                        </p:attrNameLst>
                                      </p:cBhvr>
                                      <p:to>
                                        <p:strVal val="visible"/>
                                      </p:to>
                                    </p:set>
                                    <p:animEffect transition="in" filter="fade">
                                      <p:cBhvr>
                                        <p:cTn id="77" dur="500"/>
                                        <p:tgtEl>
                                          <p:spTgt spid="96"/>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gtEl>
                                        <p:attrNameLst>
                                          <p:attrName>style.visibility</p:attrName>
                                        </p:attrNameLst>
                                      </p:cBhvr>
                                      <p:to>
                                        <p:strVal val="visible"/>
                                      </p:to>
                                    </p:set>
                                    <p:animEffect transition="in" filter="fade">
                                      <p:cBhvr>
                                        <p:cTn id="82" dur="500"/>
                                        <p:tgtEl>
                                          <p:spTgt spid="4"/>
                                        </p:tgtEl>
                                      </p:cBhvr>
                                    </p:animEffect>
                                  </p:childTnLst>
                                </p:cTn>
                              </p:par>
                              <p:par>
                                <p:cTn id="83" presetID="10" presetClass="entr" presetSubtype="0" fill="hold" nodeType="withEffect">
                                  <p:stCondLst>
                                    <p:cond delay="0"/>
                                  </p:stCondLst>
                                  <p:childTnLst>
                                    <p:set>
                                      <p:cBhvr>
                                        <p:cTn id="84" dur="1" fill="hold">
                                          <p:stCondLst>
                                            <p:cond delay="0"/>
                                          </p:stCondLst>
                                        </p:cTn>
                                        <p:tgtEl>
                                          <p:spTgt spid="108"/>
                                        </p:tgtEl>
                                        <p:attrNameLst>
                                          <p:attrName>style.visibility</p:attrName>
                                        </p:attrNameLst>
                                      </p:cBhvr>
                                      <p:to>
                                        <p:strVal val="visible"/>
                                      </p:to>
                                    </p:set>
                                    <p:animEffect transition="in" filter="fade">
                                      <p:cBhvr>
                                        <p:cTn id="85"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6" grpId="0"/>
      <p:bldP spid="12" grpId="0"/>
      <p:bldP spid="96" grpId="0" animBg="1"/>
      <p:bldP spid="39" grpId="0" animBg="1"/>
      <p:bldP spid="3"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8"/>
          <p:cNvSpPr/>
          <p:nvPr/>
        </p:nvSpPr>
        <p:spPr>
          <a:xfrm>
            <a:off x="493250" y="457433"/>
            <a:ext cx="2359078" cy="6621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endParaRPr sz="1800" i="0" u="none" strike="noStrike" cap="none" dirty="0">
              <a:solidFill>
                <a:schemeClr val="accent6">
                  <a:lumMod val="60000"/>
                  <a:lumOff val="40000"/>
                </a:schemeClr>
              </a:solidFill>
            </a:endParaRPr>
          </a:p>
          <a:p>
            <a:pPr marL="101600" lvl="0">
              <a:buClr>
                <a:srgbClr val="C55A11"/>
              </a:buClr>
              <a:buSzPts val="2000"/>
            </a:pPr>
            <a:r>
              <a:rPr lang="fr-FR" sz="2400" b="1" dirty="0">
                <a:solidFill>
                  <a:schemeClr val="accent6">
                    <a:lumMod val="60000"/>
                    <a:lumOff val="40000"/>
                  </a:schemeClr>
                </a:solidFill>
              </a:rPr>
              <a:t>   Méthodologie</a:t>
            </a:r>
            <a:endParaRPr sz="1800" i="0" u="none" strike="noStrike" cap="none" dirty="0">
              <a:solidFill>
                <a:schemeClr val="accent6">
                  <a:lumMod val="60000"/>
                  <a:lumOff val="40000"/>
                </a:schemeClr>
              </a:solidFill>
            </a:endParaRPr>
          </a:p>
        </p:txBody>
      </p:sp>
      <p:sp>
        <p:nvSpPr>
          <p:cNvPr id="75" name="AutoShape 6" descr="Homme d&amp;#39;affaires mignon ou gestionnaire tenant un mégaphone ..."/>
          <p:cNvSpPr>
            <a:spLocks noChangeAspect="1" noChangeArrowheads="1"/>
          </p:cNvSpPr>
          <p:nvPr/>
        </p:nvSpPr>
        <p:spPr bwMode="auto">
          <a:xfrm>
            <a:off x="1175175" y="8886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6" name="AutoShape 8" descr="Homme d&amp;#39;affaires mignon ou gestionnaire tenant un mégaphone ..."/>
          <p:cNvSpPr>
            <a:spLocks noChangeAspect="1" noChangeArrowheads="1"/>
          </p:cNvSpPr>
          <p:nvPr/>
        </p:nvSpPr>
        <p:spPr bwMode="auto">
          <a:xfrm>
            <a:off x="1327575" y="10410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7" name="AutoShape 12" descr="Homme d&amp;#39;affaires mignon ou gestionnaire tenant un mégaphone ..."/>
          <p:cNvSpPr>
            <a:spLocks noChangeAspect="1" noChangeArrowheads="1"/>
          </p:cNvSpPr>
          <p:nvPr/>
        </p:nvSpPr>
        <p:spPr bwMode="auto">
          <a:xfrm>
            <a:off x="1479975" y="1193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pSp>
        <p:nvGrpSpPr>
          <p:cNvPr id="90" name="Google Shape;248;p19"/>
          <p:cNvGrpSpPr/>
          <p:nvPr/>
        </p:nvGrpSpPr>
        <p:grpSpPr>
          <a:xfrm>
            <a:off x="70939" y="195869"/>
            <a:ext cx="10399334" cy="650938"/>
            <a:chOff x="-75649" y="-19950"/>
            <a:chExt cx="10109200" cy="650938"/>
          </a:xfrm>
        </p:grpSpPr>
        <p:sp>
          <p:nvSpPr>
            <p:cNvPr id="91" name="Google Shape;250;p19"/>
            <p:cNvSpPr txBox="1"/>
            <p:nvPr/>
          </p:nvSpPr>
          <p:spPr>
            <a:xfrm>
              <a:off x="-75649" y="18926"/>
              <a:ext cx="2167800" cy="584700"/>
            </a:xfrm>
            <a:prstGeom prst="rect">
              <a:avLst/>
            </a:prstGeom>
            <a:solidFill>
              <a:schemeClr val="accent6">
                <a:lumMod val="60000"/>
                <a:lumOff val="40000"/>
              </a:schemeClr>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92" name="Google Shape;251;p19"/>
            <p:cNvSpPr/>
            <p:nvPr/>
          </p:nvSpPr>
          <p:spPr>
            <a:xfrm>
              <a:off x="1778963" y="0"/>
              <a:ext cx="26382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100" name="Google Shape;252;p19"/>
            <p:cNvSpPr txBox="1"/>
            <p:nvPr/>
          </p:nvSpPr>
          <p:spPr>
            <a:xfrm>
              <a:off x="2071350" y="0"/>
              <a:ext cx="2053500" cy="584700"/>
            </a:xfrm>
            <a:prstGeom prst="rect">
              <a:avLst/>
            </a:prstGeom>
            <a:no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105" name="Google Shape;253;p19"/>
            <p:cNvSpPr/>
            <p:nvPr/>
          </p:nvSpPr>
          <p:spPr>
            <a:xfrm>
              <a:off x="4023490" y="0"/>
              <a:ext cx="19680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fr-FR" sz="1400" i="0" u="none" strike="noStrike" cap="none" dirty="0">
                  <a:solidFill>
                    <a:schemeClr val="lt1"/>
                  </a:solidFill>
                </a:rPr>
                <a:t> </a:t>
              </a:r>
              <a:endParaRPr sz="1400" i="0" u="none" strike="noStrike" cap="none" dirty="0">
                <a:solidFill>
                  <a:schemeClr val="lt1"/>
                </a:solidFill>
              </a:endParaRPr>
            </a:p>
          </p:txBody>
        </p:sp>
        <p:sp>
          <p:nvSpPr>
            <p:cNvPr id="109" name="Google Shape;254;p19"/>
            <p:cNvSpPr txBox="1"/>
            <p:nvPr/>
          </p:nvSpPr>
          <p:spPr>
            <a:xfrm>
              <a:off x="4261955" y="0"/>
              <a:ext cx="14373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110"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111" name="Google Shape;256;p19"/>
            <p:cNvSpPr txBox="1"/>
            <p:nvPr/>
          </p:nvSpPr>
          <p:spPr>
            <a:xfrm>
              <a:off x="5872496" y="-19950"/>
              <a:ext cx="18417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112"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113"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5</a:t>
              </a:r>
              <a:r>
                <a:rPr lang="fr-FR" sz="1700" b="1" i="0" u="none" strike="noStrike" cap="none" dirty="0">
                  <a:solidFill>
                    <a:schemeClr val="lt1"/>
                  </a:solidFill>
                </a:rPr>
                <a:t>.Conclusion et Perspectives</a:t>
              </a:r>
              <a:endParaRPr sz="1400" b="1" i="0" u="none" strike="noStrike" cap="none" dirty="0">
                <a:solidFill>
                  <a:schemeClr val="lt1"/>
                </a:solidFill>
              </a:endParaRPr>
            </a:p>
          </p:txBody>
        </p:sp>
      </p:grpSp>
      <p:sp>
        <p:nvSpPr>
          <p:cNvPr id="114" name="object 5"/>
          <p:cNvSpPr/>
          <p:nvPr/>
        </p:nvSpPr>
        <p:spPr>
          <a:xfrm>
            <a:off x="58218"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pic>
        <p:nvPicPr>
          <p:cNvPr id="3" name="Image 2">
            <a:extLst>
              <a:ext uri="{FF2B5EF4-FFF2-40B4-BE49-F238E27FC236}">
                <a16:creationId xmlns:a16="http://schemas.microsoft.com/office/drawing/2014/main" id="{FFF3B26B-ED38-4F88-B68B-526CFE975904}"/>
              </a:ext>
            </a:extLst>
          </p:cNvPr>
          <p:cNvPicPr>
            <a:picLocks noChangeAspect="1"/>
          </p:cNvPicPr>
          <p:nvPr/>
        </p:nvPicPr>
        <p:blipFill>
          <a:blip r:embed="rId3"/>
          <a:stretch>
            <a:fillRect/>
          </a:stretch>
        </p:blipFill>
        <p:spPr>
          <a:xfrm>
            <a:off x="1500498" y="1769889"/>
            <a:ext cx="8684842" cy="4581956"/>
          </a:xfrm>
          <a:prstGeom prst="rect">
            <a:avLst/>
          </a:prstGeom>
        </p:spPr>
      </p:pic>
      <p:sp>
        <p:nvSpPr>
          <p:cNvPr id="18" name="Espace réservé du numéro de diapositive 1">
            <a:extLst>
              <a:ext uri="{FF2B5EF4-FFF2-40B4-BE49-F238E27FC236}">
                <a16:creationId xmlns:a16="http://schemas.microsoft.com/office/drawing/2014/main" id="{DC65C7D0-170E-4D0E-B38F-6A2448A12DAD}"/>
              </a:ext>
            </a:extLst>
          </p:cNvPr>
          <p:cNvSpPr>
            <a:spLocks noGrp="1"/>
          </p:cNvSpPr>
          <p:nvPr>
            <p:ph type="sldNum" idx="12"/>
          </p:nvPr>
        </p:nvSpPr>
        <p:spPr>
          <a:xfrm>
            <a:off x="11531600" y="6325870"/>
            <a:ext cx="299720" cy="365125"/>
          </a:xfrm>
        </p:spPr>
        <p:txBody>
          <a:bodyPr/>
          <a:lstStyle/>
          <a:p>
            <a:pPr marL="0" lvl="0" indent="0" algn="r" rtl="0">
              <a:spcBef>
                <a:spcPts val="0"/>
              </a:spcBef>
              <a:spcAft>
                <a:spcPts val="0"/>
              </a:spcAft>
              <a:buNone/>
            </a:pPr>
            <a:r>
              <a:rPr lang="fr-FR" dirty="0"/>
              <a:t>6</a:t>
            </a:r>
          </a:p>
        </p:txBody>
      </p:sp>
    </p:spTree>
    <p:extLst>
      <p:ext uri="{BB962C8B-B14F-4D97-AF65-F5344CB8AC3E}">
        <p14:creationId xmlns:p14="http://schemas.microsoft.com/office/powerpoint/2010/main" val="128251635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5"/>
          <p:cNvSpPr/>
          <p:nvPr/>
        </p:nvSpPr>
        <p:spPr>
          <a:xfrm>
            <a:off x="81293" y="82128"/>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8" name="object 2"/>
          <p:cNvSpPr/>
          <p:nvPr/>
        </p:nvSpPr>
        <p:spPr>
          <a:xfrm>
            <a:off x="2272101" y="2852843"/>
            <a:ext cx="9838605" cy="1152313"/>
          </a:xfrm>
          <a:custGeom>
            <a:avLst/>
            <a:gdLst/>
            <a:ahLst/>
            <a:cxnLst/>
            <a:rect l="l" t="t" r="r" b="b"/>
            <a:pathLst>
              <a:path w="8507095" h="864235">
                <a:moveTo>
                  <a:pt x="8506968" y="0"/>
                </a:moveTo>
                <a:lnTo>
                  <a:pt x="0" y="0"/>
                </a:lnTo>
                <a:lnTo>
                  <a:pt x="0" y="864107"/>
                </a:lnTo>
                <a:lnTo>
                  <a:pt x="8506968" y="864107"/>
                </a:lnTo>
                <a:lnTo>
                  <a:pt x="8506968" y="0"/>
                </a:lnTo>
                <a:close/>
              </a:path>
            </a:pathLst>
          </a:custGeom>
          <a:solidFill>
            <a:schemeClr val="accent6">
              <a:lumMod val="60000"/>
              <a:lumOff val="40000"/>
            </a:schemeClr>
          </a:solidFill>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9" name="object 3"/>
          <p:cNvSpPr txBox="1">
            <a:spLocks noGrp="1"/>
          </p:cNvSpPr>
          <p:nvPr>
            <p:ph type="title"/>
          </p:nvPr>
        </p:nvSpPr>
        <p:spPr>
          <a:xfrm>
            <a:off x="4982046" y="3247921"/>
            <a:ext cx="3657600" cy="362321"/>
          </a:xfrm>
          <a:prstGeom prst="rect">
            <a:avLst/>
          </a:prstGeom>
        </p:spPr>
        <p:txBody>
          <a:bodyPr vert="horz" wrap="square" lIns="0" tIns="16933" rIns="0" bIns="0" rtlCol="0">
            <a:spAutoFit/>
          </a:bodyPr>
          <a:lstStyle/>
          <a:p>
            <a:pPr marL="16933" lvl="0" algn="l" rtl="0">
              <a:spcBef>
                <a:spcPts val="133"/>
              </a:spcBef>
            </a:pPr>
            <a:r>
              <a:rPr lang="fr-FR" sz="2400" b="1" dirty="0">
                <a:solidFill>
                  <a:schemeClr val="bg1"/>
                </a:solidFill>
                <a:latin typeface="+mj-lt"/>
              </a:rPr>
              <a:t>Analyse des besoins</a:t>
            </a:r>
            <a:endParaRPr sz="2400" b="1" spc="-13" dirty="0">
              <a:solidFill>
                <a:schemeClr val="bg1"/>
              </a:solidFill>
              <a:latin typeface="+mj-lt"/>
            </a:endParaRPr>
          </a:p>
        </p:txBody>
      </p:sp>
      <p:pic>
        <p:nvPicPr>
          <p:cNvPr id="10" name="object 6"/>
          <p:cNvPicPr/>
          <p:nvPr/>
        </p:nvPicPr>
        <p:blipFill>
          <a:blip r:embed="rId3" cstate="print"/>
          <a:stretch>
            <a:fillRect/>
          </a:stretch>
        </p:blipFill>
        <p:spPr>
          <a:xfrm>
            <a:off x="3572681" y="2962465"/>
            <a:ext cx="919915" cy="933234"/>
          </a:xfrm>
          <a:prstGeom prst="rect">
            <a:avLst/>
          </a:prstGeom>
        </p:spPr>
      </p:pic>
      <p:sp>
        <p:nvSpPr>
          <p:cNvPr id="2" name="Espace réservé du numéro de diapositive 1">
            <a:extLst>
              <a:ext uri="{FF2B5EF4-FFF2-40B4-BE49-F238E27FC236}">
                <a16:creationId xmlns:a16="http://schemas.microsoft.com/office/drawing/2014/main" id="{C54068A1-3651-4D2D-89BD-6E47E677DEA9}"/>
              </a:ext>
            </a:extLst>
          </p:cNvPr>
          <p:cNvSpPr>
            <a:spLocks noGrp="1"/>
          </p:cNvSpPr>
          <p:nvPr>
            <p:ph type="sldNum" idx="12"/>
          </p:nvPr>
        </p:nvSpPr>
        <p:spPr>
          <a:xfrm>
            <a:off x="11693476" y="6336030"/>
            <a:ext cx="299720" cy="365125"/>
          </a:xfrm>
        </p:spPr>
        <p:txBody>
          <a:bodyPr/>
          <a:lstStyle/>
          <a:p>
            <a:pPr marL="0" lvl="0" indent="0" algn="r" rtl="0">
              <a:spcBef>
                <a:spcPts val="0"/>
              </a:spcBef>
              <a:spcAft>
                <a:spcPts val="0"/>
              </a:spcAft>
              <a:buNone/>
            </a:pPr>
            <a:r>
              <a:rPr lang="fr-FR" dirty="0"/>
              <a:t>7</a:t>
            </a:r>
          </a:p>
        </p:txBody>
      </p:sp>
    </p:spTree>
    <p:extLst>
      <p:ext uri="{BB962C8B-B14F-4D97-AF65-F5344CB8AC3E}">
        <p14:creationId xmlns:p14="http://schemas.microsoft.com/office/powerpoint/2010/main" val="3309800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2"/>
          <p:cNvSpPr txBox="1"/>
          <p:nvPr/>
        </p:nvSpPr>
        <p:spPr>
          <a:xfrm>
            <a:off x="284591" y="1123327"/>
            <a:ext cx="8476800" cy="492412"/>
          </a:xfrm>
          <a:prstGeom prst="rect">
            <a:avLst/>
          </a:prstGeom>
          <a:noFill/>
          <a:ln>
            <a:noFill/>
          </a:ln>
        </p:spPr>
        <p:txBody>
          <a:bodyPr spcFirstLastPara="1" wrap="square" lIns="91425" tIns="91425" rIns="91425" bIns="91425" anchor="t" anchorCtr="0">
            <a:spAutoFit/>
          </a:bodyPr>
          <a:lstStyle/>
          <a:p>
            <a:pPr marL="101600" marR="0" lvl="0" algn="l" rtl="0">
              <a:lnSpc>
                <a:spcPct val="100000"/>
              </a:lnSpc>
              <a:spcBef>
                <a:spcPts val="0"/>
              </a:spcBef>
              <a:spcAft>
                <a:spcPts val="0"/>
              </a:spcAft>
              <a:buClr>
                <a:srgbClr val="C55A11"/>
              </a:buClr>
              <a:buSzPts val="2000"/>
            </a:pPr>
            <a:r>
              <a:rPr lang="fr-FR" sz="2000" b="1" dirty="0">
                <a:solidFill>
                  <a:schemeClr val="accent6">
                    <a:lumMod val="60000"/>
                    <a:lumOff val="40000"/>
                  </a:schemeClr>
                </a:solidFill>
              </a:rPr>
              <a:t>Identification des acteurs</a:t>
            </a:r>
            <a:endParaRPr sz="1600" i="0" u="none" strike="noStrike" cap="none" dirty="0">
              <a:solidFill>
                <a:schemeClr val="accent6">
                  <a:lumMod val="60000"/>
                  <a:lumOff val="40000"/>
                </a:schemeClr>
              </a:solidFill>
            </a:endParaRPr>
          </a:p>
        </p:txBody>
      </p:sp>
      <p:sp>
        <p:nvSpPr>
          <p:cNvPr id="315" name="Google Shape;315;p22"/>
          <p:cNvSpPr txBox="1"/>
          <p:nvPr/>
        </p:nvSpPr>
        <p:spPr>
          <a:xfrm>
            <a:off x="1007954" y="4488123"/>
            <a:ext cx="3269728" cy="49241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fr-FR" sz="2000" b="1" dirty="0">
                <a:latin typeface="+mj-lt"/>
                <a:ea typeface="Calibri"/>
                <a:cs typeface="Calibri"/>
                <a:sym typeface="Calibri"/>
              </a:rPr>
              <a:t>Visiteur</a:t>
            </a:r>
            <a:endParaRPr sz="2000" b="1" dirty="0">
              <a:latin typeface="+mj-lt"/>
              <a:ea typeface="Calibri"/>
              <a:cs typeface="Calibri"/>
              <a:sym typeface="Calibri"/>
            </a:endParaRPr>
          </a:p>
        </p:txBody>
      </p:sp>
      <p:grpSp>
        <p:nvGrpSpPr>
          <p:cNvPr id="29" name="Google Shape;248;p19"/>
          <p:cNvGrpSpPr/>
          <p:nvPr/>
        </p:nvGrpSpPr>
        <p:grpSpPr>
          <a:xfrm>
            <a:off x="94328" y="269603"/>
            <a:ext cx="10365904" cy="650938"/>
            <a:chOff x="-43152" y="-19950"/>
            <a:chExt cx="10076703" cy="650938"/>
          </a:xfrm>
        </p:grpSpPr>
        <p:sp>
          <p:nvSpPr>
            <p:cNvPr id="30" name="Google Shape;250;p19"/>
            <p:cNvSpPr txBox="1"/>
            <p:nvPr/>
          </p:nvSpPr>
          <p:spPr>
            <a:xfrm>
              <a:off x="-43152" y="6652"/>
              <a:ext cx="2167800" cy="584700"/>
            </a:xfrm>
            <a:prstGeom prst="rect">
              <a:avLst/>
            </a:prstGeom>
            <a:solidFill>
              <a:srgbClr val="AEABAB"/>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31" name="Google Shape;251;p19"/>
            <p:cNvSpPr/>
            <p:nvPr/>
          </p:nvSpPr>
          <p:spPr>
            <a:xfrm>
              <a:off x="1778963" y="0"/>
              <a:ext cx="26382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32" name="Google Shape;252;p19"/>
            <p:cNvSpPr txBox="1"/>
            <p:nvPr/>
          </p:nvSpPr>
          <p:spPr>
            <a:xfrm>
              <a:off x="2071350" y="0"/>
              <a:ext cx="20535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33" name="Google Shape;253;p19"/>
            <p:cNvSpPr/>
            <p:nvPr/>
          </p:nvSpPr>
          <p:spPr>
            <a:xfrm>
              <a:off x="4023490" y="0"/>
              <a:ext cx="19680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34" name="Google Shape;254;p19"/>
            <p:cNvSpPr txBox="1"/>
            <p:nvPr/>
          </p:nvSpPr>
          <p:spPr>
            <a:xfrm>
              <a:off x="4261955" y="0"/>
              <a:ext cx="14373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35"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36" name="Google Shape;256;p19"/>
            <p:cNvSpPr txBox="1"/>
            <p:nvPr/>
          </p:nvSpPr>
          <p:spPr>
            <a:xfrm>
              <a:off x="5872496" y="-19950"/>
              <a:ext cx="1841700" cy="584700"/>
            </a:xfrm>
            <a:prstGeom prst="rect">
              <a:avLst/>
            </a:prstGeom>
            <a:solidFill>
              <a:srgbClr val="AEABAB"/>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37"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38"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5</a:t>
              </a:r>
              <a:r>
                <a:rPr lang="fr-FR" sz="1700" b="1" i="0" u="none" strike="noStrike" cap="none" dirty="0">
                  <a:solidFill>
                    <a:schemeClr val="lt1"/>
                  </a:solidFill>
                </a:rPr>
                <a:t>.Conclusion et Perspectives</a:t>
              </a:r>
              <a:endParaRPr sz="1400" b="1" i="0" u="none" strike="noStrike" cap="none" dirty="0">
                <a:solidFill>
                  <a:schemeClr val="lt1"/>
                </a:solidFill>
              </a:endParaRPr>
            </a:p>
          </p:txBody>
        </p:sp>
      </p:grpSp>
      <p:sp>
        <p:nvSpPr>
          <p:cNvPr id="39" name="object 5"/>
          <p:cNvSpPr/>
          <p:nvPr/>
        </p:nvSpPr>
        <p:spPr>
          <a:xfrm>
            <a:off x="68259"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2" name="Espace réservé du numéro de diapositive 1">
            <a:extLst>
              <a:ext uri="{FF2B5EF4-FFF2-40B4-BE49-F238E27FC236}">
                <a16:creationId xmlns:a16="http://schemas.microsoft.com/office/drawing/2014/main" id="{86264E2D-262D-4F2F-BE72-AD84822B3B45}"/>
              </a:ext>
            </a:extLst>
          </p:cNvPr>
          <p:cNvSpPr>
            <a:spLocks noGrp="1"/>
          </p:cNvSpPr>
          <p:nvPr>
            <p:ph type="sldNum" idx="12"/>
          </p:nvPr>
        </p:nvSpPr>
        <p:spPr>
          <a:xfrm>
            <a:off x="11633200" y="6329467"/>
            <a:ext cx="320040" cy="365125"/>
          </a:xfrm>
        </p:spPr>
        <p:txBody>
          <a:bodyPr/>
          <a:lstStyle/>
          <a:p>
            <a:pPr marL="0" lvl="0" indent="0" algn="r" rtl="0">
              <a:spcBef>
                <a:spcPts val="0"/>
              </a:spcBef>
              <a:spcAft>
                <a:spcPts val="0"/>
              </a:spcAft>
              <a:buNone/>
            </a:pPr>
            <a:r>
              <a:rPr lang="fr-FR" dirty="0"/>
              <a:t>8</a:t>
            </a:r>
          </a:p>
        </p:txBody>
      </p:sp>
      <p:pic>
        <p:nvPicPr>
          <p:cNvPr id="4" name="Image 3">
            <a:extLst>
              <a:ext uri="{FF2B5EF4-FFF2-40B4-BE49-F238E27FC236}">
                <a16:creationId xmlns:a16="http://schemas.microsoft.com/office/drawing/2014/main" id="{D9C36322-B746-40F0-8509-9316901F9930}"/>
              </a:ext>
            </a:extLst>
          </p:cNvPr>
          <p:cNvPicPr>
            <a:picLocks noChangeAspect="1"/>
          </p:cNvPicPr>
          <p:nvPr/>
        </p:nvPicPr>
        <p:blipFill>
          <a:blip r:embed="rId3"/>
          <a:stretch>
            <a:fillRect/>
          </a:stretch>
        </p:blipFill>
        <p:spPr>
          <a:xfrm>
            <a:off x="1785693" y="2720283"/>
            <a:ext cx="1676095" cy="1767840"/>
          </a:xfrm>
          <a:prstGeom prst="rect">
            <a:avLst/>
          </a:prstGeom>
        </p:spPr>
      </p:pic>
      <p:pic>
        <p:nvPicPr>
          <p:cNvPr id="8" name="Image 7">
            <a:extLst>
              <a:ext uri="{FF2B5EF4-FFF2-40B4-BE49-F238E27FC236}">
                <a16:creationId xmlns:a16="http://schemas.microsoft.com/office/drawing/2014/main" id="{0928D8D1-D61E-41FB-88EE-0A8113F4CA8F}"/>
              </a:ext>
            </a:extLst>
          </p:cNvPr>
          <p:cNvPicPr>
            <a:picLocks noChangeAspect="1"/>
          </p:cNvPicPr>
          <p:nvPr/>
        </p:nvPicPr>
        <p:blipFill>
          <a:blip r:embed="rId4"/>
          <a:stretch>
            <a:fillRect/>
          </a:stretch>
        </p:blipFill>
        <p:spPr>
          <a:xfrm>
            <a:off x="4837400" y="2660085"/>
            <a:ext cx="1814091" cy="1814091"/>
          </a:xfrm>
          <a:prstGeom prst="rect">
            <a:avLst/>
          </a:prstGeom>
        </p:spPr>
      </p:pic>
      <p:sp>
        <p:nvSpPr>
          <p:cNvPr id="11" name="ZoneTexte 10">
            <a:extLst>
              <a:ext uri="{FF2B5EF4-FFF2-40B4-BE49-F238E27FC236}">
                <a16:creationId xmlns:a16="http://schemas.microsoft.com/office/drawing/2014/main" id="{442F8262-E238-41C4-AE4A-10C4FD4D45FE}"/>
              </a:ext>
            </a:extLst>
          </p:cNvPr>
          <p:cNvSpPr txBox="1"/>
          <p:nvPr/>
        </p:nvSpPr>
        <p:spPr>
          <a:xfrm>
            <a:off x="5269407" y="4566478"/>
            <a:ext cx="2314689" cy="400110"/>
          </a:xfrm>
          <a:prstGeom prst="rect">
            <a:avLst/>
          </a:prstGeom>
          <a:noFill/>
        </p:spPr>
        <p:txBody>
          <a:bodyPr wrap="square" rtlCol="0">
            <a:spAutoFit/>
          </a:bodyPr>
          <a:lstStyle/>
          <a:p>
            <a:r>
              <a:rPr lang="fr-FR" sz="2000" b="1" dirty="0"/>
              <a:t>Client</a:t>
            </a:r>
          </a:p>
        </p:txBody>
      </p:sp>
      <p:pic>
        <p:nvPicPr>
          <p:cNvPr id="13" name="Image 12">
            <a:extLst>
              <a:ext uri="{FF2B5EF4-FFF2-40B4-BE49-F238E27FC236}">
                <a16:creationId xmlns:a16="http://schemas.microsoft.com/office/drawing/2014/main" id="{8AEB83B4-3192-4AD1-A254-F6CE568667A6}"/>
              </a:ext>
            </a:extLst>
          </p:cNvPr>
          <p:cNvPicPr>
            <a:picLocks noChangeAspect="1"/>
          </p:cNvPicPr>
          <p:nvPr/>
        </p:nvPicPr>
        <p:blipFill>
          <a:blip r:embed="rId5"/>
          <a:stretch>
            <a:fillRect/>
          </a:stretch>
        </p:blipFill>
        <p:spPr>
          <a:xfrm>
            <a:off x="8027103" y="2766156"/>
            <a:ext cx="2089260" cy="1676095"/>
          </a:xfrm>
          <a:prstGeom prst="rect">
            <a:avLst/>
          </a:prstGeom>
        </p:spPr>
      </p:pic>
      <p:sp>
        <p:nvSpPr>
          <p:cNvPr id="14" name="ZoneTexte 13">
            <a:extLst>
              <a:ext uri="{FF2B5EF4-FFF2-40B4-BE49-F238E27FC236}">
                <a16:creationId xmlns:a16="http://schemas.microsoft.com/office/drawing/2014/main" id="{424F79B0-032C-4AB7-8C5B-C1BDE3F06CEF}"/>
              </a:ext>
            </a:extLst>
          </p:cNvPr>
          <p:cNvSpPr txBox="1"/>
          <p:nvPr/>
        </p:nvSpPr>
        <p:spPr>
          <a:xfrm>
            <a:off x="8074312" y="4520327"/>
            <a:ext cx="2497292" cy="400110"/>
          </a:xfrm>
          <a:prstGeom prst="rect">
            <a:avLst/>
          </a:prstGeom>
          <a:noFill/>
        </p:spPr>
        <p:txBody>
          <a:bodyPr wrap="square" rtlCol="0">
            <a:spAutoFit/>
          </a:bodyPr>
          <a:lstStyle/>
          <a:p>
            <a:r>
              <a:rPr lang="fr-FR" sz="2000" b="1" dirty="0"/>
              <a:t>Administrateur</a:t>
            </a:r>
          </a:p>
        </p:txBody>
      </p:sp>
    </p:spTree>
    <p:extLst>
      <p:ext uri="{BB962C8B-B14F-4D97-AF65-F5344CB8AC3E}">
        <p14:creationId xmlns:p14="http://schemas.microsoft.com/office/powerpoint/2010/main" val="322760566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15"/>
                                        </p:tgtEl>
                                        <p:attrNameLst>
                                          <p:attrName>style.visibility</p:attrName>
                                        </p:attrNameLst>
                                      </p:cBhvr>
                                      <p:to>
                                        <p:strVal val="visible"/>
                                      </p:to>
                                    </p:set>
                                    <p:animEffect transition="in" filter="wipe(down)">
                                      <p:cBhvr>
                                        <p:cTn id="10" dur="500"/>
                                        <p:tgtEl>
                                          <p:spTgt spid="31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down)">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down)">
                                      <p:cBhvr>
                                        <p:cTn id="23" dur="500"/>
                                        <p:tgtEl>
                                          <p:spTgt spid="13"/>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down)">
                                      <p:cBhvr>
                                        <p:cTn id="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 grpId="0"/>
      <p:bldP spid="11"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25"/>
          <p:cNvSpPr txBox="1"/>
          <p:nvPr/>
        </p:nvSpPr>
        <p:spPr>
          <a:xfrm>
            <a:off x="169250" y="1108782"/>
            <a:ext cx="8476800" cy="492412"/>
          </a:xfrm>
          <a:prstGeom prst="rect">
            <a:avLst/>
          </a:prstGeom>
          <a:noFill/>
          <a:ln>
            <a:noFill/>
          </a:ln>
        </p:spPr>
        <p:txBody>
          <a:bodyPr spcFirstLastPara="1" wrap="square" lIns="91425" tIns="91425" rIns="91425" bIns="91425" anchor="t" anchorCtr="0">
            <a:spAutoFit/>
          </a:bodyPr>
          <a:lstStyle/>
          <a:p>
            <a:pPr marL="101600" marR="0" lvl="0" algn="l" rtl="0">
              <a:lnSpc>
                <a:spcPct val="100000"/>
              </a:lnSpc>
              <a:spcBef>
                <a:spcPts val="0"/>
              </a:spcBef>
              <a:spcAft>
                <a:spcPts val="0"/>
              </a:spcAft>
              <a:buClr>
                <a:srgbClr val="833C0B"/>
              </a:buClr>
              <a:buSzPts val="2000"/>
            </a:pPr>
            <a:r>
              <a:rPr lang="fr-FR" sz="2000" b="1" i="0" u="none" strike="noStrike" cap="none" dirty="0">
                <a:solidFill>
                  <a:schemeClr val="accent6">
                    <a:lumMod val="60000"/>
                    <a:lumOff val="40000"/>
                  </a:schemeClr>
                </a:solidFill>
              </a:rPr>
              <a:t>Besoins fonctionnels </a:t>
            </a:r>
            <a:endParaRPr sz="2000" b="1" i="0" u="none" strike="noStrike" cap="none" dirty="0">
              <a:solidFill>
                <a:schemeClr val="accent6">
                  <a:lumMod val="60000"/>
                  <a:lumOff val="40000"/>
                </a:schemeClr>
              </a:solidFill>
            </a:endParaRPr>
          </a:p>
        </p:txBody>
      </p:sp>
      <p:grpSp>
        <p:nvGrpSpPr>
          <p:cNvPr id="22" name="Google Shape;248;p19"/>
          <p:cNvGrpSpPr/>
          <p:nvPr/>
        </p:nvGrpSpPr>
        <p:grpSpPr>
          <a:xfrm>
            <a:off x="94328" y="269603"/>
            <a:ext cx="10365904" cy="650938"/>
            <a:chOff x="-43152" y="-19950"/>
            <a:chExt cx="10076703" cy="650938"/>
          </a:xfrm>
        </p:grpSpPr>
        <p:sp>
          <p:nvSpPr>
            <p:cNvPr id="23" name="Google Shape;250;p19"/>
            <p:cNvSpPr txBox="1"/>
            <p:nvPr/>
          </p:nvSpPr>
          <p:spPr>
            <a:xfrm>
              <a:off x="-43152" y="6652"/>
              <a:ext cx="2167800" cy="584700"/>
            </a:xfrm>
            <a:prstGeom prst="rect">
              <a:avLst/>
            </a:prstGeom>
            <a:solidFill>
              <a:srgbClr val="AEABAB"/>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24" name="Google Shape;251;p19"/>
            <p:cNvSpPr/>
            <p:nvPr/>
          </p:nvSpPr>
          <p:spPr>
            <a:xfrm>
              <a:off x="1778963" y="0"/>
              <a:ext cx="26382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5" name="Google Shape;252;p19"/>
            <p:cNvSpPr txBox="1"/>
            <p:nvPr/>
          </p:nvSpPr>
          <p:spPr>
            <a:xfrm>
              <a:off x="2071350" y="0"/>
              <a:ext cx="20535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26" name="Google Shape;253;p19"/>
            <p:cNvSpPr/>
            <p:nvPr/>
          </p:nvSpPr>
          <p:spPr>
            <a:xfrm>
              <a:off x="4023490" y="0"/>
              <a:ext cx="19680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7" name="Google Shape;254;p19"/>
            <p:cNvSpPr txBox="1"/>
            <p:nvPr/>
          </p:nvSpPr>
          <p:spPr>
            <a:xfrm>
              <a:off x="4261955" y="0"/>
              <a:ext cx="14373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3.Conception</a:t>
              </a:r>
              <a:endParaRPr sz="1400" b="1" i="0" u="none" strike="noStrike" cap="none">
                <a:solidFill>
                  <a:schemeClr val="lt1"/>
                </a:solidFill>
              </a:endParaRPr>
            </a:p>
          </p:txBody>
        </p:sp>
        <p:sp>
          <p:nvSpPr>
            <p:cNvPr id="28"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9" name="Google Shape;256;p19"/>
            <p:cNvSpPr txBox="1"/>
            <p:nvPr/>
          </p:nvSpPr>
          <p:spPr>
            <a:xfrm>
              <a:off x="5872496" y="-19950"/>
              <a:ext cx="18417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30"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31"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5</a:t>
              </a:r>
              <a:r>
                <a:rPr lang="fr-FR" sz="1700" b="1" i="0" u="none" strike="noStrike" cap="none">
                  <a:solidFill>
                    <a:schemeClr val="lt1"/>
                  </a:solidFill>
                </a:rPr>
                <a:t>.Conclusion et Perspectives</a:t>
              </a:r>
              <a:endParaRPr sz="1400" b="1" i="0" u="none" strike="noStrike" cap="none">
                <a:solidFill>
                  <a:schemeClr val="lt1"/>
                </a:solidFill>
              </a:endParaRPr>
            </a:p>
          </p:txBody>
        </p:sp>
      </p:grpSp>
      <p:sp>
        <p:nvSpPr>
          <p:cNvPr id="32" name="object 5"/>
          <p:cNvSpPr/>
          <p:nvPr/>
        </p:nvSpPr>
        <p:spPr>
          <a:xfrm>
            <a:off x="68259"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grpSp>
        <p:nvGrpSpPr>
          <p:cNvPr id="33" name="Group 18">
            <a:extLst>
              <a:ext uri="{FF2B5EF4-FFF2-40B4-BE49-F238E27FC236}">
                <a16:creationId xmlns:a16="http://schemas.microsoft.com/office/drawing/2014/main" id="{41DE3E05-1FDA-467D-7ACA-46FE6E0CE41C}"/>
              </a:ext>
            </a:extLst>
          </p:cNvPr>
          <p:cNvGrpSpPr/>
          <p:nvPr/>
        </p:nvGrpSpPr>
        <p:grpSpPr>
          <a:xfrm>
            <a:off x="4848064" y="2939328"/>
            <a:ext cx="2488404" cy="2493914"/>
            <a:chOff x="4308506" y="1641506"/>
            <a:chExt cx="3574990" cy="3574990"/>
          </a:xfrm>
        </p:grpSpPr>
        <p:sp>
          <p:nvSpPr>
            <p:cNvPr id="34" name="Freeform 10">
              <a:extLst>
                <a:ext uri="{FF2B5EF4-FFF2-40B4-BE49-F238E27FC236}">
                  <a16:creationId xmlns:a16="http://schemas.microsoft.com/office/drawing/2014/main" id="{F6537360-876B-5782-69E9-F2830465F49C}"/>
                </a:ext>
              </a:extLst>
            </p:cNvPr>
            <p:cNvSpPr/>
            <p:nvPr/>
          </p:nvSpPr>
          <p:spPr>
            <a:xfrm>
              <a:off x="6273800" y="1641506"/>
              <a:ext cx="960390" cy="636372"/>
            </a:xfrm>
            <a:custGeom>
              <a:avLst/>
              <a:gdLst>
                <a:gd name="connsiteX0" fmla="*/ 0 w 960390"/>
                <a:gd name="connsiteY0" fmla="*/ 0 h 636372"/>
                <a:gd name="connsiteX1" fmla="*/ 5880 w 960390"/>
                <a:gd name="connsiteY1" fmla="*/ 297 h 636372"/>
                <a:gd name="connsiteX2" fmla="*/ 826626 w 960390"/>
                <a:gd name="connsiteY2" fmla="*/ 297831 h 636372"/>
                <a:gd name="connsiteX3" fmla="*/ 960390 w 960390"/>
                <a:gd name="connsiteY3" fmla="*/ 397858 h 636372"/>
                <a:gd name="connsiteX4" fmla="*/ 721876 w 960390"/>
                <a:gd name="connsiteY4" fmla="*/ 636372 h 636372"/>
                <a:gd name="connsiteX5" fmla="*/ 639763 w 960390"/>
                <a:gd name="connsiteY5" fmla="*/ 574969 h 636372"/>
                <a:gd name="connsiteX6" fmla="*/ 116897 w 960390"/>
                <a:gd name="connsiteY6" fmla="*/ 354946 h 636372"/>
                <a:gd name="connsiteX7" fmla="*/ 0 w 960390"/>
                <a:gd name="connsiteY7" fmla="*/ 337105 h 636372"/>
                <a:gd name="connsiteX8" fmla="*/ 0 w 960390"/>
                <a:gd name="connsiteY8" fmla="*/ 0 h 63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0390" h="636372">
                  <a:moveTo>
                    <a:pt x="0" y="0"/>
                  </a:moveTo>
                  <a:lnTo>
                    <a:pt x="5880" y="297"/>
                  </a:lnTo>
                  <a:cubicBezTo>
                    <a:pt x="307841" y="30963"/>
                    <a:pt x="587694" y="136412"/>
                    <a:pt x="826626" y="297831"/>
                  </a:cubicBezTo>
                  <a:lnTo>
                    <a:pt x="960390" y="397858"/>
                  </a:lnTo>
                  <a:lnTo>
                    <a:pt x="721876" y="636372"/>
                  </a:lnTo>
                  <a:lnTo>
                    <a:pt x="639763" y="574969"/>
                  </a:lnTo>
                  <a:cubicBezTo>
                    <a:pt x="484178" y="469857"/>
                    <a:pt x="307276" y="393903"/>
                    <a:pt x="116897" y="354946"/>
                  </a:cubicBezTo>
                  <a:lnTo>
                    <a:pt x="0" y="337105"/>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5" name="Freeform 11">
              <a:extLst>
                <a:ext uri="{FF2B5EF4-FFF2-40B4-BE49-F238E27FC236}">
                  <a16:creationId xmlns:a16="http://schemas.microsoft.com/office/drawing/2014/main" id="{9ED06520-666C-6121-A28D-0DA904A4B4C1}"/>
                </a:ext>
              </a:extLst>
            </p:cNvPr>
            <p:cNvSpPr/>
            <p:nvPr/>
          </p:nvSpPr>
          <p:spPr>
            <a:xfrm>
              <a:off x="4944876" y="1641506"/>
              <a:ext cx="973324" cy="672431"/>
            </a:xfrm>
            <a:custGeom>
              <a:avLst/>
              <a:gdLst>
                <a:gd name="connsiteX0" fmla="*/ 960389 w 960389"/>
                <a:gd name="connsiteY0" fmla="*/ 0 h 636372"/>
                <a:gd name="connsiteX1" fmla="*/ 960389 w 960389"/>
                <a:gd name="connsiteY1" fmla="*/ 337105 h 636372"/>
                <a:gd name="connsiteX2" fmla="*/ 843494 w 960389"/>
                <a:gd name="connsiteY2" fmla="*/ 354946 h 636372"/>
                <a:gd name="connsiteX3" fmla="*/ 320628 w 960389"/>
                <a:gd name="connsiteY3" fmla="*/ 574969 h 636372"/>
                <a:gd name="connsiteX4" fmla="*/ 238514 w 960389"/>
                <a:gd name="connsiteY4" fmla="*/ 636372 h 636372"/>
                <a:gd name="connsiteX5" fmla="*/ 0 w 960389"/>
                <a:gd name="connsiteY5" fmla="*/ 397858 h 636372"/>
                <a:gd name="connsiteX6" fmla="*/ 133765 w 960389"/>
                <a:gd name="connsiteY6" fmla="*/ 297831 h 636372"/>
                <a:gd name="connsiteX7" fmla="*/ 954511 w 960389"/>
                <a:gd name="connsiteY7" fmla="*/ 297 h 636372"/>
                <a:gd name="connsiteX8" fmla="*/ 960389 w 960389"/>
                <a:gd name="connsiteY8" fmla="*/ 0 h 63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0389" h="636372">
                  <a:moveTo>
                    <a:pt x="960389" y="0"/>
                  </a:moveTo>
                  <a:lnTo>
                    <a:pt x="960389" y="337105"/>
                  </a:lnTo>
                  <a:lnTo>
                    <a:pt x="843494" y="354946"/>
                  </a:lnTo>
                  <a:cubicBezTo>
                    <a:pt x="653116" y="393903"/>
                    <a:pt x="476214" y="469857"/>
                    <a:pt x="320628" y="574969"/>
                  </a:cubicBezTo>
                  <a:lnTo>
                    <a:pt x="238514" y="636372"/>
                  </a:lnTo>
                  <a:lnTo>
                    <a:pt x="0" y="397858"/>
                  </a:lnTo>
                  <a:lnTo>
                    <a:pt x="133765" y="297831"/>
                  </a:lnTo>
                  <a:cubicBezTo>
                    <a:pt x="372697" y="136412"/>
                    <a:pt x="652550" y="30963"/>
                    <a:pt x="954511" y="297"/>
                  </a:cubicBezTo>
                  <a:lnTo>
                    <a:pt x="960389"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6" name="Freeform 12">
              <a:extLst>
                <a:ext uri="{FF2B5EF4-FFF2-40B4-BE49-F238E27FC236}">
                  <a16:creationId xmlns:a16="http://schemas.microsoft.com/office/drawing/2014/main" id="{63309346-3C24-F393-EBCE-307318E760CC}"/>
                </a:ext>
              </a:extLst>
            </p:cNvPr>
            <p:cNvSpPr/>
            <p:nvPr/>
          </p:nvSpPr>
          <p:spPr>
            <a:xfrm>
              <a:off x="7247124" y="2290811"/>
              <a:ext cx="636372" cy="960390"/>
            </a:xfrm>
            <a:custGeom>
              <a:avLst/>
              <a:gdLst>
                <a:gd name="connsiteX0" fmla="*/ 238514 w 636372"/>
                <a:gd name="connsiteY0" fmla="*/ 0 h 960390"/>
                <a:gd name="connsiteX1" fmla="*/ 338541 w 636372"/>
                <a:gd name="connsiteY1" fmla="*/ 133765 h 960390"/>
                <a:gd name="connsiteX2" fmla="*/ 636075 w 636372"/>
                <a:gd name="connsiteY2" fmla="*/ 954511 h 960390"/>
                <a:gd name="connsiteX3" fmla="*/ 636372 w 636372"/>
                <a:gd name="connsiteY3" fmla="*/ 960390 h 960390"/>
                <a:gd name="connsiteX4" fmla="*/ 299267 w 636372"/>
                <a:gd name="connsiteY4" fmla="*/ 960390 h 960390"/>
                <a:gd name="connsiteX5" fmla="*/ 281426 w 636372"/>
                <a:gd name="connsiteY5" fmla="*/ 843494 h 960390"/>
                <a:gd name="connsiteX6" fmla="*/ 61403 w 636372"/>
                <a:gd name="connsiteY6" fmla="*/ 320628 h 960390"/>
                <a:gd name="connsiteX7" fmla="*/ 0 w 636372"/>
                <a:gd name="connsiteY7" fmla="*/ 238514 h 960390"/>
                <a:gd name="connsiteX8" fmla="*/ 238514 w 636372"/>
                <a:gd name="connsiteY8" fmla="*/ 0 h 960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6372" h="960390">
                  <a:moveTo>
                    <a:pt x="238514" y="0"/>
                  </a:moveTo>
                  <a:lnTo>
                    <a:pt x="338541" y="133765"/>
                  </a:lnTo>
                  <a:cubicBezTo>
                    <a:pt x="499961" y="372697"/>
                    <a:pt x="605409" y="652550"/>
                    <a:pt x="636075" y="954511"/>
                  </a:cubicBezTo>
                  <a:lnTo>
                    <a:pt x="636372" y="960390"/>
                  </a:lnTo>
                  <a:lnTo>
                    <a:pt x="299267" y="960390"/>
                  </a:lnTo>
                  <a:lnTo>
                    <a:pt x="281426" y="843494"/>
                  </a:lnTo>
                  <a:cubicBezTo>
                    <a:pt x="242469" y="653116"/>
                    <a:pt x="166515" y="476214"/>
                    <a:pt x="61403" y="320628"/>
                  </a:cubicBezTo>
                  <a:lnTo>
                    <a:pt x="0" y="238514"/>
                  </a:lnTo>
                  <a:lnTo>
                    <a:pt x="238514"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chemeClr val="tx1"/>
                </a:solidFill>
              </a:endParaRPr>
            </a:p>
          </p:txBody>
        </p:sp>
        <p:sp>
          <p:nvSpPr>
            <p:cNvPr id="37" name="Freeform 13">
              <a:extLst>
                <a:ext uri="{FF2B5EF4-FFF2-40B4-BE49-F238E27FC236}">
                  <a16:creationId xmlns:a16="http://schemas.microsoft.com/office/drawing/2014/main" id="{5144876D-5337-42D2-039C-48734C7235AC}"/>
                </a:ext>
              </a:extLst>
            </p:cNvPr>
            <p:cNvSpPr/>
            <p:nvPr/>
          </p:nvSpPr>
          <p:spPr>
            <a:xfrm>
              <a:off x="4308506" y="2290812"/>
              <a:ext cx="636372" cy="960389"/>
            </a:xfrm>
            <a:custGeom>
              <a:avLst/>
              <a:gdLst>
                <a:gd name="connsiteX0" fmla="*/ 397858 w 636372"/>
                <a:gd name="connsiteY0" fmla="*/ 0 h 960389"/>
                <a:gd name="connsiteX1" fmla="*/ 636372 w 636372"/>
                <a:gd name="connsiteY1" fmla="*/ 238514 h 960389"/>
                <a:gd name="connsiteX2" fmla="*/ 574969 w 636372"/>
                <a:gd name="connsiteY2" fmla="*/ 320627 h 960389"/>
                <a:gd name="connsiteX3" fmla="*/ 354946 w 636372"/>
                <a:gd name="connsiteY3" fmla="*/ 843493 h 960389"/>
                <a:gd name="connsiteX4" fmla="*/ 337105 w 636372"/>
                <a:gd name="connsiteY4" fmla="*/ 960389 h 960389"/>
                <a:gd name="connsiteX5" fmla="*/ 0 w 636372"/>
                <a:gd name="connsiteY5" fmla="*/ 960389 h 960389"/>
                <a:gd name="connsiteX6" fmla="*/ 297 w 636372"/>
                <a:gd name="connsiteY6" fmla="*/ 954510 h 960389"/>
                <a:gd name="connsiteX7" fmla="*/ 297831 w 636372"/>
                <a:gd name="connsiteY7" fmla="*/ 133764 h 960389"/>
                <a:gd name="connsiteX8" fmla="*/ 397858 w 636372"/>
                <a:gd name="connsiteY8" fmla="*/ 0 h 960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6372" h="960389">
                  <a:moveTo>
                    <a:pt x="397858" y="0"/>
                  </a:moveTo>
                  <a:lnTo>
                    <a:pt x="636372" y="238514"/>
                  </a:lnTo>
                  <a:lnTo>
                    <a:pt x="574969" y="320627"/>
                  </a:lnTo>
                  <a:cubicBezTo>
                    <a:pt x="469858" y="476213"/>
                    <a:pt x="393903" y="653115"/>
                    <a:pt x="354946" y="843493"/>
                  </a:cubicBezTo>
                  <a:lnTo>
                    <a:pt x="337105" y="960389"/>
                  </a:lnTo>
                  <a:lnTo>
                    <a:pt x="0" y="960389"/>
                  </a:lnTo>
                  <a:lnTo>
                    <a:pt x="297" y="954510"/>
                  </a:lnTo>
                  <a:cubicBezTo>
                    <a:pt x="30963" y="652549"/>
                    <a:pt x="136412" y="372696"/>
                    <a:pt x="297831" y="133764"/>
                  </a:cubicBezTo>
                  <a:lnTo>
                    <a:pt x="39785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8" name="Freeform 14">
              <a:extLst>
                <a:ext uri="{FF2B5EF4-FFF2-40B4-BE49-F238E27FC236}">
                  <a16:creationId xmlns:a16="http://schemas.microsoft.com/office/drawing/2014/main" id="{423D9BFB-902B-3EDF-C2D2-2121ED0C99B9}"/>
                </a:ext>
              </a:extLst>
            </p:cNvPr>
            <p:cNvSpPr/>
            <p:nvPr/>
          </p:nvSpPr>
          <p:spPr>
            <a:xfrm>
              <a:off x="4308506" y="3606801"/>
              <a:ext cx="636372" cy="960389"/>
            </a:xfrm>
            <a:custGeom>
              <a:avLst/>
              <a:gdLst>
                <a:gd name="connsiteX0" fmla="*/ 0 w 636372"/>
                <a:gd name="connsiteY0" fmla="*/ 0 h 960389"/>
                <a:gd name="connsiteX1" fmla="*/ 337105 w 636372"/>
                <a:gd name="connsiteY1" fmla="*/ 0 h 960389"/>
                <a:gd name="connsiteX2" fmla="*/ 354946 w 636372"/>
                <a:gd name="connsiteY2" fmla="*/ 116896 h 960389"/>
                <a:gd name="connsiteX3" fmla="*/ 574969 w 636372"/>
                <a:gd name="connsiteY3" fmla="*/ 639762 h 960389"/>
                <a:gd name="connsiteX4" fmla="*/ 636372 w 636372"/>
                <a:gd name="connsiteY4" fmla="*/ 721875 h 960389"/>
                <a:gd name="connsiteX5" fmla="*/ 397858 w 636372"/>
                <a:gd name="connsiteY5" fmla="*/ 960389 h 960389"/>
                <a:gd name="connsiteX6" fmla="*/ 297831 w 636372"/>
                <a:gd name="connsiteY6" fmla="*/ 826625 h 960389"/>
                <a:gd name="connsiteX7" fmla="*/ 297 w 636372"/>
                <a:gd name="connsiteY7" fmla="*/ 5879 h 960389"/>
                <a:gd name="connsiteX8" fmla="*/ 0 w 636372"/>
                <a:gd name="connsiteY8" fmla="*/ 0 h 960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6372" h="960389">
                  <a:moveTo>
                    <a:pt x="0" y="0"/>
                  </a:moveTo>
                  <a:lnTo>
                    <a:pt x="337105" y="0"/>
                  </a:lnTo>
                  <a:lnTo>
                    <a:pt x="354946" y="116896"/>
                  </a:lnTo>
                  <a:cubicBezTo>
                    <a:pt x="393903" y="307275"/>
                    <a:pt x="469858" y="484177"/>
                    <a:pt x="574969" y="639762"/>
                  </a:cubicBezTo>
                  <a:lnTo>
                    <a:pt x="636372" y="721875"/>
                  </a:lnTo>
                  <a:lnTo>
                    <a:pt x="397858" y="960389"/>
                  </a:lnTo>
                  <a:lnTo>
                    <a:pt x="297831" y="826625"/>
                  </a:lnTo>
                  <a:cubicBezTo>
                    <a:pt x="136412" y="587693"/>
                    <a:pt x="30963" y="307840"/>
                    <a:pt x="297" y="5879"/>
                  </a:cubicBezTo>
                  <a:lnTo>
                    <a:pt x="0" y="0"/>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9" name="Freeform 15">
              <a:extLst>
                <a:ext uri="{FF2B5EF4-FFF2-40B4-BE49-F238E27FC236}">
                  <a16:creationId xmlns:a16="http://schemas.microsoft.com/office/drawing/2014/main" id="{2B44379F-D812-D20E-3505-B45372E3763F}"/>
                </a:ext>
              </a:extLst>
            </p:cNvPr>
            <p:cNvSpPr/>
            <p:nvPr/>
          </p:nvSpPr>
          <p:spPr>
            <a:xfrm>
              <a:off x="7247124" y="3606801"/>
              <a:ext cx="636372" cy="960390"/>
            </a:xfrm>
            <a:custGeom>
              <a:avLst/>
              <a:gdLst>
                <a:gd name="connsiteX0" fmla="*/ 299267 w 636372"/>
                <a:gd name="connsiteY0" fmla="*/ 0 h 960390"/>
                <a:gd name="connsiteX1" fmla="*/ 636372 w 636372"/>
                <a:gd name="connsiteY1" fmla="*/ 0 h 960390"/>
                <a:gd name="connsiteX2" fmla="*/ 636075 w 636372"/>
                <a:gd name="connsiteY2" fmla="*/ 5879 h 960390"/>
                <a:gd name="connsiteX3" fmla="*/ 338541 w 636372"/>
                <a:gd name="connsiteY3" fmla="*/ 826625 h 960390"/>
                <a:gd name="connsiteX4" fmla="*/ 238514 w 636372"/>
                <a:gd name="connsiteY4" fmla="*/ 960390 h 960390"/>
                <a:gd name="connsiteX5" fmla="*/ 0 w 636372"/>
                <a:gd name="connsiteY5" fmla="*/ 721876 h 960390"/>
                <a:gd name="connsiteX6" fmla="*/ 61403 w 636372"/>
                <a:gd name="connsiteY6" fmla="*/ 639762 h 960390"/>
                <a:gd name="connsiteX7" fmla="*/ 281426 w 636372"/>
                <a:gd name="connsiteY7" fmla="*/ 116896 h 960390"/>
                <a:gd name="connsiteX8" fmla="*/ 299267 w 636372"/>
                <a:gd name="connsiteY8" fmla="*/ 0 h 960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6372" h="960390">
                  <a:moveTo>
                    <a:pt x="299267" y="0"/>
                  </a:moveTo>
                  <a:lnTo>
                    <a:pt x="636372" y="0"/>
                  </a:lnTo>
                  <a:lnTo>
                    <a:pt x="636075" y="5879"/>
                  </a:lnTo>
                  <a:cubicBezTo>
                    <a:pt x="605409" y="307840"/>
                    <a:pt x="499961" y="587693"/>
                    <a:pt x="338541" y="826625"/>
                  </a:cubicBezTo>
                  <a:lnTo>
                    <a:pt x="238514" y="960390"/>
                  </a:lnTo>
                  <a:lnTo>
                    <a:pt x="0" y="721876"/>
                  </a:lnTo>
                  <a:lnTo>
                    <a:pt x="61403" y="639762"/>
                  </a:lnTo>
                  <a:cubicBezTo>
                    <a:pt x="166515" y="484177"/>
                    <a:pt x="242469" y="307275"/>
                    <a:pt x="281426" y="116896"/>
                  </a:cubicBezTo>
                  <a:lnTo>
                    <a:pt x="299267" y="0"/>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40" name="Freeform 16">
              <a:extLst>
                <a:ext uri="{FF2B5EF4-FFF2-40B4-BE49-F238E27FC236}">
                  <a16:creationId xmlns:a16="http://schemas.microsoft.com/office/drawing/2014/main" id="{532C119B-5F09-A780-8D99-7ECFE6DB1ED1}"/>
                </a:ext>
              </a:extLst>
            </p:cNvPr>
            <p:cNvSpPr/>
            <p:nvPr/>
          </p:nvSpPr>
          <p:spPr>
            <a:xfrm>
              <a:off x="4957811" y="4580124"/>
              <a:ext cx="960389" cy="636372"/>
            </a:xfrm>
            <a:custGeom>
              <a:avLst/>
              <a:gdLst>
                <a:gd name="connsiteX0" fmla="*/ 238514 w 960389"/>
                <a:gd name="connsiteY0" fmla="*/ 0 h 636372"/>
                <a:gd name="connsiteX1" fmla="*/ 320628 w 960389"/>
                <a:gd name="connsiteY1" fmla="*/ 61403 h 636372"/>
                <a:gd name="connsiteX2" fmla="*/ 843494 w 960389"/>
                <a:gd name="connsiteY2" fmla="*/ 281426 h 636372"/>
                <a:gd name="connsiteX3" fmla="*/ 960389 w 960389"/>
                <a:gd name="connsiteY3" fmla="*/ 299267 h 636372"/>
                <a:gd name="connsiteX4" fmla="*/ 960389 w 960389"/>
                <a:gd name="connsiteY4" fmla="*/ 636372 h 636372"/>
                <a:gd name="connsiteX5" fmla="*/ 954511 w 960389"/>
                <a:gd name="connsiteY5" fmla="*/ 636075 h 636372"/>
                <a:gd name="connsiteX6" fmla="*/ 133765 w 960389"/>
                <a:gd name="connsiteY6" fmla="*/ 338541 h 636372"/>
                <a:gd name="connsiteX7" fmla="*/ 0 w 960389"/>
                <a:gd name="connsiteY7" fmla="*/ 238514 h 636372"/>
                <a:gd name="connsiteX8" fmla="*/ 238514 w 960389"/>
                <a:gd name="connsiteY8" fmla="*/ 0 h 63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0389" h="636372">
                  <a:moveTo>
                    <a:pt x="238514" y="0"/>
                  </a:moveTo>
                  <a:lnTo>
                    <a:pt x="320628" y="61403"/>
                  </a:lnTo>
                  <a:cubicBezTo>
                    <a:pt x="476214" y="166515"/>
                    <a:pt x="653116" y="242469"/>
                    <a:pt x="843494" y="281426"/>
                  </a:cubicBezTo>
                  <a:lnTo>
                    <a:pt x="960389" y="299267"/>
                  </a:lnTo>
                  <a:lnTo>
                    <a:pt x="960389" y="636372"/>
                  </a:lnTo>
                  <a:lnTo>
                    <a:pt x="954511" y="636075"/>
                  </a:lnTo>
                  <a:cubicBezTo>
                    <a:pt x="652550" y="605409"/>
                    <a:pt x="372697" y="499961"/>
                    <a:pt x="133765" y="338541"/>
                  </a:cubicBezTo>
                  <a:lnTo>
                    <a:pt x="0" y="238514"/>
                  </a:lnTo>
                  <a:lnTo>
                    <a:pt x="238514"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41" name="Freeform 17">
              <a:extLst>
                <a:ext uri="{FF2B5EF4-FFF2-40B4-BE49-F238E27FC236}">
                  <a16:creationId xmlns:a16="http://schemas.microsoft.com/office/drawing/2014/main" id="{0C19EBC6-2F97-7B5E-B5AB-CC0417FDEA06}"/>
                </a:ext>
              </a:extLst>
            </p:cNvPr>
            <p:cNvSpPr/>
            <p:nvPr/>
          </p:nvSpPr>
          <p:spPr>
            <a:xfrm>
              <a:off x="6273800" y="4580124"/>
              <a:ext cx="960390" cy="636372"/>
            </a:xfrm>
            <a:custGeom>
              <a:avLst/>
              <a:gdLst>
                <a:gd name="connsiteX0" fmla="*/ 721876 w 960390"/>
                <a:gd name="connsiteY0" fmla="*/ 0 h 636372"/>
                <a:gd name="connsiteX1" fmla="*/ 960390 w 960390"/>
                <a:gd name="connsiteY1" fmla="*/ 238514 h 636372"/>
                <a:gd name="connsiteX2" fmla="*/ 826626 w 960390"/>
                <a:gd name="connsiteY2" fmla="*/ 338541 h 636372"/>
                <a:gd name="connsiteX3" fmla="*/ 5880 w 960390"/>
                <a:gd name="connsiteY3" fmla="*/ 636075 h 636372"/>
                <a:gd name="connsiteX4" fmla="*/ 0 w 960390"/>
                <a:gd name="connsiteY4" fmla="*/ 636372 h 636372"/>
                <a:gd name="connsiteX5" fmla="*/ 0 w 960390"/>
                <a:gd name="connsiteY5" fmla="*/ 299267 h 636372"/>
                <a:gd name="connsiteX6" fmla="*/ 116897 w 960390"/>
                <a:gd name="connsiteY6" fmla="*/ 281426 h 636372"/>
                <a:gd name="connsiteX7" fmla="*/ 639763 w 960390"/>
                <a:gd name="connsiteY7" fmla="*/ 61403 h 636372"/>
                <a:gd name="connsiteX8" fmla="*/ 721876 w 960390"/>
                <a:gd name="connsiteY8" fmla="*/ 0 h 63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0390" h="636372">
                  <a:moveTo>
                    <a:pt x="721876" y="0"/>
                  </a:moveTo>
                  <a:lnTo>
                    <a:pt x="960390" y="238514"/>
                  </a:lnTo>
                  <a:lnTo>
                    <a:pt x="826626" y="338541"/>
                  </a:lnTo>
                  <a:cubicBezTo>
                    <a:pt x="587694" y="499961"/>
                    <a:pt x="307841" y="605409"/>
                    <a:pt x="5880" y="636075"/>
                  </a:cubicBezTo>
                  <a:lnTo>
                    <a:pt x="0" y="636372"/>
                  </a:lnTo>
                  <a:lnTo>
                    <a:pt x="0" y="299267"/>
                  </a:lnTo>
                  <a:lnTo>
                    <a:pt x="116897" y="281426"/>
                  </a:lnTo>
                  <a:cubicBezTo>
                    <a:pt x="307276" y="242469"/>
                    <a:pt x="484178" y="166515"/>
                    <a:pt x="639763" y="61403"/>
                  </a:cubicBezTo>
                  <a:lnTo>
                    <a:pt x="721876" y="0"/>
                  </a:lnTo>
                  <a:close/>
                </a:path>
              </a:pathLst>
            </a:custGeom>
            <a:solidFill>
              <a:srgbClr val="B4C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grpSp>
      <p:cxnSp>
        <p:nvCxnSpPr>
          <p:cNvPr id="44" name="Straight Connector 30">
            <a:extLst>
              <a:ext uri="{FF2B5EF4-FFF2-40B4-BE49-F238E27FC236}">
                <a16:creationId xmlns:a16="http://schemas.microsoft.com/office/drawing/2014/main" id="{DB7D87D2-419D-9627-70A2-338723195390}"/>
              </a:ext>
            </a:extLst>
          </p:cNvPr>
          <p:cNvCxnSpPr>
            <a:cxnSpLocks/>
          </p:cNvCxnSpPr>
          <p:nvPr/>
        </p:nvCxnSpPr>
        <p:spPr>
          <a:xfrm flipH="1" flipV="1">
            <a:off x="6069565" y="2214847"/>
            <a:ext cx="13401" cy="74808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5" name="Straight Connector 49">
            <a:extLst>
              <a:ext uri="{FF2B5EF4-FFF2-40B4-BE49-F238E27FC236}">
                <a16:creationId xmlns:a16="http://schemas.microsoft.com/office/drawing/2014/main" id="{29C2160A-77B1-AEF4-433C-EB28F5C4C2A2}"/>
              </a:ext>
            </a:extLst>
          </p:cNvPr>
          <p:cNvCxnSpPr>
            <a:cxnSpLocks/>
          </p:cNvCxnSpPr>
          <p:nvPr/>
        </p:nvCxnSpPr>
        <p:spPr>
          <a:xfrm flipV="1">
            <a:off x="3542160" y="4183169"/>
            <a:ext cx="1394089" cy="4727"/>
          </a:xfrm>
          <a:prstGeom prst="line">
            <a:avLst/>
          </a:prstGeom>
          <a:ln w="1905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46" name="Group 36">
            <a:extLst>
              <a:ext uri="{FF2B5EF4-FFF2-40B4-BE49-F238E27FC236}">
                <a16:creationId xmlns:a16="http://schemas.microsoft.com/office/drawing/2014/main" id="{D401B286-B338-3672-3133-DDB9ADD85BA5}"/>
              </a:ext>
            </a:extLst>
          </p:cNvPr>
          <p:cNvGrpSpPr/>
          <p:nvPr/>
        </p:nvGrpSpPr>
        <p:grpSpPr>
          <a:xfrm flipV="1">
            <a:off x="6884514" y="5023809"/>
            <a:ext cx="1399629" cy="631009"/>
            <a:chOff x="6995676" y="1831158"/>
            <a:chExt cx="2010791" cy="899302"/>
          </a:xfrm>
        </p:grpSpPr>
        <p:cxnSp>
          <p:nvCxnSpPr>
            <p:cNvPr id="47" name="Straight Connector 37">
              <a:extLst>
                <a:ext uri="{FF2B5EF4-FFF2-40B4-BE49-F238E27FC236}">
                  <a16:creationId xmlns:a16="http://schemas.microsoft.com/office/drawing/2014/main" id="{8529BF9F-1FCC-A516-9596-4324CB22736B}"/>
                </a:ext>
              </a:extLst>
            </p:cNvPr>
            <p:cNvCxnSpPr/>
            <p:nvPr/>
          </p:nvCxnSpPr>
          <p:spPr>
            <a:xfrm flipV="1">
              <a:off x="7928991" y="1831158"/>
              <a:ext cx="1077476" cy="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38">
              <a:extLst>
                <a:ext uri="{FF2B5EF4-FFF2-40B4-BE49-F238E27FC236}">
                  <a16:creationId xmlns:a16="http://schemas.microsoft.com/office/drawing/2014/main" id="{54D00208-6058-AE16-8A85-9030E6BCD479}"/>
                </a:ext>
              </a:extLst>
            </p:cNvPr>
            <p:cNvCxnSpPr>
              <a:cxnSpLocks/>
            </p:cNvCxnSpPr>
            <p:nvPr/>
          </p:nvCxnSpPr>
          <p:spPr>
            <a:xfrm flipV="1">
              <a:off x="6995676" y="1831158"/>
              <a:ext cx="933315" cy="899302"/>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49" name="Rectangle 48">
            <a:extLst>
              <a:ext uri="{FF2B5EF4-FFF2-40B4-BE49-F238E27FC236}">
                <a16:creationId xmlns:a16="http://schemas.microsoft.com/office/drawing/2014/main" id="{4AEF449F-1FA7-A05B-DB2A-369E888B77BB}"/>
              </a:ext>
            </a:extLst>
          </p:cNvPr>
          <p:cNvSpPr/>
          <p:nvPr/>
        </p:nvSpPr>
        <p:spPr>
          <a:xfrm>
            <a:off x="8820814" y="3411504"/>
            <a:ext cx="2811487" cy="707886"/>
          </a:xfrm>
          <a:prstGeom prst="rect">
            <a:avLst/>
          </a:prstGeom>
        </p:spPr>
        <p:txBody>
          <a:bodyPr wrap="square">
            <a:spAutoFit/>
          </a:bodyPr>
          <a:lstStyle/>
          <a:p>
            <a:pPr lvl="0">
              <a:buSzPts val="2000"/>
            </a:pPr>
            <a:r>
              <a:rPr lang="fr-FR" sz="2000" b="1" dirty="0"/>
              <a:t>Gestion des commandes </a:t>
            </a:r>
          </a:p>
        </p:txBody>
      </p:sp>
      <p:cxnSp>
        <p:nvCxnSpPr>
          <p:cNvPr id="50" name="Connecteur droit 49">
            <a:extLst>
              <a:ext uri="{FF2B5EF4-FFF2-40B4-BE49-F238E27FC236}">
                <a16:creationId xmlns:a16="http://schemas.microsoft.com/office/drawing/2014/main" id="{398C28B3-EAB1-3143-1486-3199339E5367}"/>
              </a:ext>
            </a:extLst>
          </p:cNvPr>
          <p:cNvCxnSpPr/>
          <p:nvPr/>
        </p:nvCxnSpPr>
        <p:spPr>
          <a:xfrm flipH="1" flipV="1">
            <a:off x="5463385" y="3379651"/>
            <a:ext cx="32613" cy="36955"/>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
        <p:nvSpPr>
          <p:cNvPr id="52" name="ZoneTexte 51">
            <a:extLst>
              <a:ext uri="{FF2B5EF4-FFF2-40B4-BE49-F238E27FC236}">
                <a16:creationId xmlns:a16="http://schemas.microsoft.com/office/drawing/2014/main" id="{8EB49E1A-42EA-9C7D-CE2B-9DBC478892C0}"/>
              </a:ext>
            </a:extLst>
          </p:cNvPr>
          <p:cNvSpPr txBox="1"/>
          <p:nvPr/>
        </p:nvSpPr>
        <p:spPr>
          <a:xfrm>
            <a:off x="5002261" y="3709825"/>
            <a:ext cx="2304132" cy="830997"/>
          </a:xfrm>
          <a:prstGeom prst="rect">
            <a:avLst/>
          </a:prstGeom>
          <a:noFill/>
        </p:spPr>
        <p:txBody>
          <a:bodyPr wrap="square" rtlCol="0">
            <a:spAutoFit/>
          </a:bodyPr>
          <a:lstStyle/>
          <a:p>
            <a:pPr algn="ctr"/>
            <a:r>
              <a:rPr lang="fr-FR" sz="2400" b="1" dirty="0">
                <a:solidFill>
                  <a:srgbClr val="002060"/>
                </a:solidFill>
              </a:rPr>
              <a:t>Besoins</a:t>
            </a:r>
          </a:p>
          <a:p>
            <a:pPr algn="ctr"/>
            <a:r>
              <a:rPr lang="fr-FR" sz="2400" b="1" dirty="0">
                <a:solidFill>
                  <a:srgbClr val="002060"/>
                </a:solidFill>
              </a:rPr>
              <a:t>Fonctionnels</a:t>
            </a:r>
          </a:p>
        </p:txBody>
      </p:sp>
      <p:sp>
        <p:nvSpPr>
          <p:cNvPr id="55" name="ZoneTexte 54">
            <a:extLst>
              <a:ext uri="{FF2B5EF4-FFF2-40B4-BE49-F238E27FC236}">
                <a16:creationId xmlns:a16="http://schemas.microsoft.com/office/drawing/2014/main" id="{C2DE4F92-8250-B35C-3C09-D64322781C64}"/>
              </a:ext>
            </a:extLst>
          </p:cNvPr>
          <p:cNvSpPr txBox="1"/>
          <p:nvPr/>
        </p:nvSpPr>
        <p:spPr>
          <a:xfrm>
            <a:off x="1382376" y="2334937"/>
            <a:ext cx="2239842" cy="400110"/>
          </a:xfrm>
          <a:prstGeom prst="rect">
            <a:avLst/>
          </a:prstGeom>
          <a:noFill/>
        </p:spPr>
        <p:txBody>
          <a:bodyPr wrap="square">
            <a:spAutoFit/>
          </a:bodyPr>
          <a:lstStyle/>
          <a:p>
            <a:r>
              <a:rPr lang="fr-FR" sz="2000" b="1" dirty="0"/>
              <a:t>Authentification </a:t>
            </a:r>
          </a:p>
        </p:txBody>
      </p:sp>
      <p:sp>
        <p:nvSpPr>
          <p:cNvPr id="56" name="ZoneTexte 55">
            <a:extLst>
              <a:ext uri="{FF2B5EF4-FFF2-40B4-BE49-F238E27FC236}">
                <a16:creationId xmlns:a16="http://schemas.microsoft.com/office/drawing/2014/main" id="{0FE1B019-2BA5-37BE-7FE0-5D0AC92ADA00}"/>
              </a:ext>
            </a:extLst>
          </p:cNvPr>
          <p:cNvSpPr txBox="1"/>
          <p:nvPr/>
        </p:nvSpPr>
        <p:spPr>
          <a:xfrm>
            <a:off x="5002261" y="1481624"/>
            <a:ext cx="2961820" cy="707886"/>
          </a:xfrm>
          <a:prstGeom prst="rect">
            <a:avLst/>
          </a:prstGeom>
          <a:noFill/>
        </p:spPr>
        <p:txBody>
          <a:bodyPr wrap="square">
            <a:spAutoFit/>
          </a:bodyPr>
          <a:lstStyle/>
          <a:p>
            <a:pPr lvl="0"/>
            <a:r>
              <a:rPr lang="fr-FR" sz="2000" b="1" dirty="0"/>
              <a:t>Gestion des comptes utilisateurs</a:t>
            </a:r>
          </a:p>
        </p:txBody>
      </p:sp>
      <p:sp>
        <p:nvSpPr>
          <p:cNvPr id="57" name="ZoneTexte 56">
            <a:extLst>
              <a:ext uri="{FF2B5EF4-FFF2-40B4-BE49-F238E27FC236}">
                <a16:creationId xmlns:a16="http://schemas.microsoft.com/office/drawing/2014/main" id="{04212C0F-5824-D707-3E2D-3B9866A6ABEF}"/>
              </a:ext>
            </a:extLst>
          </p:cNvPr>
          <p:cNvSpPr txBox="1"/>
          <p:nvPr/>
        </p:nvSpPr>
        <p:spPr>
          <a:xfrm>
            <a:off x="507053" y="4503389"/>
            <a:ext cx="2860581" cy="707886"/>
          </a:xfrm>
          <a:prstGeom prst="rect">
            <a:avLst/>
          </a:prstGeom>
          <a:noFill/>
        </p:spPr>
        <p:txBody>
          <a:bodyPr wrap="square">
            <a:spAutoFit/>
          </a:bodyPr>
          <a:lstStyle/>
          <a:p>
            <a:pPr lvl="0"/>
            <a:r>
              <a:rPr lang="fr-FR" sz="2000" b="1" dirty="0"/>
              <a:t>Accès aux cours &amp; jeux éducatifs</a:t>
            </a:r>
          </a:p>
        </p:txBody>
      </p:sp>
      <p:grpSp>
        <p:nvGrpSpPr>
          <p:cNvPr id="51" name="Group 35">
            <a:extLst>
              <a:ext uri="{FF2B5EF4-FFF2-40B4-BE49-F238E27FC236}">
                <a16:creationId xmlns:a16="http://schemas.microsoft.com/office/drawing/2014/main" id="{0558098C-5938-92A7-3182-85B5B2E3B7AC}"/>
              </a:ext>
            </a:extLst>
          </p:cNvPr>
          <p:cNvGrpSpPr/>
          <p:nvPr/>
        </p:nvGrpSpPr>
        <p:grpSpPr>
          <a:xfrm flipH="1">
            <a:off x="3542160" y="2529682"/>
            <a:ext cx="1736658" cy="819487"/>
            <a:chOff x="7195584" y="1456191"/>
            <a:chExt cx="3462165" cy="1082322"/>
          </a:xfrm>
        </p:grpSpPr>
        <p:cxnSp>
          <p:nvCxnSpPr>
            <p:cNvPr id="53" name="Straight Connector 28">
              <a:extLst>
                <a:ext uri="{FF2B5EF4-FFF2-40B4-BE49-F238E27FC236}">
                  <a16:creationId xmlns:a16="http://schemas.microsoft.com/office/drawing/2014/main" id="{4423D92B-85A6-4C5D-8C58-90000E44B7C6}"/>
                </a:ext>
              </a:extLst>
            </p:cNvPr>
            <p:cNvCxnSpPr>
              <a:cxnSpLocks/>
            </p:cNvCxnSpPr>
            <p:nvPr/>
          </p:nvCxnSpPr>
          <p:spPr>
            <a:xfrm>
              <a:off x="8526964" y="1463204"/>
              <a:ext cx="2130785"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4" name="Straight Connector 30">
              <a:extLst>
                <a:ext uri="{FF2B5EF4-FFF2-40B4-BE49-F238E27FC236}">
                  <a16:creationId xmlns:a16="http://schemas.microsoft.com/office/drawing/2014/main" id="{DB7D87D2-419D-9627-70A2-338723195390}"/>
                </a:ext>
              </a:extLst>
            </p:cNvPr>
            <p:cNvCxnSpPr>
              <a:cxnSpLocks/>
            </p:cNvCxnSpPr>
            <p:nvPr/>
          </p:nvCxnSpPr>
          <p:spPr>
            <a:xfrm flipV="1">
              <a:off x="7195584" y="1456191"/>
              <a:ext cx="1352187" cy="108232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Espace réservé du numéro de diapositive 1">
            <a:extLst>
              <a:ext uri="{FF2B5EF4-FFF2-40B4-BE49-F238E27FC236}">
                <a16:creationId xmlns:a16="http://schemas.microsoft.com/office/drawing/2014/main" id="{1A578262-4E06-4739-8F30-D5CBBB59BA1D}"/>
              </a:ext>
            </a:extLst>
          </p:cNvPr>
          <p:cNvSpPr>
            <a:spLocks noGrp="1"/>
          </p:cNvSpPr>
          <p:nvPr>
            <p:ph type="sldNum" idx="12"/>
          </p:nvPr>
        </p:nvSpPr>
        <p:spPr>
          <a:xfrm>
            <a:off x="11734800" y="6325870"/>
            <a:ext cx="259080" cy="365125"/>
          </a:xfrm>
        </p:spPr>
        <p:txBody>
          <a:bodyPr/>
          <a:lstStyle/>
          <a:p>
            <a:pPr marL="0" lvl="0" indent="0" algn="r" rtl="0">
              <a:spcBef>
                <a:spcPts val="0"/>
              </a:spcBef>
              <a:spcAft>
                <a:spcPts val="0"/>
              </a:spcAft>
              <a:buNone/>
            </a:pPr>
            <a:r>
              <a:rPr lang="fr-FR" dirty="0"/>
              <a:t>9</a:t>
            </a:r>
          </a:p>
        </p:txBody>
      </p:sp>
      <p:cxnSp>
        <p:nvCxnSpPr>
          <p:cNvPr id="63" name="Straight Connector 49">
            <a:extLst>
              <a:ext uri="{FF2B5EF4-FFF2-40B4-BE49-F238E27FC236}">
                <a16:creationId xmlns:a16="http://schemas.microsoft.com/office/drawing/2014/main" id="{0857CBCA-685B-4278-942C-3F8719E89E9A}"/>
              </a:ext>
            </a:extLst>
          </p:cNvPr>
          <p:cNvCxnSpPr>
            <a:cxnSpLocks/>
          </p:cNvCxnSpPr>
          <p:nvPr/>
        </p:nvCxnSpPr>
        <p:spPr>
          <a:xfrm>
            <a:off x="7296180" y="4174117"/>
            <a:ext cx="1085938" cy="0"/>
          </a:xfrm>
          <a:prstGeom prst="line">
            <a:avLst/>
          </a:prstGeom>
          <a:ln w="190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64" name="Group 36">
            <a:extLst>
              <a:ext uri="{FF2B5EF4-FFF2-40B4-BE49-F238E27FC236}">
                <a16:creationId xmlns:a16="http://schemas.microsoft.com/office/drawing/2014/main" id="{AD25DF9B-0D22-4505-8D0A-46D53C8FDBD2}"/>
              </a:ext>
            </a:extLst>
          </p:cNvPr>
          <p:cNvGrpSpPr/>
          <p:nvPr/>
        </p:nvGrpSpPr>
        <p:grpSpPr>
          <a:xfrm rot="20884161" flipH="1" flipV="1">
            <a:off x="4053498" y="5651162"/>
            <a:ext cx="2093646" cy="604891"/>
            <a:chOff x="7038537" y="1876533"/>
            <a:chExt cx="1639304" cy="862079"/>
          </a:xfrm>
        </p:grpSpPr>
        <p:cxnSp>
          <p:nvCxnSpPr>
            <p:cNvPr id="65" name="Straight Connector 37">
              <a:extLst>
                <a:ext uri="{FF2B5EF4-FFF2-40B4-BE49-F238E27FC236}">
                  <a16:creationId xmlns:a16="http://schemas.microsoft.com/office/drawing/2014/main" id="{998043D0-1BEE-46D8-B7C7-AC01F8A1C983}"/>
                </a:ext>
              </a:extLst>
            </p:cNvPr>
            <p:cNvCxnSpPr>
              <a:cxnSpLocks/>
            </p:cNvCxnSpPr>
            <p:nvPr/>
          </p:nvCxnSpPr>
          <p:spPr>
            <a:xfrm rot="715839" flipV="1">
              <a:off x="7074239" y="2116666"/>
              <a:ext cx="1603602" cy="70482"/>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38">
              <a:extLst>
                <a:ext uri="{FF2B5EF4-FFF2-40B4-BE49-F238E27FC236}">
                  <a16:creationId xmlns:a16="http://schemas.microsoft.com/office/drawing/2014/main" id="{FA9DB2AC-7010-4921-A6F4-2B38FED10D9E}"/>
                </a:ext>
              </a:extLst>
            </p:cNvPr>
            <p:cNvCxnSpPr>
              <a:cxnSpLocks/>
            </p:cNvCxnSpPr>
            <p:nvPr/>
          </p:nvCxnSpPr>
          <p:spPr>
            <a:xfrm rot="715839" flipH="1" flipV="1">
              <a:off x="7038537" y="1876533"/>
              <a:ext cx="6161" cy="862079"/>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67" name="Group 36">
            <a:extLst>
              <a:ext uri="{FF2B5EF4-FFF2-40B4-BE49-F238E27FC236}">
                <a16:creationId xmlns:a16="http://schemas.microsoft.com/office/drawing/2014/main" id="{BCE3DF71-D546-4FCD-B81D-9E4209D548C3}"/>
              </a:ext>
            </a:extLst>
          </p:cNvPr>
          <p:cNvGrpSpPr/>
          <p:nvPr/>
        </p:nvGrpSpPr>
        <p:grpSpPr>
          <a:xfrm flipH="1" flipV="1">
            <a:off x="3037838" y="4840689"/>
            <a:ext cx="2284484" cy="354479"/>
            <a:chOff x="6905300" y="2424199"/>
            <a:chExt cx="2899647" cy="244215"/>
          </a:xfrm>
        </p:grpSpPr>
        <p:cxnSp>
          <p:nvCxnSpPr>
            <p:cNvPr id="68" name="Straight Connector 37">
              <a:extLst>
                <a:ext uri="{FF2B5EF4-FFF2-40B4-BE49-F238E27FC236}">
                  <a16:creationId xmlns:a16="http://schemas.microsoft.com/office/drawing/2014/main" id="{CD48187F-5352-42E9-9D57-1DB26F0A563D}"/>
                </a:ext>
              </a:extLst>
            </p:cNvPr>
            <p:cNvCxnSpPr>
              <a:cxnSpLocks/>
            </p:cNvCxnSpPr>
            <p:nvPr/>
          </p:nvCxnSpPr>
          <p:spPr>
            <a:xfrm>
              <a:off x="8703166" y="2424199"/>
              <a:ext cx="1101781" cy="244215"/>
            </a:xfrm>
            <a:prstGeom prst="line">
              <a:avLst/>
            </a:prstGeom>
            <a:ln w="1905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38">
              <a:extLst>
                <a:ext uri="{FF2B5EF4-FFF2-40B4-BE49-F238E27FC236}">
                  <a16:creationId xmlns:a16="http://schemas.microsoft.com/office/drawing/2014/main" id="{A33BCDEE-45EC-4920-A1C1-7D9F68EDD5F5}"/>
                </a:ext>
              </a:extLst>
            </p:cNvPr>
            <p:cNvCxnSpPr>
              <a:cxnSpLocks/>
            </p:cNvCxnSpPr>
            <p:nvPr/>
          </p:nvCxnSpPr>
          <p:spPr>
            <a:xfrm flipV="1">
              <a:off x="6905300" y="2424199"/>
              <a:ext cx="1799115" cy="102842"/>
            </a:xfrm>
            <a:prstGeom prst="line">
              <a:avLst/>
            </a:prstGeom>
            <a:ln w="1905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5" name="ZoneTexte 4">
            <a:extLst>
              <a:ext uri="{FF2B5EF4-FFF2-40B4-BE49-F238E27FC236}">
                <a16:creationId xmlns:a16="http://schemas.microsoft.com/office/drawing/2014/main" id="{99C2E30C-CFE0-49D6-8DA3-DC11E979B102}"/>
              </a:ext>
            </a:extLst>
          </p:cNvPr>
          <p:cNvSpPr txBox="1"/>
          <p:nvPr/>
        </p:nvSpPr>
        <p:spPr>
          <a:xfrm>
            <a:off x="7369547" y="2022561"/>
            <a:ext cx="2811487" cy="707886"/>
          </a:xfrm>
          <a:prstGeom prst="rect">
            <a:avLst/>
          </a:prstGeom>
          <a:noFill/>
        </p:spPr>
        <p:txBody>
          <a:bodyPr wrap="square" rtlCol="0">
            <a:spAutoFit/>
          </a:bodyPr>
          <a:lstStyle/>
          <a:p>
            <a:r>
              <a:rPr lang="fr-FR" sz="2000" b="1" dirty="0"/>
              <a:t>Gestion de la boutique</a:t>
            </a:r>
          </a:p>
        </p:txBody>
      </p:sp>
      <p:grpSp>
        <p:nvGrpSpPr>
          <p:cNvPr id="71" name="Group 36">
            <a:extLst>
              <a:ext uri="{FF2B5EF4-FFF2-40B4-BE49-F238E27FC236}">
                <a16:creationId xmlns:a16="http://schemas.microsoft.com/office/drawing/2014/main" id="{4BAAB4E0-527D-440A-9161-E44A701420A1}"/>
              </a:ext>
            </a:extLst>
          </p:cNvPr>
          <p:cNvGrpSpPr/>
          <p:nvPr/>
        </p:nvGrpSpPr>
        <p:grpSpPr>
          <a:xfrm flipH="1" flipV="1">
            <a:off x="6951365" y="2735044"/>
            <a:ext cx="970549" cy="567702"/>
            <a:chOff x="7288856" y="2094088"/>
            <a:chExt cx="1420668" cy="359995"/>
          </a:xfrm>
        </p:grpSpPr>
        <p:cxnSp>
          <p:nvCxnSpPr>
            <p:cNvPr id="72" name="Straight Connector 37">
              <a:extLst>
                <a:ext uri="{FF2B5EF4-FFF2-40B4-BE49-F238E27FC236}">
                  <a16:creationId xmlns:a16="http://schemas.microsoft.com/office/drawing/2014/main" id="{78AA5D2A-F8AA-4DD6-9B21-EEEA2C28571C}"/>
                </a:ext>
              </a:extLst>
            </p:cNvPr>
            <p:cNvCxnSpPr/>
            <p:nvPr/>
          </p:nvCxnSpPr>
          <p:spPr>
            <a:xfrm flipV="1">
              <a:off x="7632048" y="2094088"/>
              <a:ext cx="1077476" cy="0"/>
            </a:xfrm>
            <a:prstGeom prst="line">
              <a:avLst/>
            </a:prstGeom>
            <a:ln w="190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38">
              <a:extLst>
                <a:ext uri="{FF2B5EF4-FFF2-40B4-BE49-F238E27FC236}">
                  <a16:creationId xmlns:a16="http://schemas.microsoft.com/office/drawing/2014/main" id="{88A82476-4B96-4BEF-A65B-DB3919DE51D8}"/>
                </a:ext>
              </a:extLst>
            </p:cNvPr>
            <p:cNvCxnSpPr>
              <a:cxnSpLocks/>
            </p:cNvCxnSpPr>
            <p:nvPr/>
          </p:nvCxnSpPr>
          <p:spPr>
            <a:xfrm flipV="1">
              <a:off x="7288856" y="2094088"/>
              <a:ext cx="343190" cy="359995"/>
            </a:xfrm>
            <a:prstGeom prst="line">
              <a:avLst/>
            </a:prstGeom>
            <a:ln w="190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19" name="ZoneTexte 18">
            <a:extLst>
              <a:ext uri="{FF2B5EF4-FFF2-40B4-BE49-F238E27FC236}">
                <a16:creationId xmlns:a16="http://schemas.microsoft.com/office/drawing/2014/main" id="{3648C4E0-64A3-4FE3-8BDC-0E787E23F4F6}"/>
              </a:ext>
            </a:extLst>
          </p:cNvPr>
          <p:cNvSpPr txBox="1"/>
          <p:nvPr/>
        </p:nvSpPr>
        <p:spPr>
          <a:xfrm>
            <a:off x="8238982" y="5277623"/>
            <a:ext cx="2332999" cy="707886"/>
          </a:xfrm>
          <a:prstGeom prst="rect">
            <a:avLst/>
          </a:prstGeom>
          <a:noFill/>
        </p:spPr>
        <p:txBody>
          <a:bodyPr wrap="square" rtlCol="0">
            <a:spAutoFit/>
          </a:bodyPr>
          <a:lstStyle/>
          <a:p>
            <a:r>
              <a:rPr lang="fr-FR" sz="2000" b="1" dirty="0"/>
              <a:t>Gestion des pots connectés</a:t>
            </a:r>
          </a:p>
        </p:txBody>
      </p:sp>
      <p:sp>
        <p:nvSpPr>
          <p:cNvPr id="20" name="ZoneTexte 19">
            <a:extLst>
              <a:ext uri="{FF2B5EF4-FFF2-40B4-BE49-F238E27FC236}">
                <a16:creationId xmlns:a16="http://schemas.microsoft.com/office/drawing/2014/main" id="{1DDFCB32-0670-4A2B-BE90-7C71CDDFA4A0}"/>
              </a:ext>
            </a:extLst>
          </p:cNvPr>
          <p:cNvSpPr txBox="1"/>
          <p:nvPr/>
        </p:nvSpPr>
        <p:spPr>
          <a:xfrm>
            <a:off x="1968738" y="5707330"/>
            <a:ext cx="2743200" cy="707886"/>
          </a:xfrm>
          <a:prstGeom prst="rect">
            <a:avLst/>
          </a:prstGeom>
          <a:noFill/>
        </p:spPr>
        <p:txBody>
          <a:bodyPr wrap="square" rtlCol="0">
            <a:spAutoFit/>
          </a:bodyPr>
          <a:lstStyle/>
          <a:p>
            <a:r>
              <a:rPr lang="fr-FR" sz="2000" b="1" dirty="0"/>
              <a:t>Visualisation des Dashboard</a:t>
            </a:r>
          </a:p>
        </p:txBody>
      </p:sp>
      <p:sp>
        <p:nvSpPr>
          <p:cNvPr id="21" name="ZoneTexte 20">
            <a:extLst>
              <a:ext uri="{FF2B5EF4-FFF2-40B4-BE49-F238E27FC236}">
                <a16:creationId xmlns:a16="http://schemas.microsoft.com/office/drawing/2014/main" id="{383A9463-5C1E-4AB9-8B06-89EB0799166E}"/>
              </a:ext>
            </a:extLst>
          </p:cNvPr>
          <p:cNvSpPr txBox="1"/>
          <p:nvPr/>
        </p:nvSpPr>
        <p:spPr>
          <a:xfrm>
            <a:off x="1025178" y="3316996"/>
            <a:ext cx="2860581" cy="707886"/>
          </a:xfrm>
          <a:prstGeom prst="rect">
            <a:avLst/>
          </a:prstGeom>
          <a:noFill/>
        </p:spPr>
        <p:txBody>
          <a:bodyPr wrap="square" rtlCol="0">
            <a:spAutoFit/>
          </a:bodyPr>
          <a:lstStyle/>
          <a:p>
            <a:r>
              <a:rPr lang="fr-FR" sz="2000" b="1" dirty="0"/>
              <a:t>Gestion des réclamations </a:t>
            </a:r>
          </a:p>
        </p:txBody>
      </p:sp>
      <p:cxnSp>
        <p:nvCxnSpPr>
          <p:cNvPr id="80" name="Straight Connector 38">
            <a:extLst>
              <a:ext uri="{FF2B5EF4-FFF2-40B4-BE49-F238E27FC236}">
                <a16:creationId xmlns:a16="http://schemas.microsoft.com/office/drawing/2014/main" id="{EB0B1085-1C5B-438B-B3AD-449ECEA857F8}"/>
              </a:ext>
            </a:extLst>
          </p:cNvPr>
          <p:cNvCxnSpPr>
            <a:cxnSpLocks/>
          </p:cNvCxnSpPr>
          <p:nvPr/>
        </p:nvCxnSpPr>
        <p:spPr>
          <a:xfrm flipH="1">
            <a:off x="8376146" y="3820174"/>
            <a:ext cx="444668" cy="367722"/>
          </a:xfrm>
          <a:prstGeom prst="line">
            <a:avLst/>
          </a:prstGeom>
          <a:ln w="190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38">
            <a:extLst>
              <a:ext uri="{FF2B5EF4-FFF2-40B4-BE49-F238E27FC236}">
                <a16:creationId xmlns:a16="http://schemas.microsoft.com/office/drawing/2014/main" id="{57FC6AE4-D78C-4445-A108-2579228C34A7}"/>
              </a:ext>
            </a:extLst>
          </p:cNvPr>
          <p:cNvCxnSpPr>
            <a:cxnSpLocks/>
          </p:cNvCxnSpPr>
          <p:nvPr/>
        </p:nvCxnSpPr>
        <p:spPr>
          <a:xfrm>
            <a:off x="2937413" y="3839589"/>
            <a:ext cx="604747" cy="353943"/>
          </a:xfrm>
          <a:prstGeom prst="line">
            <a:avLst/>
          </a:prstGeom>
          <a:ln w="1905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888455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heel(1)">
                                      <p:cBhvr>
                                        <p:cTn id="7" dur="2000"/>
                                        <p:tgtEl>
                                          <p:spTgt spid="33"/>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52"/>
                                        </p:tgtEl>
                                        <p:attrNameLst>
                                          <p:attrName>style.visibility</p:attrName>
                                        </p:attrNameLst>
                                      </p:cBhvr>
                                      <p:to>
                                        <p:strVal val="visible"/>
                                      </p:to>
                                    </p:set>
                                    <p:anim calcmode="lin" valueType="num">
                                      <p:cBhvr>
                                        <p:cTn id="11" dur="500" fill="hold"/>
                                        <p:tgtEl>
                                          <p:spTgt spid="52"/>
                                        </p:tgtEl>
                                        <p:attrNameLst>
                                          <p:attrName>ppt_w</p:attrName>
                                        </p:attrNameLst>
                                      </p:cBhvr>
                                      <p:tavLst>
                                        <p:tav tm="0">
                                          <p:val>
                                            <p:fltVal val="0"/>
                                          </p:val>
                                        </p:tav>
                                        <p:tav tm="100000">
                                          <p:val>
                                            <p:strVal val="#ppt_w"/>
                                          </p:val>
                                        </p:tav>
                                      </p:tavLst>
                                    </p:anim>
                                    <p:anim calcmode="lin" valueType="num">
                                      <p:cBhvr>
                                        <p:cTn id="12" dur="500" fill="hold"/>
                                        <p:tgtEl>
                                          <p:spTgt spid="52"/>
                                        </p:tgtEl>
                                        <p:attrNameLst>
                                          <p:attrName>ppt_h</p:attrName>
                                        </p:attrNameLst>
                                      </p:cBhvr>
                                      <p:tavLst>
                                        <p:tav tm="0">
                                          <p:val>
                                            <p:fltVal val="0"/>
                                          </p:val>
                                        </p:tav>
                                        <p:tav tm="100000">
                                          <p:val>
                                            <p:strVal val="#ppt_h"/>
                                          </p:val>
                                        </p:tav>
                                      </p:tavLst>
                                    </p:anim>
                                    <p:animEffect transition="in" filter="fade">
                                      <p:cBhvr>
                                        <p:cTn id="13" dur="500"/>
                                        <p:tgtEl>
                                          <p:spTgt spid="5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1"/>
                                        </p:tgtEl>
                                        <p:attrNameLst>
                                          <p:attrName>style.visibility</p:attrName>
                                        </p:attrNameLst>
                                      </p:cBhvr>
                                      <p:to>
                                        <p:strVal val="visible"/>
                                      </p:to>
                                    </p:set>
                                    <p:animEffect transition="in" filter="fade">
                                      <p:cBhvr>
                                        <p:cTn id="18" dur="500"/>
                                        <p:tgtEl>
                                          <p:spTgt spid="5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fade">
                                      <p:cBhvr>
                                        <p:cTn id="21" dur="500"/>
                                        <p:tgtEl>
                                          <p:spTgt spid="55"/>
                                        </p:tgtEl>
                                      </p:cBhvr>
                                    </p:animEffect>
                                  </p:childTnLst>
                                </p:cTn>
                              </p:par>
                              <p:par>
                                <p:cTn id="22" presetID="10" presetClass="entr" presetSubtype="0" fill="hold" nodeType="withEffect">
                                  <p:stCondLst>
                                    <p:cond delay="0"/>
                                  </p:stCondLst>
                                  <p:childTnLst>
                                    <p:set>
                                      <p:cBhvr>
                                        <p:cTn id="23" dur="1" fill="hold">
                                          <p:stCondLst>
                                            <p:cond delay="0"/>
                                          </p:stCondLst>
                                        </p:cTn>
                                        <p:tgtEl>
                                          <p:spTgt spid="44"/>
                                        </p:tgtEl>
                                        <p:attrNameLst>
                                          <p:attrName>style.visibility</p:attrName>
                                        </p:attrNameLst>
                                      </p:cBhvr>
                                      <p:to>
                                        <p:strVal val="visible"/>
                                      </p:to>
                                    </p:set>
                                    <p:animEffect transition="in" filter="fade">
                                      <p:cBhvr>
                                        <p:cTn id="24" dur="500"/>
                                        <p:tgtEl>
                                          <p:spTgt spid="4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fade">
                                      <p:cBhvr>
                                        <p:cTn id="27" dur="500"/>
                                        <p:tgtEl>
                                          <p:spTgt spid="5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1"/>
                                        </p:tgtEl>
                                        <p:attrNameLst>
                                          <p:attrName>style.visibility</p:attrName>
                                        </p:attrNameLst>
                                      </p:cBhvr>
                                      <p:to>
                                        <p:strVal val="visible"/>
                                      </p:to>
                                    </p:set>
                                    <p:animEffect transition="in" filter="fade">
                                      <p:cBhvr>
                                        <p:cTn id="32" dur="500"/>
                                        <p:tgtEl>
                                          <p:spTgt spid="7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p:tgtEl>
                                          <p:spTgt spid="5"/>
                                        </p:tgtEl>
                                      </p:cBhvr>
                                    </p:animEffect>
                                  </p:childTnLst>
                                </p:cTn>
                              </p:par>
                              <p:par>
                                <p:cTn id="36" presetID="10" presetClass="entr" presetSubtype="0" fill="hold" nodeType="withEffect">
                                  <p:stCondLst>
                                    <p:cond delay="0"/>
                                  </p:stCondLst>
                                  <p:childTnLst>
                                    <p:set>
                                      <p:cBhvr>
                                        <p:cTn id="37" dur="1" fill="hold">
                                          <p:stCondLst>
                                            <p:cond delay="0"/>
                                          </p:stCondLst>
                                        </p:cTn>
                                        <p:tgtEl>
                                          <p:spTgt spid="63"/>
                                        </p:tgtEl>
                                        <p:attrNameLst>
                                          <p:attrName>style.visibility</p:attrName>
                                        </p:attrNameLst>
                                      </p:cBhvr>
                                      <p:to>
                                        <p:strVal val="visible"/>
                                      </p:to>
                                    </p:set>
                                    <p:animEffect transition="in" filter="fade">
                                      <p:cBhvr>
                                        <p:cTn id="38" dur="500"/>
                                        <p:tgtEl>
                                          <p:spTgt spid="63"/>
                                        </p:tgtEl>
                                      </p:cBhvr>
                                    </p:animEffect>
                                  </p:childTnLst>
                                </p:cTn>
                              </p:par>
                              <p:par>
                                <p:cTn id="39" presetID="10" presetClass="entr" presetSubtype="0" fill="hold" nodeType="withEffect">
                                  <p:stCondLst>
                                    <p:cond delay="0"/>
                                  </p:stCondLst>
                                  <p:childTnLst>
                                    <p:set>
                                      <p:cBhvr>
                                        <p:cTn id="40" dur="1" fill="hold">
                                          <p:stCondLst>
                                            <p:cond delay="0"/>
                                          </p:stCondLst>
                                        </p:cTn>
                                        <p:tgtEl>
                                          <p:spTgt spid="80"/>
                                        </p:tgtEl>
                                        <p:attrNameLst>
                                          <p:attrName>style.visibility</p:attrName>
                                        </p:attrNameLst>
                                      </p:cBhvr>
                                      <p:to>
                                        <p:strVal val="visible"/>
                                      </p:to>
                                    </p:set>
                                    <p:animEffect transition="in" filter="fade">
                                      <p:cBhvr>
                                        <p:cTn id="41" dur="500"/>
                                        <p:tgtEl>
                                          <p:spTgt spid="8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9"/>
                                        </p:tgtEl>
                                        <p:attrNameLst>
                                          <p:attrName>style.visibility</p:attrName>
                                        </p:attrNameLst>
                                      </p:cBhvr>
                                      <p:to>
                                        <p:strVal val="visible"/>
                                      </p:to>
                                    </p:set>
                                    <p:animEffect transition="in" filter="fade">
                                      <p:cBhvr>
                                        <p:cTn id="44" dur="500"/>
                                        <p:tgtEl>
                                          <p:spTgt spid="4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46"/>
                                        </p:tgtEl>
                                        <p:attrNameLst>
                                          <p:attrName>style.visibility</p:attrName>
                                        </p:attrNameLst>
                                      </p:cBhvr>
                                      <p:to>
                                        <p:strVal val="visible"/>
                                      </p:to>
                                    </p:set>
                                    <p:animEffect transition="in" filter="fade">
                                      <p:cBhvr>
                                        <p:cTn id="49" dur="500"/>
                                        <p:tgtEl>
                                          <p:spTgt spid="4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nodeType="withEffect">
                                  <p:stCondLst>
                                    <p:cond delay="0"/>
                                  </p:stCondLst>
                                  <p:childTnLst>
                                    <p:set>
                                      <p:cBhvr>
                                        <p:cTn id="54" dur="1" fill="hold">
                                          <p:stCondLst>
                                            <p:cond delay="0"/>
                                          </p:stCondLst>
                                        </p:cTn>
                                        <p:tgtEl>
                                          <p:spTgt spid="64"/>
                                        </p:tgtEl>
                                        <p:attrNameLst>
                                          <p:attrName>style.visibility</p:attrName>
                                        </p:attrNameLst>
                                      </p:cBhvr>
                                      <p:to>
                                        <p:strVal val="visible"/>
                                      </p:to>
                                    </p:set>
                                    <p:animEffect transition="in" filter="fade">
                                      <p:cBhvr>
                                        <p:cTn id="55" dur="500"/>
                                        <p:tgtEl>
                                          <p:spTgt spid="6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67"/>
                                        </p:tgtEl>
                                        <p:attrNameLst>
                                          <p:attrName>style.visibility</p:attrName>
                                        </p:attrNameLst>
                                      </p:cBhvr>
                                      <p:to>
                                        <p:strVal val="visible"/>
                                      </p:to>
                                    </p:set>
                                    <p:animEffect transition="in" filter="fade">
                                      <p:cBhvr>
                                        <p:cTn id="63" dur="500"/>
                                        <p:tgtEl>
                                          <p:spTgt spid="6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nodeType="with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fade">
                                      <p:cBhvr>
                                        <p:cTn id="69" dur="500"/>
                                        <p:tgtEl>
                                          <p:spTgt spid="45"/>
                                        </p:tgtEl>
                                      </p:cBhvr>
                                    </p:animEffect>
                                  </p:childTnLst>
                                </p:cTn>
                              </p:par>
                              <p:par>
                                <p:cTn id="70" presetID="10" presetClass="entr" presetSubtype="0" fill="hold" nodeType="withEffect">
                                  <p:stCondLst>
                                    <p:cond delay="0"/>
                                  </p:stCondLst>
                                  <p:childTnLst>
                                    <p:set>
                                      <p:cBhvr>
                                        <p:cTn id="71" dur="1" fill="hold">
                                          <p:stCondLst>
                                            <p:cond delay="0"/>
                                          </p:stCondLst>
                                        </p:cTn>
                                        <p:tgtEl>
                                          <p:spTgt spid="83"/>
                                        </p:tgtEl>
                                        <p:attrNameLst>
                                          <p:attrName>style.visibility</p:attrName>
                                        </p:attrNameLst>
                                      </p:cBhvr>
                                      <p:to>
                                        <p:strVal val="visible"/>
                                      </p:to>
                                    </p:set>
                                    <p:animEffect transition="in" filter="fade">
                                      <p:cBhvr>
                                        <p:cTn id="72" dur="500"/>
                                        <p:tgtEl>
                                          <p:spTgt spid="8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57"/>
                                        </p:tgtEl>
                                        <p:attrNameLst>
                                          <p:attrName>style.visibility</p:attrName>
                                        </p:attrNameLst>
                                      </p:cBhvr>
                                      <p:to>
                                        <p:strVal val="visible"/>
                                      </p:to>
                                    </p:set>
                                    <p:animEffect transition="in" filter="fade">
                                      <p:cBhvr>
                                        <p:cTn id="7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2" grpId="0"/>
      <p:bldP spid="55" grpId="0"/>
      <p:bldP spid="56" grpId="0"/>
      <p:bldP spid="57" grpId="0"/>
      <p:bldP spid="5" grpId="0"/>
      <p:bldP spid="19" grpId="0"/>
      <p:bldP spid="20"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25"/>
          <p:cNvSpPr txBox="1"/>
          <p:nvPr/>
        </p:nvSpPr>
        <p:spPr>
          <a:xfrm>
            <a:off x="169250" y="1086835"/>
            <a:ext cx="8476800" cy="492412"/>
          </a:xfrm>
          <a:prstGeom prst="rect">
            <a:avLst/>
          </a:prstGeom>
          <a:noFill/>
          <a:ln>
            <a:noFill/>
          </a:ln>
        </p:spPr>
        <p:txBody>
          <a:bodyPr spcFirstLastPara="1" wrap="square" lIns="91425" tIns="91425" rIns="91425" bIns="91425" anchor="t" anchorCtr="0">
            <a:spAutoFit/>
          </a:bodyPr>
          <a:lstStyle/>
          <a:p>
            <a:pPr marL="101600" marR="0" lvl="0" algn="l" rtl="0">
              <a:lnSpc>
                <a:spcPct val="100000"/>
              </a:lnSpc>
              <a:spcBef>
                <a:spcPts val="0"/>
              </a:spcBef>
              <a:spcAft>
                <a:spcPts val="0"/>
              </a:spcAft>
              <a:buClr>
                <a:srgbClr val="833C0B"/>
              </a:buClr>
              <a:buSzPts val="2000"/>
            </a:pPr>
            <a:r>
              <a:rPr lang="fr-FR" sz="2000" b="1" i="0" u="none" strike="noStrike" cap="none" dirty="0">
                <a:solidFill>
                  <a:schemeClr val="accent6">
                    <a:lumMod val="60000"/>
                    <a:lumOff val="40000"/>
                  </a:schemeClr>
                </a:solidFill>
              </a:rPr>
              <a:t>Besoins non fonctionnels </a:t>
            </a:r>
            <a:endParaRPr sz="2000" b="1" i="0" u="none" strike="noStrike" cap="none" dirty="0">
              <a:solidFill>
                <a:schemeClr val="accent6">
                  <a:lumMod val="60000"/>
                  <a:lumOff val="40000"/>
                </a:schemeClr>
              </a:solidFill>
            </a:endParaRPr>
          </a:p>
        </p:txBody>
      </p:sp>
      <p:grpSp>
        <p:nvGrpSpPr>
          <p:cNvPr id="22" name="Google Shape;248;p19"/>
          <p:cNvGrpSpPr/>
          <p:nvPr/>
        </p:nvGrpSpPr>
        <p:grpSpPr>
          <a:xfrm>
            <a:off x="73062" y="269045"/>
            <a:ext cx="10365904" cy="650938"/>
            <a:chOff x="-43152" y="-19950"/>
            <a:chExt cx="10076703" cy="650938"/>
          </a:xfrm>
        </p:grpSpPr>
        <p:sp>
          <p:nvSpPr>
            <p:cNvPr id="23" name="Google Shape;250;p19"/>
            <p:cNvSpPr txBox="1"/>
            <p:nvPr/>
          </p:nvSpPr>
          <p:spPr>
            <a:xfrm>
              <a:off x="-43152" y="6652"/>
              <a:ext cx="2167800" cy="584700"/>
            </a:xfrm>
            <a:prstGeom prst="rect">
              <a:avLst/>
            </a:prstGeom>
            <a:solidFill>
              <a:srgbClr val="AEABAB"/>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24" name="Google Shape;251;p19"/>
            <p:cNvSpPr/>
            <p:nvPr/>
          </p:nvSpPr>
          <p:spPr>
            <a:xfrm>
              <a:off x="1778963" y="0"/>
              <a:ext cx="26382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5" name="Google Shape;252;p19"/>
            <p:cNvSpPr txBox="1"/>
            <p:nvPr/>
          </p:nvSpPr>
          <p:spPr>
            <a:xfrm>
              <a:off x="2071350" y="0"/>
              <a:ext cx="20535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26" name="Google Shape;253;p19"/>
            <p:cNvSpPr/>
            <p:nvPr/>
          </p:nvSpPr>
          <p:spPr>
            <a:xfrm>
              <a:off x="4023490" y="0"/>
              <a:ext cx="19680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7" name="Google Shape;254;p19"/>
            <p:cNvSpPr txBox="1"/>
            <p:nvPr/>
          </p:nvSpPr>
          <p:spPr>
            <a:xfrm>
              <a:off x="4261955" y="0"/>
              <a:ext cx="14373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3.Conception</a:t>
              </a:r>
              <a:endParaRPr sz="1400" b="1" i="0" u="none" strike="noStrike" cap="none">
                <a:solidFill>
                  <a:schemeClr val="lt1"/>
                </a:solidFill>
              </a:endParaRPr>
            </a:p>
          </p:txBody>
        </p:sp>
        <p:sp>
          <p:nvSpPr>
            <p:cNvPr id="28"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9" name="Google Shape;256;p19"/>
            <p:cNvSpPr txBox="1"/>
            <p:nvPr/>
          </p:nvSpPr>
          <p:spPr>
            <a:xfrm>
              <a:off x="5872496" y="-19950"/>
              <a:ext cx="18417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30"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31"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5</a:t>
              </a:r>
              <a:r>
                <a:rPr lang="fr-FR" sz="1700" b="1" i="0" u="none" strike="noStrike" cap="none" dirty="0">
                  <a:solidFill>
                    <a:schemeClr val="lt1"/>
                  </a:solidFill>
                </a:rPr>
                <a:t>.Conclusion et Perspectives</a:t>
              </a:r>
              <a:endParaRPr sz="1400" b="1" i="0" u="none" strike="noStrike" cap="none" dirty="0">
                <a:solidFill>
                  <a:schemeClr val="lt1"/>
                </a:solidFill>
              </a:endParaRPr>
            </a:p>
          </p:txBody>
        </p:sp>
      </p:grpSp>
      <p:sp>
        <p:nvSpPr>
          <p:cNvPr id="32" name="object 5"/>
          <p:cNvSpPr/>
          <p:nvPr/>
        </p:nvSpPr>
        <p:spPr>
          <a:xfrm>
            <a:off x="89525"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grpSp>
        <p:nvGrpSpPr>
          <p:cNvPr id="33" name="Group 18">
            <a:extLst>
              <a:ext uri="{FF2B5EF4-FFF2-40B4-BE49-F238E27FC236}">
                <a16:creationId xmlns:a16="http://schemas.microsoft.com/office/drawing/2014/main" id="{41DE3E05-1FDA-467D-7ACA-46FE6E0CE41C}"/>
              </a:ext>
            </a:extLst>
          </p:cNvPr>
          <p:cNvGrpSpPr/>
          <p:nvPr/>
        </p:nvGrpSpPr>
        <p:grpSpPr>
          <a:xfrm>
            <a:off x="4741736" y="2705407"/>
            <a:ext cx="2681243" cy="2681243"/>
            <a:chOff x="4308506" y="1641506"/>
            <a:chExt cx="3574990" cy="3574990"/>
          </a:xfrm>
        </p:grpSpPr>
        <p:sp>
          <p:nvSpPr>
            <p:cNvPr id="34" name="Freeform 10">
              <a:extLst>
                <a:ext uri="{FF2B5EF4-FFF2-40B4-BE49-F238E27FC236}">
                  <a16:creationId xmlns:a16="http://schemas.microsoft.com/office/drawing/2014/main" id="{F6537360-876B-5782-69E9-F2830465F49C}"/>
                </a:ext>
              </a:extLst>
            </p:cNvPr>
            <p:cNvSpPr/>
            <p:nvPr/>
          </p:nvSpPr>
          <p:spPr>
            <a:xfrm>
              <a:off x="6273800" y="1641506"/>
              <a:ext cx="960390" cy="636372"/>
            </a:xfrm>
            <a:custGeom>
              <a:avLst/>
              <a:gdLst>
                <a:gd name="connsiteX0" fmla="*/ 0 w 960390"/>
                <a:gd name="connsiteY0" fmla="*/ 0 h 636372"/>
                <a:gd name="connsiteX1" fmla="*/ 5880 w 960390"/>
                <a:gd name="connsiteY1" fmla="*/ 297 h 636372"/>
                <a:gd name="connsiteX2" fmla="*/ 826626 w 960390"/>
                <a:gd name="connsiteY2" fmla="*/ 297831 h 636372"/>
                <a:gd name="connsiteX3" fmla="*/ 960390 w 960390"/>
                <a:gd name="connsiteY3" fmla="*/ 397858 h 636372"/>
                <a:gd name="connsiteX4" fmla="*/ 721876 w 960390"/>
                <a:gd name="connsiteY4" fmla="*/ 636372 h 636372"/>
                <a:gd name="connsiteX5" fmla="*/ 639763 w 960390"/>
                <a:gd name="connsiteY5" fmla="*/ 574969 h 636372"/>
                <a:gd name="connsiteX6" fmla="*/ 116897 w 960390"/>
                <a:gd name="connsiteY6" fmla="*/ 354946 h 636372"/>
                <a:gd name="connsiteX7" fmla="*/ 0 w 960390"/>
                <a:gd name="connsiteY7" fmla="*/ 337105 h 636372"/>
                <a:gd name="connsiteX8" fmla="*/ 0 w 960390"/>
                <a:gd name="connsiteY8" fmla="*/ 0 h 63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0390" h="636372">
                  <a:moveTo>
                    <a:pt x="0" y="0"/>
                  </a:moveTo>
                  <a:lnTo>
                    <a:pt x="5880" y="297"/>
                  </a:lnTo>
                  <a:cubicBezTo>
                    <a:pt x="307841" y="30963"/>
                    <a:pt x="587694" y="136412"/>
                    <a:pt x="826626" y="297831"/>
                  </a:cubicBezTo>
                  <a:lnTo>
                    <a:pt x="960390" y="397858"/>
                  </a:lnTo>
                  <a:lnTo>
                    <a:pt x="721876" y="636372"/>
                  </a:lnTo>
                  <a:lnTo>
                    <a:pt x="639763" y="574969"/>
                  </a:lnTo>
                  <a:cubicBezTo>
                    <a:pt x="484178" y="469857"/>
                    <a:pt x="307276" y="393903"/>
                    <a:pt x="116897" y="354946"/>
                  </a:cubicBezTo>
                  <a:lnTo>
                    <a:pt x="0" y="337105"/>
                  </a:lnTo>
                  <a:lnTo>
                    <a:pt x="0"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5" name="Freeform 11">
              <a:extLst>
                <a:ext uri="{FF2B5EF4-FFF2-40B4-BE49-F238E27FC236}">
                  <a16:creationId xmlns:a16="http://schemas.microsoft.com/office/drawing/2014/main" id="{9ED06520-666C-6121-A28D-0DA904A4B4C1}"/>
                </a:ext>
              </a:extLst>
            </p:cNvPr>
            <p:cNvSpPr/>
            <p:nvPr/>
          </p:nvSpPr>
          <p:spPr>
            <a:xfrm>
              <a:off x="4957811" y="1641506"/>
              <a:ext cx="960389" cy="636372"/>
            </a:xfrm>
            <a:custGeom>
              <a:avLst/>
              <a:gdLst>
                <a:gd name="connsiteX0" fmla="*/ 960389 w 960389"/>
                <a:gd name="connsiteY0" fmla="*/ 0 h 636372"/>
                <a:gd name="connsiteX1" fmla="*/ 960389 w 960389"/>
                <a:gd name="connsiteY1" fmla="*/ 337105 h 636372"/>
                <a:gd name="connsiteX2" fmla="*/ 843494 w 960389"/>
                <a:gd name="connsiteY2" fmla="*/ 354946 h 636372"/>
                <a:gd name="connsiteX3" fmla="*/ 320628 w 960389"/>
                <a:gd name="connsiteY3" fmla="*/ 574969 h 636372"/>
                <a:gd name="connsiteX4" fmla="*/ 238514 w 960389"/>
                <a:gd name="connsiteY4" fmla="*/ 636372 h 636372"/>
                <a:gd name="connsiteX5" fmla="*/ 0 w 960389"/>
                <a:gd name="connsiteY5" fmla="*/ 397858 h 636372"/>
                <a:gd name="connsiteX6" fmla="*/ 133765 w 960389"/>
                <a:gd name="connsiteY6" fmla="*/ 297831 h 636372"/>
                <a:gd name="connsiteX7" fmla="*/ 954511 w 960389"/>
                <a:gd name="connsiteY7" fmla="*/ 297 h 636372"/>
                <a:gd name="connsiteX8" fmla="*/ 960389 w 960389"/>
                <a:gd name="connsiteY8" fmla="*/ 0 h 63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0389" h="636372">
                  <a:moveTo>
                    <a:pt x="960389" y="0"/>
                  </a:moveTo>
                  <a:lnTo>
                    <a:pt x="960389" y="337105"/>
                  </a:lnTo>
                  <a:lnTo>
                    <a:pt x="843494" y="354946"/>
                  </a:lnTo>
                  <a:cubicBezTo>
                    <a:pt x="653116" y="393903"/>
                    <a:pt x="476214" y="469857"/>
                    <a:pt x="320628" y="574969"/>
                  </a:cubicBezTo>
                  <a:lnTo>
                    <a:pt x="238514" y="636372"/>
                  </a:lnTo>
                  <a:lnTo>
                    <a:pt x="0" y="397858"/>
                  </a:lnTo>
                  <a:lnTo>
                    <a:pt x="133765" y="297831"/>
                  </a:lnTo>
                  <a:cubicBezTo>
                    <a:pt x="372697" y="136412"/>
                    <a:pt x="652550" y="30963"/>
                    <a:pt x="954511" y="297"/>
                  </a:cubicBezTo>
                  <a:lnTo>
                    <a:pt x="960389"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6" name="Freeform 12">
              <a:extLst>
                <a:ext uri="{FF2B5EF4-FFF2-40B4-BE49-F238E27FC236}">
                  <a16:creationId xmlns:a16="http://schemas.microsoft.com/office/drawing/2014/main" id="{63309346-3C24-F393-EBCE-307318E760CC}"/>
                </a:ext>
              </a:extLst>
            </p:cNvPr>
            <p:cNvSpPr/>
            <p:nvPr/>
          </p:nvSpPr>
          <p:spPr>
            <a:xfrm>
              <a:off x="7247124" y="2290811"/>
              <a:ext cx="636372" cy="960390"/>
            </a:xfrm>
            <a:custGeom>
              <a:avLst/>
              <a:gdLst>
                <a:gd name="connsiteX0" fmla="*/ 238514 w 636372"/>
                <a:gd name="connsiteY0" fmla="*/ 0 h 960390"/>
                <a:gd name="connsiteX1" fmla="*/ 338541 w 636372"/>
                <a:gd name="connsiteY1" fmla="*/ 133765 h 960390"/>
                <a:gd name="connsiteX2" fmla="*/ 636075 w 636372"/>
                <a:gd name="connsiteY2" fmla="*/ 954511 h 960390"/>
                <a:gd name="connsiteX3" fmla="*/ 636372 w 636372"/>
                <a:gd name="connsiteY3" fmla="*/ 960390 h 960390"/>
                <a:gd name="connsiteX4" fmla="*/ 299267 w 636372"/>
                <a:gd name="connsiteY4" fmla="*/ 960390 h 960390"/>
                <a:gd name="connsiteX5" fmla="*/ 281426 w 636372"/>
                <a:gd name="connsiteY5" fmla="*/ 843494 h 960390"/>
                <a:gd name="connsiteX6" fmla="*/ 61403 w 636372"/>
                <a:gd name="connsiteY6" fmla="*/ 320628 h 960390"/>
                <a:gd name="connsiteX7" fmla="*/ 0 w 636372"/>
                <a:gd name="connsiteY7" fmla="*/ 238514 h 960390"/>
                <a:gd name="connsiteX8" fmla="*/ 238514 w 636372"/>
                <a:gd name="connsiteY8" fmla="*/ 0 h 960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6372" h="960390">
                  <a:moveTo>
                    <a:pt x="238514" y="0"/>
                  </a:moveTo>
                  <a:lnTo>
                    <a:pt x="338541" y="133765"/>
                  </a:lnTo>
                  <a:cubicBezTo>
                    <a:pt x="499961" y="372697"/>
                    <a:pt x="605409" y="652550"/>
                    <a:pt x="636075" y="954511"/>
                  </a:cubicBezTo>
                  <a:lnTo>
                    <a:pt x="636372" y="960390"/>
                  </a:lnTo>
                  <a:lnTo>
                    <a:pt x="299267" y="960390"/>
                  </a:lnTo>
                  <a:lnTo>
                    <a:pt x="281426" y="843494"/>
                  </a:lnTo>
                  <a:cubicBezTo>
                    <a:pt x="242469" y="653116"/>
                    <a:pt x="166515" y="476214"/>
                    <a:pt x="61403" y="320628"/>
                  </a:cubicBezTo>
                  <a:lnTo>
                    <a:pt x="0" y="238514"/>
                  </a:lnTo>
                  <a:lnTo>
                    <a:pt x="238514"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chemeClr val="tx1"/>
                </a:solidFill>
              </a:endParaRPr>
            </a:p>
          </p:txBody>
        </p:sp>
        <p:sp>
          <p:nvSpPr>
            <p:cNvPr id="37" name="Freeform 13">
              <a:extLst>
                <a:ext uri="{FF2B5EF4-FFF2-40B4-BE49-F238E27FC236}">
                  <a16:creationId xmlns:a16="http://schemas.microsoft.com/office/drawing/2014/main" id="{5144876D-5337-42D2-039C-48734C7235AC}"/>
                </a:ext>
              </a:extLst>
            </p:cNvPr>
            <p:cNvSpPr/>
            <p:nvPr/>
          </p:nvSpPr>
          <p:spPr>
            <a:xfrm>
              <a:off x="4308506" y="2290812"/>
              <a:ext cx="636372" cy="960389"/>
            </a:xfrm>
            <a:custGeom>
              <a:avLst/>
              <a:gdLst>
                <a:gd name="connsiteX0" fmla="*/ 397858 w 636372"/>
                <a:gd name="connsiteY0" fmla="*/ 0 h 960389"/>
                <a:gd name="connsiteX1" fmla="*/ 636372 w 636372"/>
                <a:gd name="connsiteY1" fmla="*/ 238514 h 960389"/>
                <a:gd name="connsiteX2" fmla="*/ 574969 w 636372"/>
                <a:gd name="connsiteY2" fmla="*/ 320627 h 960389"/>
                <a:gd name="connsiteX3" fmla="*/ 354946 w 636372"/>
                <a:gd name="connsiteY3" fmla="*/ 843493 h 960389"/>
                <a:gd name="connsiteX4" fmla="*/ 337105 w 636372"/>
                <a:gd name="connsiteY4" fmla="*/ 960389 h 960389"/>
                <a:gd name="connsiteX5" fmla="*/ 0 w 636372"/>
                <a:gd name="connsiteY5" fmla="*/ 960389 h 960389"/>
                <a:gd name="connsiteX6" fmla="*/ 297 w 636372"/>
                <a:gd name="connsiteY6" fmla="*/ 954510 h 960389"/>
                <a:gd name="connsiteX7" fmla="*/ 297831 w 636372"/>
                <a:gd name="connsiteY7" fmla="*/ 133764 h 960389"/>
                <a:gd name="connsiteX8" fmla="*/ 397858 w 636372"/>
                <a:gd name="connsiteY8" fmla="*/ 0 h 960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6372" h="960389">
                  <a:moveTo>
                    <a:pt x="397858" y="0"/>
                  </a:moveTo>
                  <a:lnTo>
                    <a:pt x="636372" y="238514"/>
                  </a:lnTo>
                  <a:lnTo>
                    <a:pt x="574969" y="320627"/>
                  </a:lnTo>
                  <a:cubicBezTo>
                    <a:pt x="469858" y="476213"/>
                    <a:pt x="393903" y="653115"/>
                    <a:pt x="354946" y="843493"/>
                  </a:cubicBezTo>
                  <a:lnTo>
                    <a:pt x="337105" y="960389"/>
                  </a:lnTo>
                  <a:lnTo>
                    <a:pt x="0" y="960389"/>
                  </a:lnTo>
                  <a:lnTo>
                    <a:pt x="297" y="954510"/>
                  </a:lnTo>
                  <a:cubicBezTo>
                    <a:pt x="30963" y="652549"/>
                    <a:pt x="136412" y="372696"/>
                    <a:pt x="297831" y="133764"/>
                  </a:cubicBezTo>
                  <a:lnTo>
                    <a:pt x="39785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chemeClr val="tx1"/>
                </a:solidFill>
              </a:endParaRPr>
            </a:p>
          </p:txBody>
        </p:sp>
        <p:sp>
          <p:nvSpPr>
            <p:cNvPr id="38" name="Freeform 14">
              <a:extLst>
                <a:ext uri="{FF2B5EF4-FFF2-40B4-BE49-F238E27FC236}">
                  <a16:creationId xmlns:a16="http://schemas.microsoft.com/office/drawing/2014/main" id="{423D9BFB-902B-3EDF-C2D2-2121ED0C99B9}"/>
                </a:ext>
              </a:extLst>
            </p:cNvPr>
            <p:cNvSpPr/>
            <p:nvPr/>
          </p:nvSpPr>
          <p:spPr>
            <a:xfrm>
              <a:off x="4308506" y="3606801"/>
              <a:ext cx="636372" cy="960389"/>
            </a:xfrm>
            <a:custGeom>
              <a:avLst/>
              <a:gdLst>
                <a:gd name="connsiteX0" fmla="*/ 0 w 636372"/>
                <a:gd name="connsiteY0" fmla="*/ 0 h 960389"/>
                <a:gd name="connsiteX1" fmla="*/ 337105 w 636372"/>
                <a:gd name="connsiteY1" fmla="*/ 0 h 960389"/>
                <a:gd name="connsiteX2" fmla="*/ 354946 w 636372"/>
                <a:gd name="connsiteY2" fmla="*/ 116896 h 960389"/>
                <a:gd name="connsiteX3" fmla="*/ 574969 w 636372"/>
                <a:gd name="connsiteY3" fmla="*/ 639762 h 960389"/>
                <a:gd name="connsiteX4" fmla="*/ 636372 w 636372"/>
                <a:gd name="connsiteY4" fmla="*/ 721875 h 960389"/>
                <a:gd name="connsiteX5" fmla="*/ 397858 w 636372"/>
                <a:gd name="connsiteY5" fmla="*/ 960389 h 960389"/>
                <a:gd name="connsiteX6" fmla="*/ 297831 w 636372"/>
                <a:gd name="connsiteY6" fmla="*/ 826625 h 960389"/>
                <a:gd name="connsiteX7" fmla="*/ 297 w 636372"/>
                <a:gd name="connsiteY7" fmla="*/ 5879 h 960389"/>
                <a:gd name="connsiteX8" fmla="*/ 0 w 636372"/>
                <a:gd name="connsiteY8" fmla="*/ 0 h 960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6372" h="960389">
                  <a:moveTo>
                    <a:pt x="0" y="0"/>
                  </a:moveTo>
                  <a:lnTo>
                    <a:pt x="337105" y="0"/>
                  </a:lnTo>
                  <a:lnTo>
                    <a:pt x="354946" y="116896"/>
                  </a:lnTo>
                  <a:cubicBezTo>
                    <a:pt x="393903" y="307275"/>
                    <a:pt x="469858" y="484177"/>
                    <a:pt x="574969" y="639762"/>
                  </a:cubicBezTo>
                  <a:lnTo>
                    <a:pt x="636372" y="721875"/>
                  </a:lnTo>
                  <a:lnTo>
                    <a:pt x="397858" y="960389"/>
                  </a:lnTo>
                  <a:lnTo>
                    <a:pt x="297831" y="826625"/>
                  </a:lnTo>
                  <a:cubicBezTo>
                    <a:pt x="136412" y="587693"/>
                    <a:pt x="30963" y="307840"/>
                    <a:pt x="297" y="5879"/>
                  </a:cubicBezTo>
                  <a:lnTo>
                    <a:pt x="0" y="0"/>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39" name="Freeform 15">
              <a:extLst>
                <a:ext uri="{FF2B5EF4-FFF2-40B4-BE49-F238E27FC236}">
                  <a16:creationId xmlns:a16="http://schemas.microsoft.com/office/drawing/2014/main" id="{2B44379F-D812-D20E-3505-B45372E3763F}"/>
                </a:ext>
              </a:extLst>
            </p:cNvPr>
            <p:cNvSpPr/>
            <p:nvPr/>
          </p:nvSpPr>
          <p:spPr>
            <a:xfrm>
              <a:off x="7247124" y="3606801"/>
              <a:ext cx="636372" cy="960390"/>
            </a:xfrm>
            <a:custGeom>
              <a:avLst/>
              <a:gdLst>
                <a:gd name="connsiteX0" fmla="*/ 299267 w 636372"/>
                <a:gd name="connsiteY0" fmla="*/ 0 h 960390"/>
                <a:gd name="connsiteX1" fmla="*/ 636372 w 636372"/>
                <a:gd name="connsiteY1" fmla="*/ 0 h 960390"/>
                <a:gd name="connsiteX2" fmla="*/ 636075 w 636372"/>
                <a:gd name="connsiteY2" fmla="*/ 5879 h 960390"/>
                <a:gd name="connsiteX3" fmla="*/ 338541 w 636372"/>
                <a:gd name="connsiteY3" fmla="*/ 826625 h 960390"/>
                <a:gd name="connsiteX4" fmla="*/ 238514 w 636372"/>
                <a:gd name="connsiteY4" fmla="*/ 960390 h 960390"/>
                <a:gd name="connsiteX5" fmla="*/ 0 w 636372"/>
                <a:gd name="connsiteY5" fmla="*/ 721876 h 960390"/>
                <a:gd name="connsiteX6" fmla="*/ 61403 w 636372"/>
                <a:gd name="connsiteY6" fmla="*/ 639762 h 960390"/>
                <a:gd name="connsiteX7" fmla="*/ 281426 w 636372"/>
                <a:gd name="connsiteY7" fmla="*/ 116896 h 960390"/>
                <a:gd name="connsiteX8" fmla="*/ 299267 w 636372"/>
                <a:gd name="connsiteY8" fmla="*/ 0 h 960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6372" h="960390">
                  <a:moveTo>
                    <a:pt x="299267" y="0"/>
                  </a:moveTo>
                  <a:lnTo>
                    <a:pt x="636372" y="0"/>
                  </a:lnTo>
                  <a:lnTo>
                    <a:pt x="636075" y="5879"/>
                  </a:lnTo>
                  <a:cubicBezTo>
                    <a:pt x="605409" y="307840"/>
                    <a:pt x="499961" y="587693"/>
                    <a:pt x="338541" y="826625"/>
                  </a:cubicBezTo>
                  <a:lnTo>
                    <a:pt x="238514" y="960390"/>
                  </a:lnTo>
                  <a:lnTo>
                    <a:pt x="0" y="721876"/>
                  </a:lnTo>
                  <a:lnTo>
                    <a:pt x="61403" y="639762"/>
                  </a:lnTo>
                  <a:cubicBezTo>
                    <a:pt x="166515" y="484177"/>
                    <a:pt x="242469" y="307275"/>
                    <a:pt x="281426" y="116896"/>
                  </a:cubicBezTo>
                  <a:lnTo>
                    <a:pt x="299267" y="0"/>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40" name="Freeform 16">
              <a:extLst>
                <a:ext uri="{FF2B5EF4-FFF2-40B4-BE49-F238E27FC236}">
                  <a16:creationId xmlns:a16="http://schemas.microsoft.com/office/drawing/2014/main" id="{532C119B-5F09-A780-8D99-7ECFE6DB1ED1}"/>
                </a:ext>
              </a:extLst>
            </p:cNvPr>
            <p:cNvSpPr/>
            <p:nvPr/>
          </p:nvSpPr>
          <p:spPr>
            <a:xfrm>
              <a:off x="4957811" y="4580124"/>
              <a:ext cx="960389" cy="636372"/>
            </a:xfrm>
            <a:custGeom>
              <a:avLst/>
              <a:gdLst>
                <a:gd name="connsiteX0" fmla="*/ 238514 w 960389"/>
                <a:gd name="connsiteY0" fmla="*/ 0 h 636372"/>
                <a:gd name="connsiteX1" fmla="*/ 320628 w 960389"/>
                <a:gd name="connsiteY1" fmla="*/ 61403 h 636372"/>
                <a:gd name="connsiteX2" fmla="*/ 843494 w 960389"/>
                <a:gd name="connsiteY2" fmla="*/ 281426 h 636372"/>
                <a:gd name="connsiteX3" fmla="*/ 960389 w 960389"/>
                <a:gd name="connsiteY3" fmla="*/ 299267 h 636372"/>
                <a:gd name="connsiteX4" fmla="*/ 960389 w 960389"/>
                <a:gd name="connsiteY4" fmla="*/ 636372 h 636372"/>
                <a:gd name="connsiteX5" fmla="*/ 954511 w 960389"/>
                <a:gd name="connsiteY5" fmla="*/ 636075 h 636372"/>
                <a:gd name="connsiteX6" fmla="*/ 133765 w 960389"/>
                <a:gd name="connsiteY6" fmla="*/ 338541 h 636372"/>
                <a:gd name="connsiteX7" fmla="*/ 0 w 960389"/>
                <a:gd name="connsiteY7" fmla="*/ 238514 h 636372"/>
                <a:gd name="connsiteX8" fmla="*/ 238514 w 960389"/>
                <a:gd name="connsiteY8" fmla="*/ 0 h 63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0389" h="636372">
                  <a:moveTo>
                    <a:pt x="238514" y="0"/>
                  </a:moveTo>
                  <a:lnTo>
                    <a:pt x="320628" y="61403"/>
                  </a:lnTo>
                  <a:cubicBezTo>
                    <a:pt x="476214" y="166515"/>
                    <a:pt x="653116" y="242469"/>
                    <a:pt x="843494" y="281426"/>
                  </a:cubicBezTo>
                  <a:lnTo>
                    <a:pt x="960389" y="299267"/>
                  </a:lnTo>
                  <a:lnTo>
                    <a:pt x="960389" y="636372"/>
                  </a:lnTo>
                  <a:lnTo>
                    <a:pt x="954511" y="636075"/>
                  </a:lnTo>
                  <a:cubicBezTo>
                    <a:pt x="652550" y="605409"/>
                    <a:pt x="372697" y="499961"/>
                    <a:pt x="133765" y="338541"/>
                  </a:cubicBezTo>
                  <a:lnTo>
                    <a:pt x="0" y="238514"/>
                  </a:lnTo>
                  <a:lnTo>
                    <a:pt x="238514"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sp>
          <p:nvSpPr>
            <p:cNvPr id="41" name="Freeform 17">
              <a:extLst>
                <a:ext uri="{FF2B5EF4-FFF2-40B4-BE49-F238E27FC236}">
                  <a16:creationId xmlns:a16="http://schemas.microsoft.com/office/drawing/2014/main" id="{0C19EBC6-2F97-7B5E-B5AB-CC0417FDEA06}"/>
                </a:ext>
              </a:extLst>
            </p:cNvPr>
            <p:cNvSpPr/>
            <p:nvPr/>
          </p:nvSpPr>
          <p:spPr>
            <a:xfrm>
              <a:off x="6273800" y="4580124"/>
              <a:ext cx="960390" cy="636372"/>
            </a:xfrm>
            <a:custGeom>
              <a:avLst/>
              <a:gdLst>
                <a:gd name="connsiteX0" fmla="*/ 721876 w 960390"/>
                <a:gd name="connsiteY0" fmla="*/ 0 h 636372"/>
                <a:gd name="connsiteX1" fmla="*/ 960390 w 960390"/>
                <a:gd name="connsiteY1" fmla="*/ 238514 h 636372"/>
                <a:gd name="connsiteX2" fmla="*/ 826626 w 960390"/>
                <a:gd name="connsiteY2" fmla="*/ 338541 h 636372"/>
                <a:gd name="connsiteX3" fmla="*/ 5880 w 960390"/>
                <a:gd name="connsiteY3" fmla="*/ 636075 h 636372"/>
                <a:gd name="connsiteX4" fmla="*/ 0 w 960390"/>
                <a:gd name="connsiteY4" fmla="*/ 636372 h 636372"/>
                <a:gd name="connsiteX5" fmla="*/ 0 w 960390"/>
                <a:gd name="connsiteY5" fmla="*/ 299267 h 636372"/>
                <a:gd name="connsiteX6" fmla="*/ 116897 w 960390"/>
                <a:gd name="connsiteY6" fmla="*/ 281426 h 636372"/>
                <a:gd name="connsiteX7" fmla="*/ 639763 w 960390"/>
                <a:gd name="connsiteY7" fmla="*/ 61403 h 636372"/>
                <a:gd name="connsiteX8" fmla="*/ 721876 w 960390"/>
                <a:gd name="connsiteY8" fmla="*/ 0 h 63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0390" h="636372">
                  <a:moveTo>
                    <a:pt x="721876" y="0"/>
                  </a:moveTo>
                  <a:lnTo>
                    <a:pt x="960390" y="238514"/>
                  </a:lnTo>
                  <a:lnTo>
                    <a:pt x="826626" y="338541"/>
                  </a:lnTo>
                  <a:cubicBezTo>
                    <a:pt x="587694" y="499961"/>
                    <a:pt x="307841" y="605409"/>
                    <a:pt x="5880" y="636075"/>
                  </a:cubicBezTo>
                  <a:lnTo>
                    <a:pt x="0" y="636372"/>
                  </a:lnTo>
                  <a:lnTo>
                    <a:pt x="0" y="299267"/>
                  </a:lnTo>
                  <a:lnTo>
                    <a:pt x="116897" y="281426"/>
                  </a:lnTo>
                  <a:cubicBezTo>
                    <a:pt x="307276" y="242469"/>
                    <a:pt x="484178" y="166515"/>
                    <a:pt x="639763" y="61403"/>
                  </a:cubicBezTo>
                  <a:lnTo>
                    <a:pt x="721876"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grpSp>
      <p:grpSp>
        <p:nvGrpSpPr>
          <p:cNvPr id="42" name="Group 35">
            <a:extLst>
              <a:ext uri="{FF2B5EF4-FFF2-40B4-BE49-F238E27FC236}">
                <a16:creationId xmlns:a16="http://schemas.microsoft.com/office/drawing/2014/main" id="{0558098C-5938-92A7-3182-85B5B2E3B7AC}"/>
              </a:ext>
            </a:extLst>
          </p:cNvPr>
          <p:cNvGrpSpPr/>
          <p:nvPr/>
        </p:nvGrpSpPr>
        <p:grpSpPr>
          <a:xfrm>
            <a:off x="6757114" y="2705407"/>
            <a:ext cx="1473972" cy="477279"/>
            <a:chOff x="6995676" y="2094088"/>
            <a:chExt cx="1965296" cy="636372"/>
          </a:xfrm>
        </p:grpSpPr>
        <p:cxnSp>
          <p:nvCxnSpPr>
            <p:cNvPr id="43" name="Straight Connector 28">
              <a:extLst>
                <a:ext uri="{FF2B5EF4-FFF2-40B4-BE49-F238E27FC236}">
                  <a16:creationId xmlns:a16="http://schemas.microsoft.com/office/drawing/2014/main" id="{4423D92B-85A6-4C5D-8C58-90000E44B7C6}"/>
                </a:ext>
              </a:extLst>
            </p:cNvPr>
            <p:cNvCxnSpPr/>
            <p:nvPr/>
          </p:nvCxnSpPr>
          <p:spPr>
            <a:xfrm>
              <a:off x="7632048" y="2094088"/>
              <a:ext cx="1328924" cy="0"/>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30">
              <a:extLst>
                <a:ext uri="{FF2B5EF4-FFF2-40B4-BE49-F238E27FC236}">
                  <a16:creationId xmlns:a16="http://schemas.microsoft.com/office/drawing/2014/main" id="{DB7D87D2-419D-9627-70A2-338723195390}"/>
                </a:ext>
              </a:extLst>
            </p:cNvPr>
            <p:cNvCxnSpPr/>
            <p:nvPr/>
          </p:nvCxnSpPr>
          <p:spPr>
            <a:xfrm flipV="1">
              <a:off x="6995676" y="2094088"/>
              <a:ext cx="636372" cy="636372"/>
            </a:xfrm>
            <a:prstGeom prst="line">
              <a:avLst/>
            </a:prstGeom>
            <a:ln w="1905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cxnSp>
        <p:nvCxnSpPr>
          <p:cNvPr id="45" name="Straight Connector 49">
            <a:extLst>
              <a:ext uri="{FF2B5EF4-FFF2-40B4-BE49-F238E27FC236}">
                <a16:creationId xmlns:a16="http://schemas.microsoft.com/office/drawing/2014/main" id="{29C2160A-77B1-AEF4-433C-EB28F5C4C2A2}"/>
              </a:ext>
            </a:extLst>
          </p:cNvPr>
          <p:cNvCxnSpPr>
            <a:cxnSpLocks/>
          </p:cNvCxnSpPr>
          <p:nvPr/>
        </p:nvCxnSpPr>
        <p:spPr>
          <a:xfrm>
            <a:off x="3822604" y="4179379"/>
            <a:ext cx="1170093" cy="0"/>
          </a:xfrm>
          <a:prstGeom prst="line">
            <a:avLst/>
          </a:prstGeom>
          <a:ln w="19050">
            <a:solidFill>
              <a:srgbClr val="F45669"/>
            </a:solidFill>
          </a:ln>
        </p:spPr>
        <p:style>
          <a:lnRef idx="1">
            <a:schemeClr val="accent1"/>
          </a:lnRef>
          <a:fillRef idx="0">
            <a:schemeClr val="accent1"/>
          </a:fillRef>
          <a:effectRef idx="0">
            <a:schemeClr val="accent1"/>
          </a:effectRef>
          <a:fontRef idx="minor">
            <a:schemeClr val="tx1"/>
          </a:fontRef>
        </p:style>
      </p:cxnSp>
      <p:grpSp>
        <p:nvGrpSpPr>
          <p:cNvPr id="46" name="Group 36">
            <a:extLst>
              <a:ext uri="{FF2B5EF4-FFF2-40B4-BE49-F238E27FC236}">
                <a16:creationId xmlns:a16="http://schemas.microsoft.com/office/drawing/2014/main" id="{D401B286-B338-3672-3133-DDB9ADD85BA5}"/>
              </a:ext>
            </a:extLst>
          </p:cNvPr>
          <p:cNvGrpSpPr/>
          <p:nvPr/>
        </p:nvGrpSpPr>
        <p:grpSpPr>
          <a:xfrm flipV="1">
            <a:off x="6970571" y="4729133"/>
            <a:ext cx="1285386" cy="480060"/>
            <a:chOff x="6995676" y="2094088"/>
            <a:chExt cx="1713848" cy="636372"/>
          </a:xfrm>
        </p:grpSpPr>
        <p:cxnSp>
          <p:nvCxnSpPr>
            <p:cNvPr id="47" name="Straight Connector 37">
              <a:extLst>
                <a:ext uri="{FF2B5EF4-FFF2-40B4-BE49-F238E27FC236}">
                  <a16:creationId xmlns:a16="http://schemas.microsoft.com/office/drawing/2014/main" id="{8529BF9F-1FCC-A516-9596-4324CB22736B}"/>
                </a:ext>
              </a:extLst>
            </p:cNvPr>
            <p:cNvCxnSpPr/>
            <p:nvPr/>
          </p:nvCxnSpPr>
          <p:spPr>
            <a:xfrm flipV="1">
              <a:off x="7632048" y="2094088"/>
              <a:ext cx="1077476" cy="0"/>
            </a:xfrm>
            <a:prstGeom prst="line">
              <a:avLst/>
            </a:prstGeom>
            <a:ln w="1905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8" name="Straight Connector 38">
              <a:extLst>
                <a:ext uri="{FF2B5EF4-FFF2-40B4-BE49-F238E27FC236}">
                  <a16:creationId xmlns:a16="http://schemas.microsoft.com/office/drawing/2014/main" id="{54D00208-6058-AE16-8A85-9030E6BCD479}"/>
                </a:ext>
              </a:extLst>
            </p:cNvPr>
            <p:cNvCxnSpPr>
              <a:cxnSpLocks/>
            </p:cNvCxnSpPr>
            <p:nvPr/>
          </p:nvCxnSpPr>
          <p:spPr>
            <a:xfrm flipV="1">
              <a:off x="6995676" y="2094088"/>
              <a:ext cx="636372" cy="636372"/>
            </a:xfrm>
            <a:prstGeom prst="line">
              <a:avLst/>
            </a:prstGeom>
            <a:ln w="19050">
              <a:solidFill>
                <a:srgbClr val="92D050"/>
              </a:solidFill>
            </a:ln>
          </p:spPr>
          <p:style>
            <a:lnRef idx="1">
              <a:schemeClr val="accent1"/>
            </a:lnRef>
            <a:fillRef idx="0">
              <a:schemeClr val="accent1"/>
            </a:fillRef>
            <a:effectRef idx="0">
              <a:schemeClr val="accent1"/>
            </a:effectRef>
            <a:fontRef idx="minor">
              <a:schemeClr val="tx1"/>
            </a:fontRef>
          </p:style>
        </p:cxnSp>
      </p:grpSp>
      <p:sp>
        <p:nvSpPr>
          <p:cNvPr id="49" name="Rectangle 48">
            <a:extLst>
              <a:ext uri="{FF2B5EF4-FFF2-40B4-BE49-F238E27FC236}">
                <a16:creationId xmlns:a16="http://schemas.microsoft.com/office/drawing/2014/main" id="{4AEF449F-1FA7-A05B-DB2A-369E888B77BB}"/>
              </a:ext>
            </a:extLst>
          </p:cNvPr>
          <p:cNvSpPr/>
          <p:nvPr/>
        </p:nvSpPr>
        <p:spPr>
          <a:xfrm>
            <a:off x="8331307" y="4966378"/>
            <a:ext cx="1196161" cy="400110"/>
          </a:xfrm>
          <a:prstGeom prst="rect">
            <a:avLst/>
          </a:prstGeom>
        </p:spPr>
        <p:txBody>
          <a:bodyPr wrap="none">
            <a:spAutoFit/>
          </a:bodyPr>
          <a:lstStyle/>
          <a:p>
            <a:r>
              <a:rPr lang="fr-FR" sz="2000" b="1" dirty="0">
                <a:solidFill>
                  <a:srgbClr val="92D050"/>
                </a:solidFill>
              </a:rPr>
              <a:t>Sécurité</a:t>
            </a:r>
          </a:p>
        </p:txBody>
      </p:sp>
      <p:cxnSp>
        <p:nvCxnSpPr>
          <p:cNvPr id="50" name="Connecteur droit 49">
            <a:extLst>
              <a:ext uri="{FF2B5EF4-FFF2-40B4-BE49-F238E27FC236}">
                <a16:creationId xmlns:a16="http://schemas.microsoft.com/office/drawing/2014/main" id="{398C28B3-EAB1-3143-1486-3199339E5367}"/>
              </a:ext>
            </a:extLst>
          </p:cNvPr>
          <p:cNvCxnSpPr/>
          <p:nvPr/>
        </p:nvCxnSpPr>
        <p:spPr>
          <a:xfrm flipH="1" flipV="1">
            <a:off x="4936219" y="2653754"/>
            <a:ext cx="453452" cy="52893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4549C635-8CB7-9A6E-D456-48DD5C5B3B62}"/>
              </a:ext>
            </a:extLst>
          </p:cNvPr>
          <p:cNvCxnSpPr/>
          <p:nvPr/>
        </p:nvCxnSpPr>
        <p:spPr>
          <a:xfrm flipH="1" flipV="1">
            <a:off x="4129462" y="2639939"/>
            <a:ext cx="824754" cy="1793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2" name="ZoneTexte 51">
            <a:extLst>
              <a:ext uri="{FF2B5EF4-FFF2-40B4-BE49-F238E27FC236}">
                <a16:creationId xmlns:a16="http://schemas.microsoft.com/office/drawing/2014/main" id="{8EB49E1A-42EA-9C7D-CE2B-9DBC478892C0}"/>
              </a:ext>
            </a:extLst>
          </p:cNvPr>
          <p:cNvSpPr txBox="1"/>
          <p:nvPr/>
        </p:nvSpPr>
        <p:spPr>
          <a:xfrm>
            <a:off x="4844957" y="3405470"/>
            <a:ext cx="2482691" cy="1200329"/>
          </a:xfrm>
          <a:prstGeom prst="rect">
            <a:avLst/>
          </a:prstGeom>
          <a:noFill/>
        </p:spPr>
        <p:txBody>
          <a:bodyPr wrap="square" rtlCol="0">
            <a:spAutoFit/>
          </a:bodyPr>
          <a:lstStyle/>
          <a:p>
            <a:pPr algn="ctr"/>
            <a:r>
              <a:rPr lang="fr-FR" sz="2400" b="1" dirty="0">
                <a:solidFill>
                  <a:srgbClr val="002060"/>
                </a:solidFill>
              </a:rPr>
              <a:t>Besoins</a:t>
            </a:r>
          </a:p>
          <a:p>
            <a:pPr algn="ctr"/>
            <a:r>
              <a:rPr lang="fr-FR" sz="2400" b="1" dirty="0">
                <a:solidFill>
                  <a:srgbClr val="002060"/>
                </a:solidFill>
              </a:rPr>
              <a:t> non Fonctionnels</a:t>
            </a:r>
          </a:p>
        </p:txBody>
      </p:sp>
      <p:pic>
        <p:nvPicPr>
          <p:cNvPr id="53" name="Image 52" descr="icons_overlay.png">
            <a:extLst>
              <a:ext uri="{FF2B5EF4-FFF2-40B4-BE49-F238E27FC236}">
                <a16:creationId xmlns:a16="http://schemas.microsoft.com/office/drawing/2014/main" id="{370A5B29-1613-2B6E-36D7-31F3CB09BB3F}"/>
              </a:ext>
            </a:extLst>
          </p:cNvPr>
          <p:cNvPicPr>
            <a:picLocks noChangeAspect="1"/>
          </p:cNvPicPr>
          <p:nvPr/>
        </p:nvPicPr>
        <p:blipFill>
          <a:blip r:embed="rId3" cstate="print"/>
          <a:stretch>
            <a:fillRect/>
          </a:stretch>
        </p:blipFill>
        <p:spPr>
          <a:xfrm>
            <a:off x="7401514" y="1824521"/>
            <a:ext cx="762000" cy="762000"/>
          </a:xfrm>
          <a:prstGeom prst="rect">
            <a:avLst/>
          </a:prstGeom>
        </p:spPr>
      </p:pic>
      <p:sp>
        <p:nvSpPr>
          <p:cNvPr id="55" name="ZoneTexte 54">
            <a:extLst>
              <a:ext uri="{FF2B5EF4-FFF2-40B4-BE49-F238E27FC236}">
                <a16:creationId xmlns:a16="http://schemas.microsoft.com/office/drawing/2014/main" id="{C2DE4F92-8250-B35C-3C09-D64322781C64}"/>
              </a:ext>
            </a:extLst>
          </p:cNvPr>
          <p:cNvSpPr txBox="1"/>
          <p:nvPr/>
        </p:nvSpPr>
        <p:spPr>
          <a:xfrm>
            <a:off x="2530526" y="2395205"/>
            <a:ext cx="1978781" cy="400110"/>
          </a:xfrm>
          <a:prstGeom prst="rect">
            <a:avLst/>
          </a:prstGeom>
          <a:noFill/>
        </p:spPr>
        <p:txBody>
          <a:bodyPr wrap="square">
            <a:spAutoFit/>
          </a:bodyPr>
          <a:lstStyle/>
          <a:p>
            <a:pPr lvl="0"/>
            <a:r>
              <a:rPr lang="fr-FR" sz="2000" b="1" dirty="0">
                <a:solidFill>
                  <a:schemeClr val="accent2"/>
                </a:solidFill>
              </a:rPr>
              <a:t>Ergonomie</a:t>
            </a:r>
          </a:p>
        </p:txBody>
      </p:sp>
      <p:sp>
        <p:nvSpPr>
          <p:cNvPr id="56" name="ZoneTexte 55">
            <a:extLst>
              <a:ext uri="{FF2B5EF4-FFF2-40B4-BE49-F238E27FC236}">
                <a16:creationId xmlns:a16="http://schemas.microsoft.com/office/drawing/2014/main" id="{0FE1B019-2BA5-37BE-7FE0-5D0AC92ADA00}"/>
              </a:ext>
            </a:extLst>
          </p:cNvPr>
          <p:cNvSpPr txBox="1"/>
          <p:nvPr/>
        </p:nvSpPr>
        <p:spPr>
          <a:xfrm>
            <a:off x="8281356" y="2481617"/>
            <a:ext cx="2178376" cy="400110"/>
          </a:xfrm>
          <a:prstGeom prst="rect">
            <a:avLst/>
          </a:prstGeom>
          <a:noFill/>
        </p:spPr>
        <p:txBody>
          <a:bodyPr wrap="square">
            <a:spAutoFit/>
          </a:bodyPr>
          <a:lstStyle/>
          <a:p>
            <a:r>
              <a:rPr lang="fr-FR" sz="2000" b="1" dirty="0">
                <a:solidFill>
                  <a:schemeClr val="accent5">
                    <a:lumMod val="60000"/>
                    <a:lumOff val="40000"/>
                  </a:schemeClr>
                </a:solidFill>
              </a:rPr>
              <a:t>Disponibilité</a:t>
            </a:r>
            <a:endParaRPr lang="fr-FR" sz="2000" dirty="0">
              <a:solidFill>
                <a:schemeClr val="accent5">
                  <a:lumMod val="60000"/>
                  <a:lumOff val="40000"/>
                </a:schemeClr>
              </a:solidFill>
            </a:endParaRPr>
          </a:p>
        </p:txBody>
      </p:sp>
      <p:sp>
        <p:nvSpPr>
          <p:cNvPr id="57" name="ZoneTexte 56">
            <a:extLst>
              <a:ext uri="{FF2B5EF4-FFF2-40B4-BE49-F238E27FC236}">
                <a16:creationId xmlns:a16="http://schemas.microsoft.com/office/drawing/2014/main" id="{04212C0F-5824-D707-3E2D-3B9866A6ABEF}"/>
              </a:ext>
            </a:extLst>
          </p:cNvPr>
          <p:cNvSpPr txBox="1"/>
          <p:nvPr/>
        </p:nvSpPr>
        <p:spPr>
          <a:xfrm>
            <a:off x="2250469" y="3913445"/>
            <a:ext cx="2403514" cy="400110"/>
          </a:xfrm>
          <a:prstGeom prst="rect">
            <a:avLst/>
          </a:prstGeom>
          <a:noFill/>
        </p:spPr>
        <p:txBody>
          <a:bodyPr wrap="square">
            <a:spAutoFit/>
          </a:bodyPr>
          <a:lstStyle/>
          <a:p>
            <a:r>
              <a:rPr lang="fr-FR" sz="2000" b="1" dirty="0">
                <a:solidFill>
                  <a:srgbClr val="FF5D5D"/>
                </a:solidFill>
              </a:rPr>
              <a:t>Évolutivité</a:t>
            </a:r>
            <a:endParaRPr lang="fr-FR" sz="2000" dirty="0"/>
          </a:p>
        </p:txBody>
      </p:sp>
      <p:pic>
        <p:nvPicPr>
          <p:cNvPr id="60" name="Image 59">
            <a:extLst>
              <a:ext uri="{FF2B5EF4-FFF2-40B4-BE49-F238E27FC236}">
                <a16:creationId xmlns:a16="http://schemas.microsoft.com/office/drawing/2014/main" id="{256B4305-1663-70C7-08BE-553A3A7B38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55311" y="4180376"/>
            <a:ext cx="763795" cy="763795"/>
          </a:xfrm>
          <a:prstGeom prst="rect">
            <a:avLst/>
          </a:prstGeom>
        </p:spPr>
      </p:pic>
      <p:pic>
        <p:nvPicPr>
          <p:cNvPr id="61" name="Image 60">
            <a:extLst>
              <a:ext uri="{FF2B5EF4-FFF2-40B4-BE49-F238E27FC236}">
                <a16:creationId xmlns:a16="http://schemas.microsoft.com/office/drawing/2014/main" id="{CF78C6B2-7820-9516-6B95-B74CB2A2BA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39928" y="3159618"/>
            <a:ext cx="729003" cy="729003"/>
          </a:xfrm>
          <a:prstGeom prst="rect">
            <a:avLst/>
          </a:prstGeom>
        </p:spPr>
      </p:pic>
      <p:sp>
        <p:nvSpPr>
          <p:cNvPr id="2" name="Espace réservé du numéro de diapositive 1">
            <a:extLst>
              <a:ext uri="{FF2B5EF4-FFF2-40B4-BE49-F238E27FC236}">
                <a16:creationId xmlns:a16="http://schemas.microsoft.com/office/drawing/2014/main" id="{76671AA4-900D-4FD1-BDBF-1B1C8AF1EB37}"/>
              </a:ext>
            </a:extLst>
          </p:cNvPr>
          <p:cNvSpPr>
            <a:spLocks noGrp="1"/>
          </p:cNvSpPr>
          <p:nvPr>
            <p:ph type="sldNum" idx="12"/>
          </p:nvPr>
        </p:nvSpPr>
        <p:spPr>
          <a:xfrm>
            <a:off x="11602720" y="6319520"/>
            <a:ext cx="375920" cy="371475"/>
          </a:xfrm>
        </p:spPr>
        <p:txBody>
          <a:bodyPr/>
          <a:lstStyle/>
          <a:p>
            <a:pPr marL="0" lvl="0" indent="0" algn="r" rtl="0">
              <a:spcBef>
                <a:spcPts val="0"/>
              </a:spcBef>
              <a:spcAft>
                <a:spcPts val="0"/>
              </a:spcAft>
              <a:buNone/>
            </a:pPr>
            <a:r>
              <a:rPr lang="fr-FR" dirty="0"/>
              <a:t>10</a:t>
            </a:r>
          </a:p>
        </p:txBody>
      </p:sp>
      <p:grpSp>
        <p:nvGrpSpPr>
          <p:cNvPr id="58" name="Group 36">
            <a:extLst>
              <a:ext uri="{FF2B5EF4-FFF2-40B4-BE49-F238E27FC236}">
                <a16:creationId xmlns:a16="http://schemas.microsoft.com/office/drawing/2014/main" id="{E720417B-8F60-4379-95A8-5EE7567E9D8B}"/>
              </a:ext>
            </a:extLst>
          </p:cNvPr>
          <p:cNvGrpSpPr/>
          <p:nvPr/>
        </p:nvGrpSpPr>
        <p:grpSpPr>
          <a:xfrm flipV="1">
            <a:off x="4103082" y="5428512"/>
            <a:ext cx="1983221" cy="342653"/>
            <a:chOff x="7496200" y="1185640"/>
            <a:chExt cx="2644294" cy="454224"/>
          </a:xfrm>
        </p:grpSpPr>
        <p:cxnSp>
          <p:nvCxnSpPr>
            <p:cNvPr id="62" name="Straight Connector 37">
              <a:extLst>
                <a:ext uri="{FF2B5EF4-FFF2-40B4-BE49-F238E27FC236}">
                  <a16:creationId xmlns:a16="http://schemas.microsoft.com/office/drawing/2014/main" id="{EA14A93A-87EE-4683-83D1-1E6D6F7F0C75}"/>
                </a:ext>
              </a:extLst>
            </p:cNvPr>
            <p:cNvCxnSpPr>
              <a:cxnSpLocks/>
            </p:cNvCxnSpPr>
            <p:nvPr/>
          </p:nvCxnSpPr>
          <p:spPr>
            <a:xfrm>
              <a:off x="9706385" y="1185640"/>
              <a:ext cx="434109" cy="454224"/>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38">
              <a:extLst>
                <a:ext uri="{FF2B5EF4-FFF2-40B4-BE49-F238E27FC236}">
                  <a16:creationId xmlns:a16="http://schemas.microsoft.com/office/drawing/2014/main" id="{386C883D-444C-4C4B-A593-FDA88104C945}"/>
                </a:ext>
              </a:extLst>
            </p:cNvPr>
            <p:cNvCxnSpPr>
              <a:cxnSpLocks/>
            </p:cNvCxnSpPr>
            <p:nvPr/>
          </p:nvCxnSpPr>
          <p:spPr>
            <a:xfrm flipV="1">
              <a:off x="7496200" y="1185640"/>
              <a:ext cx="2210185"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8" name="ZoneTexte 7">
            <a:extLst>
              <a:ext uri="{FF2B5EF4-FFF2-40B4-BE49-F238E27FC236}">
                <a16:creationId xmlns:a16="http://schemas.microsoft.com/office/drawing/2014/main" id="{5B6EE565-4009-4EF2-AF78-45310E107944}"/>
              </a:ext>
            </a:extLst>
          </p:cNvPr>
          <p:cNvSpPr txBox="1"/>
          <p:nvPr/>
        </p:nvSpPr>
        <p:spPr>
          <a:xfrm rot="10800000" flipH="1" flipV="1">
            <a:off x="2264868" y="5504949"/>
            <a:ext cx="1876805" cy="400110"/>
          </a:xfrm>
          <a:prstGeom prst="rect">
            <a:avLst/>
          </a:prstGeom>
          <a:noFill/>
        </p:spPr>
        <p:txBody>
          <a:bodyPr wrap="square" rtlCol="0">
            <a:spAutoFit/>
          </a:bodyPr>
          <a:lstStyle/>
          <a:p>
            <a:r>
              <a:rPr lang="fr-FR" sz="2000" b="1" dirty="0">
                <a:solidFill>
                  <a:schemeClr val="tx2">
                    <a:lumMod val="50000"/>
                  </a:schemeClr>
                </a:solidFill>
              </a:rPr>
              <a:t>Performance</a:t>
            </a:r>
          </a:p>
        </p:txBody>
      </p:sp>
      <p:pic>
        <p:nvPicPr>
          <p:cNvPr id="10" name="Image 9">
            <a:extLst>
              <a:ext uri="{FF2B5EF4-FFF2-40B4-BE49-F238E27FC236}">
                <a16:creationId xmlns:a16="http://schemas.microsoft.com/office/drawing/2014/main" id="{CD629034-A127-40FD-9EA2-46963195E832}"/>
              </a:ext>
            </a:extLst>
          </p:cNvPr>
          <p:cNvPicPr>
            <a:picLocks noChangeAspect="1"/>
          </p:cNvPicPr>
          <p:nvPr/>
        </p:nvPicPr>
        <p:blipFill>
          <a:blip r:embed="rId6"/>
          <a:stretch>
            <a:fillRect/>
          </a:stretch>
        </p:blipFill>
        <p:spPr>
          <a:xfrm>
            <a:off x="2625985" y="4630651"/>
            <a:ext cx="995177" cy="995177"/>
          </a:xfrm>
          <a:prstGeom prst="rect">
            <a:avLst/>
          </a:prstGeom>
        </p:spPr>
      </p:pic>
      <p:pic>
        <p:nvPicPr>
          <p:cNvPr id="59" name="Image 58" descr="Une image contenant Graphique, capture d’écran, graphisme, conception&#10;&#10;Description générée automatiquement">
            <a:extLst>
              <a:ext uri="{FF2B5EF4-FFF2-40B4-BE49-F238E27FC236}">
                <a16:creationId xmlns:a16="http://schemas.microsoft.com/office/drawing/2014/main" id="{C5F406BD-80EF-46F0-999C-826AC0B0767F}"/>
              </a:ext>
            </a:extLst>
          </p:cNvPr>
          <p:cNvPicPr>
            <a:picLocks noChangeAspect="1"/>
          </p:cNvPicPr>
          <p:nvPr/>
        </p:nvPicPr>
        <p:blipFill rotWithShape="1">
          <a:blip r:embed="rId7">
            <a:extLst>
              <a:ext uri="{28A0092B-C50C-407E-A947-70E740481C1C}">
                <a14:useLocalDpi xmlns:a14="http://schemas.microsoft.com/office/drawing/2010/main" val="0"/>
              </a:ext>
            </a:extLst>
          </a:blip>
          <a:srcRect l="27351" t="6916" r="26259" b="3774"/>
          <a:stretch/>
        </p:blipFill>
        <p:spPr>
          <a:xfrm>
            <a:off x="3316744" y="1824521"/>
            <a:ext cx="704373" cy="556169"/>
          </a:xfrm>
          <a:prstGeom prst="rect">
            <a:avLst/>
          </a:prstGeom>
        </p:spPr>
      </p:pic>
    </p:spTree>
    <p:extLst>
      <p:ext uri="{BB962C8B-B14F-4D97-AF65-F5344CB8AC3E}">
        <p14:creationId xmlns:p14="http://schemas.microsoft.com/office/powerpoint/2010/main" val="5419741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heel(1)">
                                      <p:cBhvr>
                                        <p:cTn id="7" dur="2000"/>
                                        <p:tgtEl>
                                          <p:spTgt spid="33"/>
                                        </p:tgtEl>
                                      </p:cBhvr>
                                    </p:animEffect>
                                  </p:childTnLst>
                                </p:cTn>
                              </p:par>
                            </p:childTnLst>
                          </p:cTn>
                        </p:par>
                        <p:par>
                          <p:cTn id="8" fill="hold">
                            <p:stCondLst>
                              <p:cond delay="2000"/>
                            </p:stCondLst>
                            <p:childTnLst>
                              <p:par>
                                <p:cTn id="9" presetID="53" presetClass="entr" presetSubtype="16" fill="hold" grpId="0" nodeType="afterEffect">
                                  <p:stCondLst>
                                    <p:cond delay="0"/>
                                  </p:stCondLst>
                                  <p:childTnLst>
                                    <p:set>
                                      <p:cBhvr>
                                        <p:cTn id="10" dur="1" fill="hold">
                                          <p:stCondLst>
                                            <p:cond delay="0"/>
                                          </p:stCondLst>
                                        </p:cTn>
                                        <p:tgtEl>
                                          <p:spTgt spid="52"/>
                                        </p:tgtEl>
                                        <p:attrNameLst>
                                          <p:attrName>style.visibility</p:attrName>
                                        </p:attrNameLst>
                                      </p:cBhvr>
                                      <p:to>
                                        <p:strVal val="visible"/>
                                      </p:to>
                                    </p:set>
                                    <p:anim calcmode="lin" valueType="num">
                                      <p:cBhvr>
                                        <p:cTn id="11" dur="500" fill="hold"/>
                                        <p:tgtEl>
                                          <p:spTgt spid="52"/>
                                        </p:tgtEl>
                                        <p:attrNameLst>
                                          <p:attrName>ppt_w</p:attrName>
                                        </p:attrNameLst>
                                      </p:cBhvr>
                                      <p:tavLst>
                                        <p:tav tm="0">
                                          <p:val>
                                            <p:fltVal val="0"/>
                                          </p:val>
                                        </p:tav>
                                        <p:tav tm="100000">
                                          <p:val>
                                            <p:strVal val="#ppt_w"/>
                                          </p:val>
                                        </p:tav>
                                      </p:tavLst>
                                    </p:anim>
                                    <p:anim calcmode="lin" valueType="num">
                                      <p:cBhvr>
                                        <p:cTn id="12" dur="500" fill="hold"/>
                                        <p:tgtEl>
                                          <p:spTgt spid="52"/>
                                        </p:tgtEl>
                                        <p:attrNameLst>
                                          <p:attrName>ppt_h</p:attrName>
                                        </p:attrNameLst>
                                      </p:cBhvr>
                                      <p:tavLst>
                                        <p:tav tm="0">
                                          <p:val>
                                            <p:fltVal val="0"/>
                                          </p:val>
                                        </p:tav>
                                        <p:tav tm="100000">
                                          <p:val>
                                            <p:strVal val="#ppt_h"/>
                                          </p:val>
                                        </p:tav>
                                      </p:tavLst>
                                    </p:anim>
                                    <p:animEffect transition="in" filter="fade">
                                      <p:cBhvr>
                                        <p:cTn id="13" dur="500"/>
                                        <p:tgtEl>
                                          <p:spTgt spid="5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fade">
                                      <p:cBhvr>
                                        <p:cTn id="18" dur="500"/>
                                        <p:tgtEl>
                                          <p:spTgt spid="4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6"/>
                                        </p:tgtEl>
                                        <p:attrNameLst>
                                          <p:attrName>style.visibility</p:attrName>
                                        </p:attrNameLst>
                                      </p:cBhvr>
                                      <p:to>
                                        <p:strVal val="visible"/>
                                      </p:to>
                                    </p:set>
                                    <p:animEffect transition="in" filter="fade">
                                      <p:cBhvr>
                                        <p:cTn id="21" dur="500"/>
                                        <p:tgtEl>
                                          <p:spTgt spid="56"/>
                                        </p:tgtEl>
                                      </p:cBhvr>
                                    </p:animEffect>
                                  </p:childTnLst>
                                </p:cTn>
                              </p:par>
                              <p:par>
                                <p:cTn id="22" presetID="10" presetClass="entr" presetSubtype="0" fill="hold" nodeType="withEffect">
                                  <p:stCondLst>
                                    <p:cond delay="0"/>
                                  </p:stCondLst>
                                  <p:childTnLst>
                                    <p:set>
                                      <p:cBhvr>
                                        <p:cTn id="23" dur="1" fill="hold">
                                          <p:stCondLst>
                                            <p:cond delay="0"/>
                                          </p:stCondLst>
                                        </p:cTn>
                                        <p:tgtEl>
                                          <p:spTgt spid="53"/>
                                        </p:tgtEl>
                                        <p:attrNameLst>
                                          <p:attrName>style.visibility</p:attrName>
                                        </p:attrNameLst>
                                      </p:cBhvr>
                                      <p:to>
                                        <p:strVal val="visible"/>
                                      </p:to>
                                    </p:set>
                                    <p:animEffect transition="in" filter="fade">
                                      <p:cBhvr>
                                        <p:cTn id="24" dur="500"/>
                                        <p:tgtEl>
                                          <p:spTgt spid="5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fade">
                                      <p:cBhvr>
                                        <p:cTn id="29" dur="500"/>
                                        <p:tgtEl>
                                          <p:spTgt spid="4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fade">
                                      <p:cBhvr>
                                        <p:cTn id="32" dur="500"/>
                                        <p:tgtEl>
                                          <p:spTgt spid="49"/>
                                        </p:tgtEl>
                                      </p:cBhvr>
                                    </p:animEffect>
                                  </p:childTnLst>
                                </p:cTn>
                              </p:par>
                              <p:par>
                                <p:cTn id="33" presetID="10" presetClass="entr" presetSubtype="0" fill="hold" nodeType="with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fade">
                                      <p:cBhvr>
                                        <p:cTn id="35" dur="500"/>
                                        <p:tgtEl>
                                          <p:spTgt spid="6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8"/>
                                        </p:tgtEl>
                                        <p:attrNameLst>
                                          <p:attrName>style.visibility</p:attrName>
                                        </p:attrNameLst>
                                      </p:cBhvr>
                                      <p:to>
                                        <p:strVal val="visible"/>
                                      </p:to>
                                    </p:set>
                                    <p:animEffect transition="in" filter="fade">
                                      <p:cBhvr>
                                        <p:cTn id="40" dur="500"/>
                                        <p:tgtEl>
                                          <p:spTgt spid="5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par>
                                <p:cTn id="44" presetID="10" presetClass="entr" presetSubtype="0" fill="hold"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45"/>
                                        </p:tgtEl>
                                        <p:attrNameLst>
                                          <p:attrName>style.visibility</p:attrName>
                                        </p:attrNameLst>
                                      </p:cBhvr>
                                      <p:to>
                                        <p:strVal val="visible"/>
                                      </p:to>
                                    </p:set>
                                    <p:animEffect transition="in" filter="fade">
                                      <p:cBhvr>
                                        <p:cTn id="51" dur="500"/>
                                        <p:tgtEl>
                                          <p:spTgt spid="4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7"/>
                                        </p:tgtEl>
                                        <p:attrNameLst>
                                          <p:attrName>style.visibility</p:attrName>
                                        </p:attrNameLst>
                                      </p:cBhvr>
                                      <p:to>
                                        <p:strVal val="visible"/>
                                      </p:to>
                                    </p:set>
                                    <p:animEffect transition="in" filter="fade">
                                      <p:cBhvr>
                                        <p:cTn id="54" dur="500"/>
                                        <p:tgtEl>
                                          <p:spTgt spid="57"/>
                                        </p:tgtEl>
                                      </p:cBhvr>
                                    </p:animEffect>
                                  </p:childTnLst>
                                </p:cTn>
                              </p:par>
                              <p:par>
                                <p:cTn id="55" presetID="10" presetClass="entr" presetSubtype="0" fill="hold" nodeType="withEffect">
                                  <p:stCondLst>
                                    <p:cond delay="0"/>
                                  </p:stCondLst>
                                  <p:childTnLst>
                                    <p:set>
                                      <p:cBhvr>
                                        <p:cTn id="56" dur="1" fill="hold">
                                          <p:stCondLst>
                                            <p:cond delay="0"/>
                                          </p:stCondLst>
                                        </p:cTn>
                                        <p:tgtEl>
                                          <p:spTgt spid="61"/>
                                        </p:tgtEl>
                                        <p:attrNameLst>
                                          <p:attrName>style.visibility</p:attrName>
                                        </p:attrNameLst>
                                      </p:cBhvr>
                                      <p:to>
                                        <p:strVal val="visible"/>
                                      </p:to>
                                    </p:set>
                                    <p:animEffect transition="in" filter="fade">
                                      <p:cBhvr>
                                        <p:cTn id="57" dur="500"/>
                                        <p:tgtEl>
                                          <p:spTgt spid="6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0"/>
                                        </p:tgtEl>
                                        <p:attrNameLst>
                                          <p:attrName>style.visibility</p:attrName>
                                        </p:attrNameLst>
                                      </p:cBhvr>
                                      <p:to>
                                        <p:strVal val="visible"/>
                                      </p:to>
                                    </p:set>
                                    <p:animEffect transition="in" filter="fade">
                                      <p:cBhvr>
                                        <p:cTn id="62" dur="500"/>
                                        <p:tgtEl>
                                          <p:spTgt spid="50"/>
                                        </p:tgtEl>
                                      </p:cBhvr>
                                    </p:animEffect>
                                  </p:childTnLst>
                                </p:cTn>
                              </p:par>
                              <p:par>
                                <p:cTn id="63" presetID="10" presetClass="entr" presetSubtype="0" fill="hold" nodeType="withEffect">
                                  <p:stCondLst>
                                    <p:cond delay="0"/>
                                  </p:stCondLst>
                                  <p:childTnLst>
                                    <p:set>
                                      <p:cBhvr>
                                        <p:cTn id="64" dur="1" fill="hold">
                                          <p:stCondLst>
                                            <p:cond delay="0"/>
                                          </p:stCondLst>
                                        </p:cTn>
                                        <p:tgtEl>
                                          <p:spTgt spid="51"/>
                                        </p:tgtEl>
                                        <p:attrNameLst>
                                          <p:attrName>style.visibility</p:attrName>
                                        </p:attrNameLst>
                                      </p:cBhvr>
                                      <p:to>
                                        <p:strVal val="visible"/>
                                      </p:to>
                                    </p:set>
                                    <p:animEffect transition="in" filter="fade">
                                      <p:cBhvr>
                                        <p:cTn id="65" dur="500"/>
                                        <p:tgtEl>
                                          <p:spTgt spid="5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55"/>
                                        </p:tgtEl>
                                        <p:attrNameLst>
                                          <p:attrName>style.visibility</p:attrName>
                                        </p:attrNameLst>
                                      </p:cBhvr>
                                      <p:to>
                                        <p:strVal val="visible"/>
                                      </p:to>
                                    </p:set>
                                    <p:animEffect transition="in" filter="fade">
                                      <p:cBhvr>
                                        <p:cTn id="68" dur="500"/>
                                        <p:tgtEl>
                                          <p:spTgt spid="55"/>
                                        </p:tgtEl>
                                      </p:cBhvr>
                                    </p:animEffect>
                                  </p:childTnLst>
                                </p:cTn>
                              </p:par>
                              <p:par>
                                <p:cTn id="69" presetID="10" presetClass="entr" presetSubtype="0" fill="hold" nodeType="withEffect">
                                  <p:stCondLst>
                                    <p:cond delay="0"/>
                                  </p:stCondLst>
                                  <p:childTnLst>
                                    <p:set>
                                      <p:cBhvr>
                                        <p:cTn id="70" dur="1" fill="hold">
                                          <p:stCondLst>
                                            <p:cond delay="0"/>
                                          </p:stCondLst>
                                        </p:cTn>
                                        <p:tgtEl>
                                          <p:spTgt spid="59"/>
                                        </p:tgtEl>
                                        <p:attrNameLst>
                                          <p:attrName>style.visibility</p:attrName>
                                        </p:attrNameLst>
                                      </p:cBhvr>
                                      <p:to>
                                        <p:strVal val="visible"/>
                                      </p:to>
                                    </p:set>
                                    <p:animEffect transition="in" filter="fade">
                                      <p:cBhvr>
                                        <p:cTn id="71"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2" grpId="0"/>
      <p:bldP spid="55" grpId="0"/>
      <p:bldP spid="56" grpId="0"/>
      <p:bldP spid="5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5"/>
          <p:cNvSpPr/>
          <p:nvPr/>
        </p:nvSpPr>
        <p:spPr>
          <a:xfrm>
            <a:off x="145993" y="82210"/>
            <a:ext cx="11924088"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rgbClr val="92D050"/>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8" name="object 2"/>
          <p:cNvSpPr/>
          <p:nvPr/>
        </p:nvSpPr>
        <p:spPr>
          <a:xfrm>
            <a:off x="2207402" y="2924696"/>
            <a:ext cx="9838605" cy="1152313"/>
          </a:xfrm>
          <a:custGeom>
            <a:avLst/>
            <a:gdLst/>
            <a:ahLst/>
            <a:cxnLst/>
            <a:rect l="l" t="t" r="r" b="b"/>
            <a:pathLst>
              <a:path w="8507095" h="864235">
                <a:moveTo>
                  <a:pt x="8506968" y="0"/>
                </a:moveTo>
                <a:lnTo>
                  <a:pt x="0" y="0"/>
                </a:lnTo>
                <a:lnTo>
                  <a:pt x="0" y="864107"/>
                </a:lnTo>
                <a:lnTo>
                  <a:pt x="8506968" y="864107"/>
                </a:lnTo>
                <a:lnTo>
                  <a:pt x="8506968" y="0"/>
                </a:lnTo>
                <a:close/>
              </a:path>
            </a:pathLst>
          </a:custGeom>
          <a:solidFill>
            <a:schemeClr val="accent6">
              <a:lumMod val="60000"/>
              <a:lumOff val="40000"/>
            </a:schemeClr>
          </a:solidFill>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9" name="object 3"/>
          <p:cNvSpPr txBox="1">
            <a:spLocks noGrp="1"/>
          </p:cNvSpPr>
          <p:nvPr>
            <p:ph type="title"/>
          </p:nvPr>
        </p:nvSpPr>
        <p:spPr>
          <a:xfrm>
            <a:off x="4982046" y="3228172"/>
            <a:ext cx="3657600" cy="401819"/>
          </a:xfrm>
          <a:prstGeom prst="rect">
            <a:avLst/>
          </a:prstGeom>
        </p:spPr>
        <p:txBody>
          <a:bodyPr vert="horz" wrap="square" lIns="0" tIns="16933" rIns="0" bIns="0" rtlCol="0">
            <a:spAutoFit/>
          </a:bodyPr>
          <a:lstStyle/>
          <a:p>
            <a:pPr lvl="0">
              <a:lnSpc>
                <a:spcPct val="100000"/>
              </a:lnSpc>
              <a:buClr>
                <a:srgbClr val="000000"/>
              </a:buClr>
              <a:buSzPts val="2500"/>
            </a:pPr>
            <a:r>
              <a:rPr lang="fr-FR" sz="2400" b="1" dirty="0">
                <a:solidFill>
                  <a:schemeClr val="bg1"/>
                </a:solidFill>
                <a:latin typeface="+mj-lt"/>
              </a:rPr>
              <a:t>Conception</a:t>
            </a:r>
          </a:p>
        </p:txBody>
      </p:sp>
      <p:pic>
        <p:nvPicPr>
          <p:cNvPr id="10" name="object 6"/>
          <p:cNvPicPr/>
          <p:nvPr/>
        </p:nvPicPr>
        <p:blipFill>
          <a:blip r:embed="rId3" cstate="print"/>
          <a:stretch>
            <a:fillRect/>
          </a:stretch>
        </p:blipFill>
        <p:spPr>
          <a:xfrm>
            <a:off x="3572681" y="2962465"/>
            <a:ext cx="919915" cy="933234"/>
          </a:xfrm>
          <a:prstGeom prst="rect">
            <a:avLst/>
          </a:prstGeom>
        </p:spPr>
      </p:pic>
      <p:sp>
        <p:nvSpPr>
          <p:cNvPr id="2" name="Espace réservé du numéro de diapositive 1">
            <a:extLst>
              <a:ext uri="{FF2B5EF4-FFF2-40B4-BE49-F238E27FC236}">
                <a16:creationId xmlns:a16="http://schemas.microsoft.com/office/drawing/2014/main" id="{01870961-2CB0-4BE7-BBB4-81659700AF57}"/>
              </a:ext>
            </a:extLst>
          </p:cNvPr>
          <p:cNvSpPr>
            <a:spLocks noGrp="1"/>
          </p:cNvSpPr>
          <p:nvPr>
            <p:ph type="sldNum" idx="12"/>
          </p:nvPr>
        </p:nvSpPr>
        <p:spPr>
          <a:xfrm>
            <a:off x="11536003" y="6305550"/>
            <a:ext cx="391160" cy="365125"/>
          </a:xfrm>
        </p:spPr>
        <p:txBody>
          <a:bodyPr/>
          <a:lstStyle/>
          <a:p>
            <a:pPr marL="0" lvl="0" indent="0" algn="r" rtl="0">
              <a:spcBef>
                <a:spcPts val="0"/>
              </a:spcBef>
              <a:spcAft>
                <a:spcPts val="0"/>
              </a:spcAft>
              <a:buNone/>
            </a:pPr>
            <a:r>
              <a:rPr lang="fr-FR" dirty="0"/>
              <a:t>11</a:t>
            </a:r>
          </a:p>
        </p:txBody>
      </p:sp>
    </p:spTree>
    <p:extLst>
      <p:ext uri="{BB962C8B-B14F-4D97-AF65-F5344CB8AC3E}">
        <p14:creationId xmlns:p14="http://schemas.microsoft.com/office/powerpoint/2010/main" val="2836618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grpSp>
        <p:nvGrpSpPr>
          <p:cNvPr id="17" name="Google Shape;248;p19"/>
          <p:cNvGrpSpPr/>
          <p:nvPr/>
        </p:nvGrpSpPr>
        <p:grpSpPr>
          <a:xfrm>
            <a:off x="73062" y="269603"/>
            <a:ext cx="10365904" cy="650938"/>
            <a:chOff x="-43152" y="-19950"/>
            <a:chExt cx="10076703" cy="650938"/>
          </a:xfrm>
        </p:grpSpPr>
        <p:sp>
          <p:nvSpPr>
            <p:cNvPr id="18" name="Google Shape;250;p19"/>
            <p:cNvSpPr txBox="1"/>
            <p:nvPr/>
          </p:nvSpPr>
          <p:spPr>
            <a:xfrm>
              <a:off x="-43152" y="6652"/>
              <a:ext cx="2167800" cy="584700"/>
            </a:xfrm>
            <a:prstGeom prst="rect">
              <a:avLst/>
            </a:prstGeom>
            <a:solidFill>
              <a:srgbClr val="AEABAB"/>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19" name="Google Shape;251;p19"/>
            <p:cNvSpPr/>
            <p:nvPr/>
          </p:nvSpPr>
          <p:spPr>
            <a:xfrm>
              <a:off x="1778963" y="0"/>
              <a:ext cx="26382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0" name="Google Shape;252;p19"/>
            <p:cNvSpPr txBox="1"/>
            <p:nvPr/>
          </p:nvSpPr>
          <p:spPr>
            <a:xfrm>
              <a:off x="2071350" y="0"/>
              <a:ext cx="2053500" cy="584700"/>
            </a:xfrm>
            <a:prstGeom prst="rect">
              <a:avLst/>
            </a:prstGeom>
            <a:solidFill>
              <a:srgbClr val="AEABAB"/>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21" name="Google Shape;253;p19"/>
            <p:cNvSpPr/>
            <p:nvPr/>
          </p:nvSpPr>
          <p:spPr>
            <a:xfrm>
              <a:off x="4023490" y="0"/>
              <a:ext cx="19680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2" name="Google Shape;254;p19"/>
            <p:cNvSpPr txBox="1"/>
            <p:nvPr/>
          </p:nvSpPr>
          <p:spPr>
            <a:xfrm>
              <a:off x="4261955" y="0"/>
              <a:ext cx="14373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23"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4" name="Google Shape;256;p19"/>
            <p:cNvSpPr txBox="1"/>
            <p:nvPr/>
          </p:nvSpPr>
          <p:spPr>
            <a:xfrm>
              <a:off x="5872496" y="-19950"/>
              <a:ext cx="18417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25"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6"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5</a:t>
              </a:r>
              <a:r>
                <a:rPr lang="fr-FR" sz="1700" b="1" i="0" u="none" strike="noStrike" cap="none">
                  <a:solidFill>
                    <a:schemeClr val="lt1"/>
                  </a:solidFill>
                </a:rPr>
                <a:t>.Conclusion et Perspectives</a:t>
              </a:r>
              <a:endParaRPr sz="1400" b="1" i="0" u="none" strike="noStrike" cap="none">
                <a:solidFill>
                  <a:schemeClr val="lt1"/>
                </a:solidFill>
              </a:endParaRPr>
            </a:p>
          </p:txBody>
        </p:sp>
      </p:grpSp>
      <p:sp>
        <p:nvSpPr>
          <p:cNvPr id="27" name="object 5"/>
          <p:cNvSpPr/>
          <p:nvPr/>
        </p:nvSpPr>
        <p:spPr>
          <a:xfrm>
            <a:off x="73062"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29" name="Google Shape;312;p22"/>
          <p:cNvSpPr txBox="1"/>
          <p:nvPr/>
        </p:nvSpPr>
        <p:spPr>
          <a:xfrm>
            <a:off x="557245" y="1038089"/>
            <a:ext cx="8476800" cy="461635"/>
          </a:xfrm>
          <a:prstGeom prst="rect">
            <a:avLst/>
          </a:prstGeom>
          <a:noFill/>
          <a:ln>
            <a:noFill/>
          </a:ln>
        </p:spPr>
        <p:txBody>
          <a:bodyPr spcFirstLastPara="1" wrap="square" lIns="91425" tIns="91425" rIns="91425" bIns="91425" anchor="t" anchorCtr="0">
            <a:spAutoFit/>
          </a:bodyPr>
          <a:lstStyle/>
          <a:p>
            <a:pPr marL="101600" marR="0" lvl="0" algn="l" rtl="0">
              <a:lnSpc>
                <a:spcPct val="100000"/>
              </a:lnSpc>
              <a:spcBef>
                <a:spcPts val="0"/>
              </a:spcBef>
              <a:spcAft>
                <a:spcPts val="0"/>
              </a:spcAft>
              <a:buClr>
                <a:srgbClr val="C55A11"/>
              </a:buClr>
              <a:buSzPts val="2000"/>
            </a:pPr>
            <a:r>
              <a:rPr lang="fr-FR" sz="1800" b="1" i="0" u="none" strike="noStrike" cap="none" dirty="0">
                <a:solidFill>
                  <a:schemeClr val="accent6">
                    <a:lumMod val="60000"/>
                    <a:lumOff val="40000"/>
                  </a:schemeClr>
                </a:solidFill>
              </a:rPr>
              <a:t>Diagramme de cas d’utilisation global </a:t>
            </a:r>
            <a:endParaRPr sz="1800" b="1" i="0" u="none" strike="noStrike" cap="none" dirty="0">
              <a:solidFill>
                <a:schemeClr val="accent6">
                  <a:lumMod val="60000"/>
                  <a:lumOff val="40000"/>
                </a:schemeClr>
              </a:solidFill>
            </a:endParaRPr>
          </a:p>
        </p:txBody>
      </p:sp>
      <p:sp>
        <p:nvSpPr>
          <p:cNvPr id="16" name="Espace réservé du numéro de diapositive 1">
            <a:extLst>
              <a:ext uri="{FF2B5EF4-FFF2-40B4-BE49-F238E27FC236}">
                <a16:creationId xmlns:a16="http://schemas.microsoft.com/office/drawing/2014/main" id="{0EBF62A4-0FA8-4A29-9208-75EFA24D2724}"/>
              </a:ext>
            </a:extLst>
          </p:cNvPr>
          <p:cNvSpPr>
            <a:spLocks noGrp="1"/>
          </p:cNvSpPr>
          <p:nvPr>
            <p:ph type="sldNum" idx="12"/>
          </p:nvPr>
        </p:nvSpPr>
        <p:spPr>
          <a:xfrm>
            <a:off x="11582400" y="6305550"/>
            <a:ext cx="370840" cy="365125"/>
          </a:xfrm>
        </p:spPr>
        <p:txBody>
          <a:bodyPr/>
          <a:lstStyle/>
          <a:p>
            <a:pPr marL="0" lvl="0" indent="0" algn="r" rtl="0">
              <a:spcBef>
                <a:spcPts val="0"/>
              </a:spcBef>
              <a:spcAft>
                <a:spcPts val="0"/>
              </a:spcAft>
              <a:buNone/>
            </a:pPr>
            <a:r>
              <a:rPr lang="fr-FR" dirty="0"/>
              <a:t>12</a:t>
            </a:r>
          </a:p>
        </p:txBody>
      </p:sp>
      <p:pic>
        <p:nvPicPr>
          <p:cNvPr id="6" name="Image 5">
            <a:extLst>
              <a:ext uri="{FF2B5EF4-FFF2-40B4-BE49-F238E27FC236}">
                <a16:creationId xmlns:a16="http://schemas.microsoft.com/office/drawing/2014/main" id="{AEB0315F-C8D7-4885-87BA-2F2C839C1680}"/>
              </a:ext>
            </a:extLst>
          </p:cNvPr>
          <p:cNvPicPr>
            <a:picLocks noChangeAspect="1"/>
          </p:cNvPicPr>
          <p:nvPr/>
        </p:nvPicPr>
        <p:blipFill>
          <a:blip r:embed="rId3"/>
          <a:stretch>
            <a:fillRect/>
          </a:stretch>
        </p:blipFill>
        <p:spPr>
          <a:xfrm>
            <a:off x="2490486" y="1953113"/>
            <a:ext cx="8476800" cy="4904887"/>
          </a:xfrm>
          <a:prstGeom prst="rect">
            <a:avLst/>
          </a:prstGeom>
        </p:spPr>
      </p:pic>
    </p:spTree>
    <p:extLst>
      <p:ext uri="{BB962C8B-B14F-4D97-AF65-F5344CB8AC3E}">
        <p14:creationId xmlns:p14="http://schemas.microsoft.com/office/powerpoint/2010/main" val="215584401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grpSp>
        <p:nvGrpSpPr>
          <p:cNvPr id="17" name="Google Shape;248;p19"/>
          <p:cNvGrpSpPr/>
          <p:nvPr/>
        </p:nvGrpSpPr>
        <p:grpSpPr>
          <a:xfrm>
            <a:off x="73062" y="269603"/>
            <a:ext cx="10365904" cy="650938"/>
            <a:chOff x="-43152" y="-19950"/>
            <a:chExt cx="10076703" cy="650938"/>
          </a:xfrm>
        </p:grpSpPr>
        <p:sp>
          <p:nvSpPr>
            <p:cNvPr id="18" name="Google Shape;250;p19"/>
            <p:cNvSpPr txBox="1"/>
            <p:nvPr/>
          </p:nvSpPr>
          <p:spPr>
            <a:xfrm>
              <a:off x="-43152" y="6652"/>
              <a:ext cx="2167800" cy="584700"/>
            </a:xfrm>
            <a:prstGeom prst="rect">
              <a:avLst/>
            </a:prstGeom>
            <a:solidFill>
              <a:srgbClr val="AEABAB"/>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19" name="Google Shape;251;p19"/>
            <p:cNvSpPr/>
            <p:nvPr/>
          </p:nvSpPr>
          <p:spPr>
            <a:xfrm>
              <a:off x="1778963" y="0"/>
              <a:ext cx="26382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0" name="Google Shape;252;p19"/>
            <p:cNvSpPr txBox="1"/>
            <p:nvPr/>
          </p:nvSpPr>
          <p:spPr>
            <a:xfrm>
              <a:off x="2071350" y="0"/>
              <a:ext cx="2053500" cy="584700"/>
            </a:xfrm>
            <a:prstGeom prst="rect">
              <a:avLst/>
            </a:prstGeom>
            <a:solidFill>
              <a:srgbClr val="AEABAB"/>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21" name="Google Shape;253;p19"/>
            <p:cNvSpPr/>
            <p:nvPr/>
          </p:nvSpPr>
          <p:spPr>
            <a:xfrm>
              <a:off x="4023490" y="0"/>
              <a:ext cx="19680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2" name="Google Shape;254;p19"/>
            <p:cNvSpPr txBox="1"/>
            <p:nvPr/>
          </p:nvSpPr>
          <p:spPr>
            <a:xfrm>
              <a:off x="4261955" y="0"/>
              <a:ext cx="14373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23"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4" name="Google Shape;256;p19"/>
            <p:cNvSpPr txBox="1"/>
            <p:nvPr/>
          </p:nvSpPr>
          <p:spPr>
            <a:xfrm>
              <a:off x="5872496" y="-19950"/>
              <a:ext cx="18417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25"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6"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5</a:t>
              </a:r>
              <a:r>
                <a:rPr lang="fr-FR" sz="1700" b="1" i="0" u="none" strike="noStrike" cap="none">
                  <a:solidFill>
                    <a:schemeClr val="lt1"/>
                  </a:solidFill>
                </a:rPr>
                <a:t>.Conclusion et Perspectives</a:t>
              </a:r>
              <a:endParaRPr sz="1400" b="1" i="0" u="none" strike="noStrike" cap="none">
                <a:solidFill>
                  <a:schemeClr val="lt1"/>
                </a:solidFill>
              </a:endParaRPr>
            </a:p>
          </p:txBody>
        </p:sp>
      </p:grpSp>
      <p:sp>
        <p:nvSpPr>
          <p:cNvPr id="27" name="object 5"/>
          <p:cNvSpPr/>
          <p:nvPr/>
        </p:nvSpPr>
        <p:spPr>
          <a:xfrm>
            <a:off x="73062"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29" name="Google Shape;312;p22"/>
          <p:cNvSpPr txBox="1"/>
          <p:nvPr/>
        </p:nvSpPr>
        <p:spPr>
          <a:xfrm>
            <a:off x="557245" y="1038089"/>
            <a:ext cx="8476800" cy="461635"/>
          </a:xfrm>
          <a:prstGeom prst="rect">
            <a:avLst/>
          </a:prstGeom>
          <a:noFill/>
          <a:ln>
            <a:noFill/>
          </a:ln>
        </p:spPr>
        <p:txBody>
          <a:bodyPr spcFirstLastPara="1" wrap="square" lIns="91425" tIns="91425" rIns="91425" bIns="91425" anchor="t" anchorCtr="0">
            <a:spAutoFit/>
          </a:bodyPr>
          <a:lstStyle/>
          <a:p>
            <a:pPr marL="101600" marR="0" lvl="0" algn="l" rtl="0">
              <a:lnSpc>
                <a:spcPct val="100000"/>
              </a:lnSpc>
              <a:spcBef>
                <a:spcPts val="0"/>
              </a:spcBef>
              <a:spcAft>
                <a:spcPts val="0"/>
              </a:spcAft>
              <a:buClr>
                <a:srgbClr val="C55A11"/>
              </a:buClr>
              <a:buSzPts val="2000"/>
            </a:pPr>
            <a:r>
              <a:rPr lang="fr-FR" sz="1800" b="1" i="0" u="none" strike="noStrike" cap="none" dirty="0">
                <a:solidFill>
                  <a:schemeClr val="accent6">
                    <a:lumMod val="60000"/>
                    <a:lumOff val="40000"/>
                  </a:schemeClr>
                </a:solidFill>
              </a:rPr>
              <a:t>Diagramme de classes global </a:t>
            </a:r>
            <a:endParaRPr sz="1800" b="1" i="0" u="none" strike="noStrike" cap="none" dirty="0">
              <a:solidFill>
                <a:schemeClr val="accent6">
                  <a:lumMod val="60000"/>
                  <a:lumOff val="40000"/>
                </a:schemeClr>
              </a:solidFill>
            </a:endParaRPr>
          </a:p>
        </p:txBody>
      </p:sp>
      <p:sp>
        <p:nvSpPr>
          <p:cNvPr id="16" name="Espace réservé du numéro de diapositive 1">
            <a:extLst>
              <a:ext uri="{FF2B5EF4-FFF2-40B4-BE49-F238E27FC236}">
                <a16:creationId xmlns:a16="http://schemas.microsoft.com/office/drawing/2014/main" id="{0EBF62A4-0FA8-4A29-9208-75EFA24D2724}"/>
              </a:ext>
            </a:extLst>
          </p:cNvPr>
          <p:cNvSpPr>
            <a:spLocks noGrp="1"/>
          </p:cNvSpPr>
          <p:nvPr>
            <p:ph type="sldNum" idx="12"/>
          </p:nvPr>
        </p:nvSpPr>
        <p:spPr>
          <a:xfrm>
            <a:off x="11582400" y="6305550"/>
            <a:ext cx="370840" cy="365125"/>
          </a:xfrm>
        </p:spPr>
        <p:txBody>
          <a:bodyPr/>
          <a:lstStyle/>
          <a:p>
            <a:pPr marL="0" lvl="0" indent="0" algn="r" rtl="0">
              <a:spcBef>
                <a:spcPts val="0"/>
              </a:spcBef>
              <a:spcAft>
                <a:spcPts val="0"/>
              </a:spcAft>
              <a:buNone/>
            </a:pPr>
            <a:r>
              <a:rPr lang="fr-FR" dirty="0"/>
              <a:t>13</a:t>
            </a:r>
          </a:p>
        </p:txBody>
      </p:sp>
      <p:pic>
        <p:nvPicPr>
          <p:cNvPr id="3" name="Image 2">
            <a:extLst>
              <a:ext uri="{FF2B5EF4-FFF2-40B4-BE49-F238E27FC236}">
                <a16:creationId xmlns:a16="http://schemas.microsoft.com/office/drawing/2014/main" id="{736ADA30-1927-430E-9F01-0BB92F4CE425}"/>
              </a:ext>
            </a:extLst>
          </p:cNvPr>
          <p:cNvPicPr>
            <a:picLocks noChangeAspect="1"/>
          </p:cNvPicPr>
          <p:nvPr/>
        </p:nvPicPr>
        <p:blipFill>
          <a:blip r:embed="rId3"/>
          <a:stretch>
            <a:fillRect/>
          </a:stretch>
        </p:blipFill>
        <p:spPr>
          <a:xfrm>
            <a:off x="886292" y="1460088"/>
            <a:ext cx="8631936" cy="5062071"/>
          </a:xfrm>
          <a:prstGeom prst="rect">
            <a:avLst/>
          </a:prstGeom>
        </p:spPr>
      </p:pic>
    </p:spTree>
    <p:extLst>
      <p:ext uri="{BB962C8B-B14F-4D97-AF65-F5344CB8AC3E}">
        <p14:creationId xmlns:p14="http://schemas.microsoft.com/office/powerpoint/2010/main" val="268020951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grpSp>
        <p:nvGrpSpPr>
          <p:cNvPr id="17" name="Google Shape;248;p19"/>
          <p:cNvGrpSpPr/>
          <p:nvPr/>
        </p:nvGrpSpPr>
        <p:grpSpPr>
          <a:xfrm>
            <a:off x="73062" y="269603"/>
            <a:ext cx="10365904" cy="650938"/>
            <a:chOff x="-43152" y="-19950"/>
            <a:chExt cx="10076703" cy="650938"/>
          </a:xfrm>
        </p:grpSpPr>
        <p:sp>
          <p:nvSpPr>
            <p:cNvPr id="18" name="Google Shape;250;p19"/>
            <p:cNvSpPr txBox="1"/>
            <p:nvPr/>
          </p:nvSpPr>
          <p:spPr>
            <a:xfrm>
              <a:off x="-43152" y="6652"/>
              <a:ext cx="2167800" cy="584700"/>
            </a:xfrm>
            <a:prstGeom prst="rect">
              <a:avLst/>
            </a:prstGeom>
            <a:solidFill>
              <a:srgbClr val="AEABAB"/>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19" name="Google Shape;251;p19"/>
            <p:cNvSpPr/>
            <p:nvPr/>
          </p:nvSpPr>
          <p:spPr>
            <a:xfrm>
              <a:off x="1778963" y="0"/>
              <a:ext cx="26382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0" name="Google Shape;252;p19"/>
            <p:cNvSpPr txBox="1"/>
            <p:nvPr/>
          </p:nvSpPr>
          <p:spPr>
            <a:xfrm>
              <a:off x="2071350" y="0"/>
              <a:ext cx="2053500" cy="584700"/>
            </a:xfrm>
            <a:prstGeom prst="rect">
              <a:avLst/>
            </a:prstGeom>
            <a:solidFill>
              <a:srgbClr val="AEABAB"/>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21" name="Google Shape;253;p19"/>
            <p:cNvSpPr/>
            <p:nvPr/>
          </p:nvSpPr>
          <p:spPr>
            <a:xfrm>
              <a:off x="4023490" y="0"/>
              <a:ext cx="19680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2" name="Google Shape;254;p19"/>
            <p:cNvSpPr txBox="1"/>
            <p:nvPr/>
          </p:nvSpPr>
          <p:spPr>
            <a:xfrm>
              <a:off x="4261955" y="0"/>
              <a:ext cx="14373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23"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4" name="Google Shape;256;p19"/>
            <p:cNvSpPr txBox="1"/>
            <p:nvPr/>
          </p:nvSpPr>
          <p:spPr>
            <a:xfrm>
              <a:off x="5872496" y="-19950"/>
              <a:ext cx="18417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25"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6"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5</a:t>
              </a:r>
              <a:r>
                <a:rPr lang="fr-FR" sz="1700" b="1" i="0" u="none" strike="noStrike" cap="none">
                  <a:solidFill>
                    <a:schemeClr val="lt1"/>
                  </a:solidFill>
                </a:rPr>
                <a:t>.Conclusion et Perspectives</a:t>
              </a:r>
              <a:endParaRPr sz="1400" b="1" i="0" u="none" strike="noStrike" cap="none">
                <a:solidFill>
                  <a:schemeClr val="lt1"/>
                </a:solidFill>
              </a:endParaRPr>
            </a:p>
          </p:txBody>
        </p:sp>
      </p:grpSp>
      <p:sp>
        <p:nvSpPr>
          <p:cNvPr id="27" name="object 5"/>
          <p:cNvSpPr/>
          <p:nvPr/>
        </p:nvSpPr>
        <p:spPr>
          <a:xfrm>
            <a:off x="73062"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29" name="Google Shape;312;p22"/>
          <p:cNvSpPr txBox="1"/>
          <p:nvPr/>
        </p:nvSpPr>
        <p:spPr>
          <a:xfrm>
            <a:off x="263325" y="972644"/>
            <a:ext cx="8476800" cy="492412"/>
          </a:xfrm>
          <a:prstGeom prst="rect">
            <a:avLst/>
          </a:prstGeom>
          <a:noFill/>
          <a:ln>
            <a:noFill/>
          </a:ln>
        </p:spPr>
        <p:txBody>
          <a:bodyPr spcFirstLastPara="1" wrap="square" lIns="91425" tIns="91425" rIns="91425" bIns="91425" anchor="t" anchorCtr="0">
            <a:spAutoFit/>
          </a:bodyPr>
          <a:lstStyle/>
          <a:p>
            <a:pPr marL="101600" marR="0" lvl="0" algn="l" rtl="0">
              <a:lnSpc>
                <a:spcPct val="100000"/>
              </a:lnSpc>
              <a:spcBef>
                <a:spcPts val="0"/>
              </a:spcBef>
              <a:spcAft>
                <a:spcPts val="0"/>
              </a:spcAft>
              <a:buClr>
                <a:srgbClr val="C55A11"/>
              </a:buClr>
              <a:buSzPts val="2000"/>
            </a:pPr>
            <a:r>
              <a:rPr lang="fr-FR" sz="2000" b="1" dirty="0">
                <a:solidFill>
                  <a:schemeClr val="accent6">
                    <a:lumMod val="60000"/>
                    <a:lumOff val="40000"/>
                  </a:schemeClr>
                </a:solidFill>
              </a:rPr>
              <a:t>Planification des sprints et diagramme de Gantt </a:t>
            </a:r>
            <a:endParaRPr sz="1600" i="0" u="none" strike="noStrike" cap="none" dirty="0">
              <a:solidFill>
                <a:schemeClr val="accent6">
                  <a:lumMod val="60000"/>
                  <a:lumOff val="40000"/>
                </a:schemeClr>
              </a:solidFill>
            </a:endParaRPr>
          </a:p>
        </p:txBody>
      </p:sp>
      <p:pic>
        <p:nvPicPr>
          <p:cNvPr id="14" name="Image 13">
            <a:extLst>
              <a:ext uri="{FF2B5EF4-FFF2-40B4-BE49-F238E27FC236}">
                <a16:creationId xmlns:a16="http://schemas.microsoft.com/office/drawing/2014/main" id="{B2AB8EA3-67BF-4546-B446-787F5F8B1396}"/>
              </a:ext>
            </a:extLst>
          </p:cNvPr>
          <p:cNvPicPr>
            <a:picLocks noChangeAspect="1"/>
          </p:cNvPicPr>
          <p:nvPr/>
        </p:nvPicPr>
        <p:blipFill>
          <a:blip r:embed="rId3"/>
          <a:stretch>
            <a:fillRect/>
          </a:stretch>
        </p:blipFill>
        <p:spPr>
          <a:xfrm>
            <a:off x="830548" y="3991134"/>
            <a:ext cx="10091056" cy="2154067"/>
          </a:xfrm>
          <a:prstGeom prst="rect">
            <a:avLst/>
          </a:prstGeom>
        </p:spPr>
      </p:pic>
      <p:sp>
        <p:nvSpPr>
          <p:cNvPr id="16" name="Espace réservé du numéro de diapositive 1">
            <a:extLst>
              <a:ext uri="{FF2B5EF4-FFF2-40B4-BE49-F238E27FC236}">
                <a16:creationId xmlns:a16="http://schemas.microsoft.com/office/drawing/2014/main" id="{64598387-DEBD-4533-B196-744D7E3063B9}"/>
              </a:ext>
            </a:extLst>
          </p:cNvPr>
          <p:cNvSpPr>
            <a:spLocks noGrp="1"/>
          </p:cNvSpPr>
          <p:nvPr>
            <p:ph type="sldNum" idx="12"/>
          </p:nvPr>
        </p:nvSpPr>
        <p:spPr>
          <a:xfrm>
            <a:off x="11455605" y="6275070"/>
            <a:ext cx="441960" cy="365125"/>
          </a:xfrm>
        </p:spPr>
        <p:txBody>
          <a:bodyPr/>
          <a:lstStyle/>
          <a:p>
            <a:pPr marL="0" lvl="0" indent="0" algn="r" rtl="0">
              <a:spcBef>
                <a:spcPts val="0"/>
              </a:spcBef>
              <a:spcAft>
                <a:spcPts val="0"/>
              </a:spcAft>
              <a:buNone/>
            </a:pPr>
            <a:r>
              <a:rPr lang="fr-FR" dirty="0"/>
              <a:t>14</a:t>
            </a:r>
          </a:p>
        </p:txBody>
      </p:sp>
      <p:sp>
        <p:nvSpPr>
          <p:cNvPr id="4" name="Rectangle : coins arrondis 3">
            <a:extLst>
              <a:ext uri="{FF2B5EF4-FFF2-40B4-BE49-F238E27FC236}">
                <a16:creationId xmlns:a16="http://schemas.microsoft.com/office/drawing/2014/main" id="{051F6737-BFF4-4E14-8B02-3CEE8DAF1BE9}"/>
              </a:ext>
            </a:extLst>
          </p:cNvPr>
          <p:cNvSpPr/>
          <p:nvPr/>
        </p:nvSpPr>
        <p:spPr>
          <a:xfrm>
            <a:off x="608651" y="1590156"/>
            <a:ext cx="3566977" cy="492412"/>
          </a:xfrm>
          <a:prstGeom prst="round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b="1" dirty="0">
                <a:solidFill>
                  <a:schemeClr val="tx1"/>
                </a:solidFill>
              </a:rPr>
              <a:t>Sprint 1: Gestion des privilèges et des comptes utilisateurs</a:t>
            </a:r>
          </a:p>
        </p:txBody>
      </p:sp>
      <p:sp>
        <p:nvSpPr>
          <p:cNvPr id="28" name="Rectangle : coins arrondis 27">
            <a:extLst>
              <a:ext uri="{FF2B5EF4-FFF2-40B4-BE49-F238E27FC236}">
                <a16:creationId xmlns:a16="http://schemas.microsoft.com/office/drawing/2014/main" id="{C4453D99-4AD7-4C38-8A47-C659F339FA6F}"/>
              </a:ext>
            </a:extLst>
          </p:cNvPr>
          <p:cNvSpPr/>
          <p:nvPr/>
        </p:nvSpPr>
        <p:spPr>
          <a:xfrm>
            <a:off x="3304430" y="2203561"/>
            <a:ext cx="3273364" cy="388684"/>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b="1" dirty="0">
                <a:solidFill>
                  <a:schemeClr val="tx1"/>
                </a:solidFill>
              </a:rPr>
              <a:t>      Sprint 2: Module e-commerce</a:t>
            </a:r>
          </a:p>
        </p:txBody>
      </p:sp>
      <p:sp>
        <p:nvSpPr>
          <p:cNvPr id="31" name="Rectangle : coins arrondis 30">
            <a:extLst>
              <a:ext uri="{FF2B5EF4-FFF2-40B4-BE49-F238E27FC236}">
                <a16:creationId xmlns:a16="http://schemas.microsoft.com/office/drawing/2014/main" id="{3770F659-2538-4C52-B6D8-547317FFC105}"/>
              </a:ext>
            </a:extLst>
          </p:cNvPr>
          <p:cNvSpPr/>
          <p:nvPr/>
        </p:nvSpPr>
        <p:spPr>
          <a:xfrm>
            <a:off x="5876075" y="2704031"/>
            <a:ext cx="3159067" cy="492412"/>
          </a:xfrm>
          <a:prstGeom prst="roundRect">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b="1" dirty="0">
                <a:solidFill>
                  <a:schemeClr val="tx1"/>
                </a:solidFill>
              </a:rPr>
              <a:t>         Sprint 3: Gestion et suivi des pots connectés</a:t>
            </a:r>
          </a:p>
        </p:txBody>
      </p:sp>
      <p:sp>
        <p:nvSpPr>
          <p:cNvPr id="34" name="Rectangle : coins arrondis 33">
            <a:extLst>
              <a:ext uri="{FF2B5EF4-FFF2-40B4-BE49-F238E27FC236}">
                <a16:creationId xmlns:a16="http://schemas.microsoft.com/office/drawing/2014/main" id="{5CABCE7A-D67C-4FEA-B77F-561F847D026D}"/>
              </a:ext>
            </a:extLst>
          </p:cNvPr>
          <p:cNvSpPr/>
          <p:nvPr/>
        </p:nvSpPr>
        <p:spPr>
          <a:xfrm>
            <a:off x="8223637" y="3381846"/>
            <a:ext cx="3231968" cy="492412"/>
          </a:xfrm>
          <a:prstGeom prst="round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b="1" dirty="0">
                <a:solidFill>
                  <a:schemeClr val="tx1"/>
                </a:solidFill>
              </a:rPr>
              <a:t>         Sprint 4: Module éducatif  et gestion des réclamations</a:t>
            </a:r>
            <a:endParaRPr lang="fr-FR" sz="1400" dirty="0"/>
          </a:p>
        </p:txBody>
      </p:sp>
      <p:sp>
        <p:nvSpPr>
          <p:cNvPr id="13" name="Flèche : bas 12">
            <a:extLst>
              <a:ext uri="{FF2B5EF4-FFF2-40B4-BE49-F238E27FC236}">
                <a16:creationId xmlns:a16="http://schemas.microsoft.com/office/drawing/2014/main" id="{D11F361D-D811-46BC-8AF2-8488A147B249}"/>
              </a:ext>
            </a:extLst>
          </p:cNvPr>
          <p:cNvSpPr/>
          <p:nvPr/>
        </p:nvSpPr>
        <p:spPr>
          <a:xfrm>
            <a:off x="3450771" y="1939555"/>
            <a:ext cx="261258" cy="388684"/>
          </a:xfrm>
          <a:prstGeom prst="downArrow">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Flèche : bas 34">
            <a:extLst>
              <a:ext uri="{FF2B5EF4-FFF2-40B4-BE49-F238E27FC236}">
                <a16:creationId xmlns:a16="http://schemas.microsoft.com/office/drawing/2014/main" id="{65D25676-A197-4E4F-9404-CA27E0593A79}"/>
              </a:ext>
            </a:extLst>
          </p:cNvPr>
          <p:cNvSpPr/>
          <p:nvPr/>
        </p:nvSpPr>
        <p:spPr>
          <a:xfrm>
            <a:off x="6150269" y="2442331"/>
            <a:ext cx="261258" cy="388684"/>
          </a:xfrm>
          <a:prstGeom prst="downArrow">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6" name="Flèche : bas 35">
            <a:extLst>
              <a:ext uri="{FF2B5EF4-FFF2-40B4-BE49-F238E27FC236}">
                <a16:creationId xmlns:a16="http://schemas.microsoft.com/office/drawing/2014/main" id="{307DB000-860D-4202-8DF6-4EE02FCADE87}"/>
              </a:ext>
            </a:extLst>
          </p:cNvPr>
          <p:cNvSpPr/>
          <p:nvPr/>
        </p:nvSpPr>
        <p:spPr>
          <a:xfrm>
            <a:off x="8451737" y="3113887"/>
            <a:ext cx="261258" cy="388684"/>
          </a:xfrm>
          <a:prstGeom prst="down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91874830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 calcmode="lin" valueType="num">
                                      <p:cBhvr additive="base">
                                        <p:cTn id="23" dur="500" fill="hold"/>
                                        <p:tgtEl>
                                          <p:spTgt spid="28"/>
                                        </p:tgtEl>
                                        <p:attrNameLst>
                                          <p:attrName>ppt_x</p:attrName>
                                        </p:attrNameLst>
                                      </p:cBhvr>
                                      <p:tavLst>
                                        <p:tav tm="0">
                                          <p:val>
                                            <p:strVal val="0-#ppt_w/2"/>
                                          </p:val>
                                        </p:tav>
                                        <p:tav tm="100000">
                                          <p:val>
                                            <p:strVal val="#ppt_x"/>
                                          </p:val>
                                        </p:tav>
                                      </p:tavLst>
                                    </p:anim>
                                    <p:anim calcmode="lin" valueType="num">
                                      <p:cBhvr additive="base">
                                        <p:cTn id="24"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500"/>
                                        <p:tgtEl>
                                          <p:spTgt spid="35"/>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31"/>
                                        </p:tgtEl>
                                        <p:attrNameLst>
                                          <p:attrName>style.visibility</p:attrName>
                                        </p:attrNameLst>
                                      </p:cBhvr>
                                      <p:to>
                                        <p:strVal val="visible"/>
                                      </p:to>
                                    </p:set>
                                    <p:anim calcmode="lin" valueType="num">
                                      <p:cBhvr additive="base">
                                        <p:cTn id="34" dur="500" fill="hold"/>
                                        <p:tgtEl>
                                          <p:spTgt spid="31"/>
                                        </p:tgtEl>
                                        <p:attrNameLst>
                                          <p:attrName>ppt_x</p:attrName>
                                        </p:attrNameLst>
                                      </p:cBhvr>
                                      <p:tavLst>
                                        <p:tav tm="0">
                                          <p:val>
                                            <p:strVal val="0-#ppt_w/2"/>
                                          </p:val>
                                        </p:tav>
                                        <p:tav tm="100000">
                                          <p:val>
                                            <p:strVal val="#ppt_x"/>
                                          </p:val>
                                        </p:tav>
                                      </p:tavLst>
                                    </p:anim>
                                    <p:anim calcmode="lin" valueType="num">
                                      <p:cBhvr additive="base">
                                        <p:cTn id="35"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 calcmode="lin" valueType="num">
                                      <p:cBhvr additive="base">
                                        <p:cTn id="45" dur="500" fill="hold"/>
                                        <p:tgtEl>
                                          <p:spTgt spid="34"/>
                                        </p:tgtEl>
                                        <p:attrNameLst>
                                          <p:attrName>ppt_x</p:attrName>
                                        </p:attrNameLst>
                                      </p:cBhvr>
                                      <p:tavLst>
                                        <p:tav tm="0">
                                          <p:val>
                                            <p:strVal val="0-#ppt_w/2"/>
                                          </p:val>
                                        </p:tav>
                                        <p:tav tm="100000">
                                          <p:val>
                                            <p:strVal val="#ppt_x"/>
                                          </p:val>
                                        </p:tav>
                                      </p:tavLst>
                                    </p:anim>
                                    <p:anim calcmode="lin" valueType="num">
                                      <p:cBhvr additive="base">
                                        <p:cTn id="46" dur="5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8" grpId="0" animBg="1"/>
      <p:bldP spid="31" grpId="0" animBg="1"/>
      <p:bldP spid="34" grpId="0" animBg="1"/>
      <p:bldP spid="13" grpId="0" animBg="1"/>
      <p:bldP spid="35" grpId="0" animBg="1"/>
      <p:bldP spid="3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grpSp>
        <p:nvGrpSpPr>
          <p:cNvPr id="17" name="Google Shape;248;p19"/>
          <p:cNvGrpSpPr/>
          <p:nvPr/>
        </p:nvGrpSpPr>
        <p:grpSpPr>
          <a:xfrm>
            <a:off x="73062" y="269603"/>
            <a:ext cx="10365904" cy="650938"/>
            <a:chOff x="-43152" y="-19950"/>
            <a:chExt cx="10076703" cy="650938"/>
          </a:xfrm>
        </p:grpSpPr>
        <p:sp>
          <p:nvSpPr>
            <p:cNvPr id="18" name="Google Shape;250;p19"/>
            <p:cNvSpPr txBox="1"/>
            <p:nvPr/>
          </p:nvSpPr>
          <p:spPr>
            <a:xfrm>
              <a:off x="-43152" y="6652"/>
              <a:ext cx="2167800" cy="584700"/>
            </a:xfrm>
            <a:prstGeom prst="rect">
              <a:avLst/>
            </a:prstGeom>
            <a:solidFill>
              <a:srgbClr val="AEABAB"/>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19" name="Google Shape;251;p19"/>
            <p:cNvSpPr/>
            <p:nvPr/>
          </p:nvSpPr>
          <p:spPr>
            <a:xfrm>
              <a:off x="1778963" y="0"/>
              <a:ext cx="26382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0" name="Google Shape;252;p19"/>
            <p:cNvSpPr txBox="1"/>
            <p:nvPr/>
          </p:nvSpPr>
          <p:spPr>
            <a:xfrm>
              <a:off x="2071350" y="0"/>
              <a:ext cx="2053500" cy="584700"/>
            </a:xfrm>
            <a:prstGeom prst="rect">
              <a:avLst/>
            </a:prstGeom>
            <a:solidFill>
              <a:srgbClr val="AEABAB"/>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21" name="Google Shape;253;p19"/>
            <p:cNvSpPr/>
            <p:nvPr/>
          </p:nvSpPr>
          <p:spPr>
            <a:xfrm>
              <a:off x="4023490" y="0"/>
              <a:ext cx="19680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2" name="Google Shape;254;p19"/>
            <p:cNvSpPr txBox="1"/>
            <p:nvPr/>
          </p:nvSpPr>
          <p:spPr>
            <a:xfrm>
              <a:off x="4261955" y="0"/>
              <a:ext cx="14373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23"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4" name="Google Shape;256;p19"/>
            <p:cNvSpPr txBox="1"/>
            <p:nvPr/>
          </p:nvSpPr>
          <p:spPr>
            <a:xfrm>
              <a:off x="5872496" y="-19950"/>
              <a:ext cx="18417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25"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6"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5</a:t>
              </a:r>
              <a:r>
                <a:rPr lang="fr-FR" sz="1700" b="1" i="0" u="none" strike="noStrike" cap="none">
                  <a:solidFill>
                    <a:schemeClr val="lt1"/>
                  </a:solidFill>
                </a:rPr>
                <a:t>.Conclusion et Perspectives</a:t>
              </a:r>
              <a:endParaRPr sz="1400" b="1" i="0" u="none" strike="noStrike" cap="none">
                <a:solidFill>
                  <a:schemeClr val="lt1"/>
                </a:solidFill>
              </a:endParaRPr>
            </a:p>
          </p:txBody>
        </p:sp>
      </p:grpSp>
      <p:sp>
        <p:nvSpPr>
          <p:cNvPr id="27" name="object 5"/>
          <p:cNvSpPr/>
          <p:nvPr/>
        </p:nvSpPr>
        <p:spPr>
          <a:xfrm>
            <a:off x="73062"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29" name="Google Shape;312;p22"/>
          <p:cNvSpPr txBox="1"/>
          <p:nvPr/>
        </p:nvSpPr>
        <p:spPr>
          <a:xfrm>
            <a:off x="798908" y="1520074"/>
            <a:ext cx="8476800" cy="430857"/>
          </a:xfrm>
          <a:prstGeom prst="rect">
            <a:avLst/>
          </a:prstGeom>
          <a:noFill/>
          <a:ln>
            <a:noFill/>
          </a:ln>
        </p:spPr>
        <p:txBody>
          <a:bodyPr spcFirstLastPara="1" wrap="square" lIns="91425" tIns="91425" rIns="91425" bIns="91425" anchor="t" anchorCtr="0">
            <a:spAutoFit/>
          </a:bodyPr>
          <a:lstStyle/>
          <a:p>
            <a:pPr marL="101600" marR="0" lvl="0" algn="l" rtl="0">
              <a:lnSpc>
                <a:spcPct val="100000"/>
              </a:lnSpc>
              <a:spcBef>
                <a:spcPts val="0"/>
              </a:spcBef>
              <a:spcAft>
                <a:spcPts val="0"/>
              </a:spcAft>
              <a:buClr>
                <a:srgbClr val="C55A11"/>
              </a:buClr>
              <a:buSzPts val="2000"/>
            </a:pPr>
            <a:r>
              <a:rPr lang="fr-FR" sz="1600" b="1" i="0" u="none" strike="noStrike" cap="none" dirty="0">
                <a:solidFill>
                  <a:schemeClr val="accent6">
                    <a:lumMod val="60000"/>
                    <a:lumOff val="40000"/>
                  </a:schemeClr>
                </a:solidFill>
              </a:rPr>
              <a:t>     Diagramme de cas d’utilisation </a:t>
            </a:r>
            <a:endParaRPr sz="1600" b="1" i="0" u="none" strike="noStrike" cap="none" dirty="0">
              <a:solidFill>
                <a:schemeClr val="accent6">
                  <a:lumMod val="60000"/>
                  <a:lumOff val="40000"/>
                </a:schemeClr>
              </a:solidFill>
            </a:endParaRPr>
          </a:p>
        </p:txBody>
      </p:sp>
      <p:sp>
        <p:nvSpPr>
          <p:cNvPr id="2" name="Rectangle : coins arrondis 1">
            <a:extLst>
              <a:ext uri="{FF2B5EF4-FFF2-40B4-BE49-F238E27FC236}">
                <a16:creationId xmlns:a16="http://schemas.microsoft.com/office/drawing/2014/main" id="{61C70059-DB91-4C3C-B674-0890E1A3256D}"/>
              </a:ext>
            </a:extLst>
          </p:cNvPr>
          <p:cNvSpPr/>
          <p:nvPr/>
        </p:nvSpPr>
        <p:spPr>
          <a:xfrm>
            <a:off x="119270" y="1088331"/>
            <a:ext cx="6370320" cy="338822"/>
          </a:xfrm>
          <a:prstGeom prst="round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1600" marR="0" lvl="0" algn="l" rtl="0">
              <a:lnSpc>
                <a:spcPct val="100000"/>
              </a:lnSpc>
              <a:spcBef>
                <a:spcPts val="0"/>
              </a:spcBef>
              <a:spcAft>
                <a:spcPts val="0"/>
              </a:spcAft>
              <a:buClr>
                <a:srgbClr val="C55A11"/>
              </a:buClr>
              <a:buSzPts val="2000"/>
            </a:pPr>
            <a:r>
              <a:rPr lang="fr-FR" sz="1800" b="1" i="0" u="none" strike="noStrike" cap="none" dirty="0">
                <a:solidFill>
                  <a:schemeClr val="tx1"/>
                </a:solidFill>
              </a:rPr>
              <a:t>Sprint 1: Gest</a:t>
            </a:r>
            <a:r>
              <a:rPr lang="fr-FR" sz="1800" b="1" dirty="0">
                <a:solidFill>
                  <a:schemeClr val="tx1"/>
                </a:solidFill>
              </a:rPr>
              <a:t>ion des privilèges et comptes utilisateurs</a:t>
            </a:r>
            <a:endParaRPr lang="fr-FR" i="0" u="none" strike="noStrike" cap="none" dirty="0">
              <a:solidFill>
                <a:schemeClr val="tx1"/>
              </a:solidFill>
            </a:endParaRPr>
          </a:p>
        </p:txBody>
      </p:sp>
      <p:pic>
        <p:nvPicPr>
          <p:cNvPr id="28" name="Image 27">
            <a:extLst>
              <a:ext uri="{FF2B5EF4-FFF2-40B4-BE49-F238E27FC236}">
                <a16:creationId xmlns:a16="http://schemas.microsoft.com/office/drawing/2014/main" id="{2B010DB1-D671-41ED-90E7-CD0C587E996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091476" y="2090819"/>
            <a:ext cx="7569200" cy="4098793"/>
          </a:xfrm>
          <a:prstGeom prst="rect">
            <a:avLst/>
          </a:prstGeom>
          <a:noFill/>
          <a:ln>
            <a:noFill/>
          </a:ln>
        </p:spPr>
      </p:pic>
      <p:sp>
        <p:nvSpPr>
          <p:cNvPr id="16" name="Espace réservé du numéro de diapositive 1">
            <a:extLst>
              <a:ext uri="{FF2B5EF4-FFF2-40B4-BE49-F238E27FC236}">
                <a16:creationId xmlns:a16="http://schemas.microsoft.com/office/drawing/2014/main" id="{0EBF62A4-0FA8-4A29-9208-75EFA24D2724}"/>
              </a:ext>
            </a:extLst>
          </p:cNvPr>
          <p:cNvSpPr>
            <a:spLocks noGrp="1"/>
          </p:cNvSpPr>
          <p:nvPr>
            <p:ph type="sldNum" idx="12"/>
          </p:nvPr>
        </p:nvSpPr>
        <p:spPr>
          <a:xfrm>
            <a:off x="11582400" y="6305550"/>
            <a:ext cx="370840" cy="365125"/>
          </a:xfrm>
        </p:spPr>
        <p:txBody>
          <a:bodyPr/>
          <a:lstStyle/>
          <a:p>
            <a:pPr marL="0" lvl="0" indent="0" algn="r" rtl="0">
              <a:spcBef>
                <a:spcPts val="0"/>
              </a:spcBef>
              <a:spcAft>
                <a:spcPts val="0"/>
              </a:spcAft>
              <a:buNone/>
            </a:pPr>
            <a:r>
              <a:rPr lang="fr-FR" dirty="0"/>
              <a:t>15</a:t>
            </a: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 calcmode="lin" valueType="num">
                                      <p:cBhvr additive="base">
                                        <p:cTn id="14" dur="500" fill="hold"/>
                                        <p:tgtEl>
                                          <p:spTgt spid="29"/>
                                        </p:tgtEl>
                                        <p:attrNameLst>
                                          <p:attrName>ppt_x</p:attrName>
                                        </p:attrNameLst>
                                      </p:cBhvr>
                                      <p:tavLst>
                                        <p:tav tm="0">
                                          <p:val>
                                            <p:strVal val="#ppt_x"/>
                                          </p:val>
                                        </p:tav>
                                        <p:tav tm="100000">
                                          <p:val>
                                            <p:strVal val="#ppt_x"/>
                                          </p:val>
                                        </p:tav>
                                      </p:tavLst>
                                    </p:anim>
                                    <p:anim calcmode="lin" valueType="num">
                                      <p:cBhvr additive="base">
                                        <p:cTn id="15"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grpSp>
        <p:nvGrpSpPr>
          <p:cNvPr id="17" name="Google Shape;248;p19"/>
          <p:cNvGrpSpPr/>
          <p:nvPr/>
        </p:nvGrpSpPr>
        <p:grpSpPr>
          <a:xfrm>
            <a:off x="73062" y="269603"/>
            <a:ext cx="10365904" cy="650938"/>
            <a:chOff x="-43152" y="-19950"/>
            <a:chExt cx="10076703" cy="650938"/>
          </a:xfrm>
        </p:grpSpPr>
        <p:sp>
          <p:nvSpPr>
            <p:cNvPr id="18" name="Google Shape;250;p19"/>
            <p:cNvSpPr txBox="1"/>
            <p:nvPr/>
          </p:nvSpPr>
          <p:spPr>
            <a:xfrm>
              <a:off x="-43152" y="6652"/>
              <a:ext cx="2167800" cy="584700"/>
            </a:xfrm>
            <a:prstGeom prst="rect">
              <a:avLst/>
            </a:prstGeom>
            <a:solidFill>
              <a:srgbClr val="AEABAB"/>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19" name="Google Shape;251;p19"/>
            <p:cNvSpPr/>
            <p:nvPr/>
          </p:nvSpPr>
          <p:spPr>
            <a:xfrm>
              <a:off x="1778963" y="0"/>
              <a:ext cx="26382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0" name="Google Shape;252;p19"/>
            <p:cNvSpPr txBox="1"/>
            <p:nvPr/>
          </p:nvSpPr>
          <p:spPr>
            <a:xfrm>
              <a:off x="2071350" y="0"/>
              <a:ext cx="2053500" cy="584700"/>
            </a:xfrm>
            <a:prstGeom prst="rect">
              <a:avLst/>
            </a:prstGeom>
            <a:solidFill>
              <a:srgbClr val="AEABAB"/>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21" name="Google Shape;253;p19"/>
            <p:cNvSpPr/>
            <p:nvPr/>
          </p:nvSpPr>
          <p:spPr>
            <a:xfrm>
              <a:off x="4023490" y="0"/>
              <a:ext cx="19680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2" name="Google Shape;254;p19"/>
            <p:cNvSpPr txBox="1"/>
            <p:nvPr/>
          </p:nvSpPr>
          <p:spPr>
            <a:xfrm>
              <a:off x="4261955" y="0"/>
              <a:ext cx="14373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23"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4" name="Google Shape;256;p19"/>
            <p:cNvSpPr txBox="1"/>
            <p:nvPr/>
          </p:nvSpPr>
          <p:spPr>
            <a:xfrm>
              <a:off x="5872496" y="-19950"/>
              <a:ext cx="18417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25"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6"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5</a:t>
              </a:r>
              <a:r>
                <a:rPr lang="fr-FR" sz="1700" b="1" i="0" u="none" strike="noStrike" cap="none">
                  <a:solidFill>
                    <a:schemeClr val="lt1"/>
                  </a:solidFill>
                </a:rPr>
                <a:t>.Conclusion et Perspectives</a:t>
              </a:r>
              <a:endParaRPr sz="1400" b="1" i="0" u="none" strike="noStrike" cap="none">
                <a:solidFill>
                  <a:schemeClr val="lt1"/>
                </a:solidFill>
              </a:endParaRPr>
            </a:p>
          </p:txBody>
        </p:sp>
      </p:grpSp>
      <p:sp>
        <p:nvSpPr>
          <p:cNvPr id="27" name="object 5"/>
          <p:cNvSpPr/>
          <p:nvPr/>
        </p:nvSpPr>
        <p:spPr>
          <a:xfrm>
            <a:off x="73062"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29" name="Google Shape;312;p22"/>
          <p:cNvSpPr txBox="1"/>
          <p:nvPr/>
        </p:nvSpPr>
        <p:spPr>
          <a:xfrm>
            <a:off x="798908" y="1517343"/>
            <a:ext cx="8476800" cy="430857"/>
          </a:xfrm>
          <a:prstGeom prst="rect">
            <a:avLst/>
          </a:prstGeom>
          <a:noFill/>
          <a:ln>
            <a:noFill/>
          </a:ln>
        </p:spPr>
        <p:txBody>
          <a:bodyPr spcFirstLastPara="1" wrap="square" lIns="91425" tIns="91425" rIns="91425" bIns="91425" anchor="t" anchorCtr="0">
            <a:spAutoFit/>
          </a:bodyPr>
          <a:lstStyle/>
          <a:p>
            <a:pPr marL="101600" marR="0" lvl="0" algn="l" rtl="0">
              <a:lnSpc>
                <a:spcPct val="100000"/>
              </a:lnSpc>
              <a:spcBef>
                <a:spcPts val="0"/>
              </a:spcBef>
              <a:spcAft>
                <a:spcPts val="0"/>
              </a:spcAft>
              <a:buClr>
                <a:srgbClr val="C55A11"/>
              </a:buClr>
              <a:buSzPts val="2000"/>
            </a:pPr>
            <a:r>
              <a:rPr lang="fr-FR" sz="1600" b="1" i="0" u="none" strike="noStrike" cap="none" dirty="0">
                <a:solidFill>
                  <a:schemeClr val="accent6">
                    <a:lumMod val="60000"/>
                    <a:lumOff val="40000"/>
                  </a:schemeClr>
                </a:solidFill>
              </a:rPr>
              <a:t>     Diagramme de séquence « S’authentifier »</a:t>
            </a:r>
            <a:r>
              <a:rPr lang="fr-FR" sz="1600" b="1" dirty="0">
                <a:solidFill>
                  <a:schemeClr val="accent6">
                    <a:lumMod val="60000"/>
                    <a:lumOff val="40000"/>
                  </a:schemeClr>
                </a:solidFill>
              </a:rPr>
              <a:t> </a:t>
            </a:r>
            <a:endParaRPr sz="1600" b="1" i="0" u="none" strike="noStrike" cap="none" dirty="0">
              <a:solidFill>
                <a:schemeClr val="accent6">
                  <a:lumMod val="60000"/>
                  <a:lumOff val="40000"/>
                </a:schemeClr>
              </a:solidFill>
            </a:endParaRPr>
          </a:p>
        </p:txBody>
      </p:sp>
      <p:sp>
        <p:nvSpPr>
          <p:cNvPr id="2" name="Rectangle : coins arrondis 1">
            <a:extLst>
              <a:ext uri="{FF2B5EF4-FFF2-40B4-BE49-F238E27FC236}">
                <a16:creationId xmlns:a16="http://schemas.microsoft.com/office/drawing/2014/main" id="{61C70059-DB91-4C3C-B674-0890E1A3256D}"/>
              </a:ext>
            </a:extLst>
          </p:cNvPr>
          <p:cNvSpPr/>
          <p:nvPr/>
        </p:nvSpPr>
        <p:spPr>
          <a:xfrm>
            <a:off x="129689" y="1068381"/>
            <a:ext cx="6370320" cy="331303"/>
          </a:xfrm>
          <a:prstGeom prst="round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1600" marR="0" lvl="0" algn="l" rtl="0">
              <a:lnSpc>
                <a:spcPct val="100000"/>
              </a:lnSpc>
              <a:spcBef>
                <a:spcPts val="0"/>
              </a:spcBef>
              <a:spcAft>
                <a:spcPts val="0"/>
              </a:spcAft>
              <a:buClr>
                <a:srgbClr val="C55A11"/>
              </a:buClr>
              <a:buSzPts val="2000"/>
            </a:pPr>
            <a:r>
              <a:rPr lang="fr-FR" sz="1800" b="1" i="0" u="none" strike="noStrike" cap="none" dirty="0">
                <a:solidFill>
                  <a:schemeClr val="tx1"/>
                </a:solidFill>
              </a:rPr>
              <a:t>Sprint 1: Gest</a:t>
            </a:r>
            <a:r>
              <a:rPr lang="fr-FR" sz="1800" b="1" dirty="0">
                <a:solidFill>
                  <a:schemeClr val="tx1"/>
                </a:solidFill>
              </a:rPr>
              <a:t>ion des privilèges et comptes utilisateurs</a:t>
            </a:r>
            <a:endParaRPr lang="fr-FR" i="0" u="none" strike="noStrike" cap="none" dirty="0">
              <a:solidFill>
                <a:schemeClr val="tx1"/>
              </a:solidFill>
            </a:endParaRPr>
          </a:p>
        </p:txBody>
      </p:sp>
      <p:pic>
        <p:nvPicPr>
          <p:cNvPr id="28" name="Image 27">
            <a:extLst>
              <a:ext uri="{FF2B5EF4-FFF2-40B4-BE49-F238E27FC236}">
                <a16:creationId xmlns:a16="http://schemas.microsoft.com/office/drawing/2014/main" id="{4DEDF2D8-5D47-4AC5-B50F-C63669CC528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581755" y="2065859"/>
            <a:ext cx="6797040" cy="4212081"/>
          </a:xfrm>
          <a:prstGeom prst="rect">
            <a:avLst/>
          </a:prstGeom>
          <a:noFill/>
          <a:ln>
            <a:noFill/>
          </a:ln>
        </p:spPr>
      </p:pic>
      <p:sp>
        <p:nvSpPr>
          <p:cNvPr id="16" name="Espace réservé du numéro de diapositive 1">
            <a:extLst>
              <a:ext uri="{FF2B5EF4-FFF2-40B4-BE49-F238E27FC236}">
                <a16:creationId xmlns:a16="http://schemas.microsoft.com/office/drawing/2014/main" id="{8858ABED-2208-48B8-9C79-F1E0CFD323BC}"/>
              </a:ext>
            </a:extLst>
          </p:cNvPr>
          <p:cNvSpPr>
            <a:spLocks noGrp="1"/>
          </p:cNvSpPr>
          <p:nvPr>
            <p:ph type="sldNum" idx="12"/>
          </p:nvPr>
        </p:nvSpPr>
        <p:spPr>
          <a:xfrm>
            <a:off x="11582400" y="6277941"/>
            <a:ext cx="431800" cy="365125"/>
          </a:xfrm>
        </p:spPr>
        <p:txBody>
          <a:bodyPr/>
          <a:lstStyle/>
          <a:p>
            <a:pPr marL="0" lvl="0" indent="0" algn="r" rtl="0">
              <a:spcBef>
                <a:spcPts val="0"/>
              </a:spcBef>
              <a:spcAft>
                <a:spcPts val="0"/>
              </a:spcAft>
              <a:buNone/>
            </a:pPr>
            <a:r>
              <a:rPr lang="fr-FR" dirty="0"/>
              <a:t>16</a:t>
            </a:r>
          </a:p>
        </p:txBody>
      </p:sp>
    </p:spTree>
    <p:extLst>
      <p:ext uri="{BB962C8B-B14F-4D97-AF65-F5344CB8AC3E}">
        <p14:creationId xmlns:p14="http://schemas.microsoft.com/office/powerpoint/2010/main" val="340699612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grpSp>
        <p:nvGrpSpPr>
          <p:cNvPr id="17" name="Google Shape;248;p19"/>
          <p:cNvGrpSpPr/>
          <p:nvPr/>
        </p:nvGrpSpPr>
        <p:grpSpPr>
          <a:xfrm>
            <a:off x="73062" y="269603"/>
            <a:ext cx="10365904" cy="650938"/>
            <a:chOff x="-43152" y="-19950"/>
            <a:chExt cx="10076703" cy="650938"/>
          </a:xfrm>
        </p:grpSpPr>
        <p:sp>
          <p:nvSpPr>
            <p:cNvPr id="18" name="Google Shape;250;p19"/>
            <p:cNvSpPr txBox="1"/>
            <p:nvPr/>
          </p:nvSpPr>
          <p:spPr>
            <a:xfrm>
              <a:off x="-43152" y="6652"/>
              <a:ext cx="2167800" cy="584700"/>
            </a:xfrm>
            <a:prstGeom prst="rect">
              <a:avLst/>
            </a:prstGeom>
            <a:solidFill>
              <a:srgbClr val="AEABAB"/>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19" name="Google Shape;251;p19"/>
            <p:cNvSpPr/>
            <p:nvPr/>
          </p:nvSpPr>
          <p:spPr>
            <a:xfrm>
              <a:off x="1778963" y="0"/>
              <a:ext cx="26382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0" name="Google Shape;252;p19"/>
            <p:cNvSpPr txBox="1"/>
            <p:nvPr/>
          </p:nvSpPr>
          <p:spPr>
            <a:xfrm>
              <a:off x="2071350" y="0"/>
              <a:ext cx="2053500" cy="584700"/>
            </a:xfrm>
            <a:prstGeom prst="rect">
              <a:avLst/>
            </a:prstGeom>
            <a:solidFill>
              <a:srgbClr val="AEABAB"/>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21" name="Google Shape;253;p19"/>
            <p:cNvSpPr/>
            <p:nvPr/>
          </p:nvSpPr>
          <p:spPr>
            <a:xfrm>
              <a:off x="4023490" y="0"/>
              <a:ext cx="19680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2" name="Google Shape;254;p19"/>
            <p:cNvSpPr txBox="1"/>
            <p:nvPr/>
          </p:nvSpPr>
          <p:spPr>
            <a:xfrm>
              <a:off x="4261955" y="0"/>
              <a:ext cx="14373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23"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4" name="Google Shape;256;p19"/>
            <p:cNvSpPr txBox="1"/>
            <p:nvPr/>
          </p:nvSpPr>
          <p:spPr>
            <a:xfrm>
              <a:off x="5872496" y="-19950"/>
              <a:ext cx="18417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25"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6"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5</a:t>
              </a:r>
              <a:r>
                <a:rPr lang="fr-FR" sz="1700" b="1" i="0" u="none" strike="noStrike" cap="none">
                  <a:solidFill>
                    <a:schemeClr val="lt1"/>
                  </a:solidFill>
                </a:rPr>
                <a:t>.Conclusion et Perspectives</a:t>
              </a:r>
              <a:endParaRPr sz="1400" b="1" i="0" u="none" strike="noStrike" cap="none">
                <a:solidFill>
                  <a:schemeClr val="lt1"/>
                </a:solidFill>
              </a:endParaRPr>
            </a:p>
          </p:txBody>
        </p:sp>
      </p:grpSp>
      <p:sp>
        <p:nvSpPr>
          <p:cNvPr id="27" name="object 5"/>
          <p:cNvSpPr/>
          <p:nvPr/>
        </p:nvSpPr>
        <p:spPr>
          <a:xfrm>
            <a:off x="73062"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29" name="Google Shape;312;p22"/>
          <p:cNvSpPr txBox="1"/>
          <p:nvPr/>
        </p:nvSpPr>
        <p:spPr>
          <a:xfrm>
            <a:off x="1030257" y="1404284"/>
            <a:ext cx="8476800" cy="430857"/>
          </a:xfrm>
          <a:prstGeom prst="rect">
            <a:avLst/>
          </a:prstGeom>
          <a:noFill/>
          <a:ln>
            <a:noFill/>
          </a:ln>
        </p:spPr>
        <p:txBody>
          <a:bodyPr spcFirstLastPara="1" wrap="square" lIns="91425" tIns="91425" rIns="91425" bIns="91425" anchor="t" anchorCtr="0">
            <a:spAutoFit/>
          </a:bodyPr>
          <a:lstStyle/>
          <a:p>
            <a:pPr marL="101600" marR="0" lvl="0" algn="l" rtl="0">
              <a:lnSpc>
                <a:spcPct val="100000"/>
              </a:lnSpc>
              <a:spcBef>
                <a:spcPts val="0"/>
              </a:spcBef>
              <a:spcAft>
                <a:spcPts val="0"/>
              </a:spcAft>
              <a:buClr>
                <a:srgbClr val="C55A11"/>
              </a:buClr>
              <a:buSzPts val="2000"/>
            </a:pPr>
            <a:r>
              <a:rPr lang="fr-FR" sz="1600" b="1" i="0" u="none" strike="noStrike" cap="none" dirty="0">
                <a:solidFill>
                  <a:schemeClr val="accent6">
                    <a:lumMod val="60000"/>
                    <a:lumOff val="40000"/>
                  </a:schemeClr>
                </a:solidFill>
              </a:rPr>
              <a:t>Diagramme de cas d’utilisation</a:t>
            </a:r>
            <a:endParaRPr sz="1600" b="1" i="0" u="none" strike="noStrike" cap="none" dirty="0">
              <a:solidFill>
                <a:schemeClr val="accent6">
                  <a:lumMod val="60000"/>
                  <a:lumOff val="40000"/>
                </a:schemeClr>
              </a:solidFill>
            </a:endParaRPr>
          </a:p>
        </p:txBody>
      </p:sp>
      <p:sp>
        <p:nvSpPr>
          <p:cNvPr id="2" name="Rectangle : coins arrondis 1">
            <a:extLst>
              <a:ext uri="{FF2B5EF4-FFF2-40B4-BE49-F238E27FC236}">
                <a16:creationId xmlns:a16="http://schemas.microsoft.com/office/drawing/2014/main" id="{61C70059-DB91-4C3C-B674-0890E1A3256D}"/>
              </a:ext>
            </a:extLst>
          </p:cNvPr>
          <p:cNvSpPr/>
          <p:nvPr/>
        </p:nvSpPr>
        <p:spPr>
          <a:xfrm>
            <a:off x="91947" y="1057344"/>
            <a:ext cx="3711050" cy="280926"/>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1600" marR="0" lvl="0" algn="l" rtl="0">
              <a:lnSpc>
                <a:spcPct val="100000"/>
              </a:lnSpc>
              <a:spcBef>
                <a:spcPts val="0"/>
              </a:spcBef>
              <a:spcAft>
                <a:spcPts val="0"/>
              </a:spcAft>
              <a:buClr>
                <a:srgbClr val="C55A11"/>
              </a:buClr>
              <a:buSzPts val="2000"/>
            </a:pPr>
            <a:r>
              <a:rPr lang="fr-FR" sz="1800" b="1" i="0" u="none" strike="noStrike" cap="none" dirty="0">
                <a:solidFill>
                  <a:schemeClr val="tx1"/>
                </a:solidFill>
              </a:rPr>
              <a:t>Sprint 2: Module e-commerce</a:t>
            </a:r>
            <a:endParaRPr lang="fr-FR" i="0" u="none" strike="noStrike" cap="none" dirty="0">
              <a:solidFill>
                <a:schemeClr val="tx1"/>
              </a:solidFill>
            </a:endParaRPr>
          </a:p>
        </p:txBody>
      </p:sp>
      <p:pic>
        <p:nvPicPr>
          <p:cNvPr id="30" name="Image 29">
            <a:extLst>
              <a:ext uri="{FF2B5EF4-FFF2-40B4-BE49-F238E27FC236}">
                <a16:creationId xmlns:a16="http://schemas.microsoft.com/office/drawing/2014/main" id="{CE16D438-CA22-4759-A98E-4ABFE0AC50A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951413" y="1901155"/>
            <a:ext cx="7849326" cy="4540958"/>
          </a:xfrm>
          <a:prstGeom prst="rect">
            <a:avLst/>
          </a:prstGeom>
          <a:noFill/>
          <a:ln>
            <a:noFill/>
          </a:ln>
        </p:spPr>
      </p:pic>
      <p:sp>
        <p:nvSpPr>
          <p:cNvPr id="16" name="Espace réservé du numéro de diapositive 1">
            <a:extLst>
              <a:ext uri="{FF2B5EF4-FFF2-40B4-BE49-F238E27FC236}">
                <a16:creationId xmlns:a16="http://schemas.microsoft.com/office/drawing/2014/main" id="{746F81F8-7C9E-4C16-86BF-F365CA1BE8D3}"/>
              </a:ext>
            </a:extLst>
          </p:cNvPr>
          <p:cNvSpPr>
            <a:spLocks noGrp="1"/>
          </p:cNvSpPr>
          <p:nvPr>
            <p:ph type="sldNum" idx="12"/>
          </p:nvPr>
        </p:nvSpPr>
        <p:spPr>
          <a:xfrm>
            <a:off x="11572240" y="6285230"/>
            <a:ext cx="370840" cy="365125"/>
          </a:xfrm>
        </p:spPr>
        <p:txBody>
          <a:bodyPr/>
          <a:lstStyle/>
          <a:p>
            <a:pPr marL="0" lvl="0" indent="0" algn="r" rtl="0">
              <a:spcBef>
                <a:spcPts val="0"/>
              </a:spcBef>
              <a:spcAft>
                <a:spcPts val="0"/>
              </a:spcAft>
              <a:buNone/>
            </a:pPr>
            <a:r>
              <a:rPr lang="fr-FR" dirty="0"/>
              <a:t>17</a:t>
            </a:r>
          </a:p>
        </p:txBody>
      </p:sp>
    </p:spTree>
    <p:extLst>
      <p:ext uri="{BB962C8B-B14F-4D97-AF65-F5344CB8AC3E}">
        <p14:creationId xmlns:p14="http://schemas.microsoft.com/office/powerpoint/2010/main" val="113376716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 calcmode="lin" valueType="num">
                                      <p:cBhvr additive="base">
                                        <p:cTn id="14" dur="500" fill="hold"/>
                                        <p:tgtEl>
                                          <p:spTgt spid="29"/>
                                        </p:tgtEl>
                                        <p:attrNameLst>
                                          <p:attrName>ppt_x</p:attrName>
                                        </p:attrNameLst>
                                      </p:cBhvr>
                                      <p:tavLst>
                                        <p:tav tm="0">
                                          <p:val>
                                            <p:strVal val="#ppt_x"/>
                                          </p:val>
                                        </p:tav>
                                        <p:tav tm="100000">
                                          <p:val>
                                            <p:strVal val="#ppt_x"/>
                                          </p:val>
                                        </p:tav>
                                      </p:tavLst>
                                    </p:anim>
                                    <p:anim calcmode="lin" valueType="num">
                                      <p:cBhvr additive="base">
                                        <p:cTn id="15"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grpSp>
        <p:nvGrpSpPr>
          <p:cNvPr id="17" name="Google Shape;248;p19"/>
          <p:cNvGrpSpPr/>
          <p:nvPr/>
        </p:nvGrpSpPr>
        <p:grpSpPr>
          <a:xfrm>
            <a:off x="73062" y="269603"/>
            <a:ext cx="10365904" cy="650938"/>
            <a:chOff x="-43152" y="-19950"/>
            <a:chExt cx="10076703" cy="650938"/>
          </a:xfrm>
        </p:grpSpPr>
        <p:sp>
          <p:nvSpPr>
            <p:cNvPr id="18" name="Google Shape;250;p19"/>
            <p:cNvSpPr txBox="1"/>
            <p:nvPr/>
          </p:nvSpPr>
          <p:spPr>
            <a:xfrm>
              <a:off x="-43152" y="6652"/>
              <a:ext cx="2167800" cy="584700"/>
            </a:xfrm>
            <a:prstGeom prst="rect">
              <a:avLst/>
            </a:prstGeom>
            <a:solidFill>
              <a:srgbClr val="AEABAB"/>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19" name="Google Shape;251;p19"/>
            <p:cNvSpPr/>
            <p:nvPr/>
          </p:nvSpPr>
          <p:spPr>
            <a:xfrm>
              <a:off x="1778963" y="0"/>
              <a:ext cx="26382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0" name="Google Shape;252;p19"/>
            <p:cNvSpPr txBox="1"/>
            <p:nvPr/>
          </p:nvSpPr>
          <p:spPr>
            <a:xfrm>
              <a:off x="2071350" y="0"/>
              <a:ext cx="2053500" cy="584700"/>
            </a:xfrm>
            <a:prstGeom prst="rect">
              <a:avLst/>
            </a:prstGeom>
            <a:solidFill>
              <a:srgbClr val="AEABAB"/>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21" name="Google Shape;253;p19"/>
            <p:cNvSpPr/>
            <p:nvPr/>
          </p:nvSpPr>
          <p:spPr>
            <a:xfrm>
              <a:off x="4023490" y="0"/>
              <a:ext cx="19680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2" name="Google Shape;254;p19"/>
            <p:cNvSpPr txBox="1"/>
            <p:nvPr/>
          </p:nvSpPr>
          <p:spPr>
            <a:xfrm>
              <a:off x="4261955" y="0"/>
              <a:ext cx="14373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23"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4" name="Google Shape;256;p19"/>
            <p:cNvSpPr txBox="1"/>
            <p:nvPr/>
          </p:nvSpPr>
          <p:spPr>
            <a:xfrm>
              <a:off x="5872496" y="-19950"/>
              <a:ext cx="18417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25"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6"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5</a:t>
              </a:r>
              <a:r>
                <a:rPr lang="fr-FR" sz="1700" b="1" i="0" u="none" strike="noStrike" cap="none">
                  <a:solidFill>
                    <a:schemeClr val="lt1"/>
                  </a:solidFill>
                </a:rPr>
                <a:t>.Conclusion et Perspectives</a:t>
              </a:r>
              <a:endParaRPr sz="1400" b="1" i="0" u="none" strike="noStrike" cap="none">
                <a:solidFill>
                  <a:schemeClr val="lt1"/>
                </a:solidFill>
              </a:endParaRPr>
            </a:p>
          </p:txBody>
        </p:sp>
      </p:grpSp>
      <p:sp>
        <p:nvSpPr>
          <p:cNvPr id="27" name="object 5"/>
          <p:cNvSpPr/>
          <p:nvPr/>
        </p:nvSpPr>
        <p:spPr>
          <a:xfrm>
            <a:off x="73062"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29" name="Google Shape;312;p22"/>
          <p:cNvSpPr txBox="1"/>
          <p:nvPr/>
        </p:nvSpPr>
        <p:spPr>
          <a:xfrm>
            <a:off x="1002600" y="1362605"/>
            <a:ext cx="8476800" cy="430857"/>
          </a:xfrm>
          <a:prstGeom prst="rect">
            <a:avLst/>
          </a:prstGeom>
          <a:noFill/>
          <a:ln>
            <a:noFill/>
          </a:ln>
        </p:spPr>
        <p:txBody>
          <a:bodyPr spcFirstLastPara="1" wrap="square" lIns="91425" tIns="91425" rIns="91425" bIns="91425" anchor="t" anchorCtr="0">
            <a:spAutoFit/>
          </a:bodyPr>
          <a:lstStyle/>
          <a:p>
            <a:pPr marL="101600" marR="0" lvl="0" algn="l" rtl="0">
              <a:lnSpc>
                <a:spcPct val="100000"/>
              </a:lnSpc>
              <a:spcBef>
                <a:spcPts val="0"/>
              </a:spcBef>
              <a:spcAft>
                <a:spcPts val="0"/>
              </a:spcAft>
              <a:buClr>
                <a:srgbClr val="C55A11"/>
              </a:buClr>
              <a:buSzPts val="2000"/>
            </a:pPr>
            <a:r>
              <a:rPr lang="fr-FR" sz="1600" b="1" i="0" u="none" strike="noStrike" cap="none" dirty="0">
                <a:solidFill>
                  <a:schemeClr val="accent6">
                    <a:lumMod val="60000"/>
                    <a:lumOff val="40000"/>
                  </a:schemeClr>
                </a:solidFill>
              </a:rPr>
              <a:t>Diagramme de séquence « Acheter un pot connecté »</a:t>
            </a:r>
            <a:endParaRPr sz="1600" b="1" i="0" u="none" strike="noStrike" cap="none" dirty="0">
              <a:solidFill>
                <a:schemeClr val="accent6">
                  <a:lumMod val="60000"/>
                  <a:lumOff val="40000"/>
                </a:schemeClr>
              </a:solidFill>
            </a:endParaRPr>
          </a:p>
        </p:txBody>
      </p:sp>
      <p:sp>
        <p:nvSpPr>
          <p:cNvPr id="2" name="Rectangle : coins arrondis 1">
            <a:extLst>
              <a:ext uri="{FF2B5EF4-FFF2-40B4-BE49-F238E27FC236}">
                <a16:creationId xmlns:a16="http://schemas.microsoft.com/office/drawing/2014/main" id="{61C70059-DB91-4C3C-B674-0890E1A3256D}"/>
              </a:ext>
            </a:extLst>
          </p:cNvPr>
          <p:cNvSpPr/>
          <p:nvPr/>
        </p:nvSpPr>
        <p:spPr>
          <a:xfrm>
            <a:off x="96443" y="1056336"/>
            <a:ext cx="3761850" cy="283269"/>
          </a:xfrm>
          <a:prstGeom prst="round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1600" marR="0" lvl="0" algn="l" rtl="0">
              <a:lnSpc>
                <a:spcPct val="100000"/>
              </a:lnSpc>
              <a:spcBef>
                <a:spcPts val="0"/>
              </a:spcBef>
              <a:spcAft>
                <a:spcPts val="0"/>
              </a:spcAft>
              <a:buClr>
                <a:srgbClr val="C55A11"/>
              </a:buClr>
              <a:buSzPts val="2000"/>
            </a:pPr>
            <a:r>
              <a:rPr lang="fr-FR" sz="1800" b="1" i="0" u="none" strike="noStrike" cap="none" dirty="0">
                <a:solidFill>
                  <a:schemeClr val="tx1"/>
                </a:solidFill>
              </a:rPr>
              <a:t>Sprint 2: </a:t>
            </a:r>
            <a:r>
              <a:rPr lang="fr-FR" sz="1800" b="1" dirty="0">
                <a:solidFill>
                  <a:schemeClr val="tx1"/>
                </a:solidFill>
              </a:rPr>
              <a:t>Module e-commerce</a:t>
            </a:r>
            <a:endParaRPr lang="fr-FR" i="0" u="none" strike="noStrike" cap="none" dirty="0">
              <a:solidFill>
                <a:schemeClr val="tx1"/>
              </a:solidFill>
            </a:endParaRPr>
          </a:p>
        </p:txBody>
      </p:sp>
      <p:pic>
        <p:nvPicPr>
          <p:cNvPr id="6" name="Image 5">
            <a:extLst>
              <a:ext uri="{FF2B5EF4-FFF2-40B4-BE49-F238E27FC236}">
                <a16:creationId xmlns:a16="http://schemas.microsoft.com/office/drawing/2014/main" id="{51232A9B-DEAD-4D90-9B1A-AA525D67AAC2}"/>
              </a:ext>
            </a:extLst>
          </p:cNvPr>
          <p:cNvPicPr>
            <a:picLocks noChangeAspect="1"/>
          </p:cNvPicPr>
          <p:nvPr/>
        </p:nvPicPr>
        <p:blipFill>
          <a:blip r:embed="rId3"/>
          <a:stretch>
            <a:fillRect/>
          </a:stretch>
        </p:blipFill>
        <p:spPr>
          <a:xfrm>
            <a:off x="3404486" y="1244424"/>
            <a:ext cx="4381863" cy="4495525"/>
          </a:xfrm>
          <a:prstGeom prst="rect">
            <a:avLst/>
          </a:prstGeom>
        </p:spPr>
      </p:pic>
      <p:sp>
        <p:nvSpPr>
          <p:cNvPr id="16" name="Espace réservé du numéro de diapositive 1">
            <a:extLst>
              <a:ext uri="{FF2B5EF4-FFF2-40B4-BE49-F238E27FC236}">
                <a16:creationId xmlns:a16="http://schemas.microsoft.com/office/drawing/2014/main" id="{98C2E915-B665-4314-8057-25C964743391}"/>
              </a:ext>
            </a:extLst>
          </p:cNvPr>
          <p:cNvSpPr>
            <a:spLocks noGrp="1"/>
          </p:cNvSpPr>
          <p:nvPr>
            <p:ph type="sldNum" idx="12"/>
          </p:nvPr>
        </p:nvSpPr>
        <p:spPr>
          <a:xfrm>
            <a:off x="11656438" y="6356349"/>
            <a:ext cx="360680" cy="365125"/>
          </a:xfrm>
        </p:spPr>
        <p:txBody>
          <a:bodyPr/>
          <a:lstStyle/>
          <a:p>
            <a:pPr marL="0" lvl="0" indent="0" algn="r" rtl="0">
              <a:spcBef>
                <a:spcPts val="0"/>
              </a:spcBef>
              <a:spcAft>
                <a:spcPts val="0"/>
              </a:spcAft>
              <a:buNone/>
            </a:pPr>
            <a:r>
              <a:rPr lang="fr-FR" dirty="0"/>
              <a:t>18</a:t>
            </a:r>
          </a:p>
        </p:txBody>
      </p:sp>
    </p:spTree>
    <p:extLst>
      <p:ext uri="{BB962C8B-B14F-4D97-AF65-F5344CB8AC3E}">
        <p14:creationId xmlns:p14="http://schemas.microsoft.com/office/powerpoint/2010/main" val="265967231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grpSp>
        <p:nvGrpSpPr>
          <p:cNvPr id="17" name="Google Shape;248;p19"/>
          <p:cNvGrpSpPr/>
          <p:nvPr/>
        </p:nvGrpSpPr>
        <p:grpSpPr>
          <a:xfrm>
            <a:off x="73062" y="269603"/>
            <a:ext cx="10365904" cy="650938"/>
            <a:chOff x="-43152" y="-19950"/>
            <a:chExt cx="10076703" cy="650938"/>
          </a:xfrm>
        </p:grpSpPr>
        <p:sp>
          <p:nvSpPr>
            <p:cNvPr id="18" name="Google Shape;250;p19"/>
            <p:cNvSpPr txBox="1"/>
            <p:nvPr/>
          </p:nvSpPr>
          <p:spPr>
            <a:xfrm>
              <a:off x="-43152" y="6652"/>
              <a:ext cx="2167800" cy="584700"/>
            </a:xfrm>
            <a:prstGeom prst="rect">
              <a:avLst/>
            </a:prstGeom>
            <a:solidFill>
              <a:srgbClr val="AEABAB"/>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19" name="Google Shape;251;p19"/>
            <p:cNvSpPr/>
            <p:nvPr/>
          </p:nvSpPr>
          <p:spPr>
            <a:xfrm>
              <a:off x="1778963" y="0"/>
              <a:ext cx="26382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0" name="Google Shape;252;p19"/>
            <p:cNvSpPr txBox="1"/>
            <p:nvPr/>
          </p:nvSpPr>
          <p:spPr>
            <a:xfrm>
              <a:off x="2071350" y="0"/>
              <a:ext cx="2053500" cy="584700"/>
            </a:xfrm>
            <a:prstGeom prst="rect">
              <a:avLst/>
            </a:prstGeom>
            <a:solidFill>
              <a:srgbClr val="AEABAB"/>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21" name="Google Shape;253;p19"/>
            <p:cNvSpPr/>
            <p:nvPr/>
          </p:nvSpPr>
          <p:spPr>
            <a:xfrm>
              <a:off x="4023490" y="0"/>
              <a:ext cx="19680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2" name="Google Shape;254;p19"/>
            <p:cNvSpPr txBox="1"/>
            <p:nvPr/>
          </p:nvSpPr>
          <p:spPr>
            <a:xfrm>
              <a:off x="4261955" y="0"/>
              <a:ext cx="14373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23"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4" name="Google Shape;256;p19"/>
            <p:cNvSpPr txBox="1"/>
            <p:nvPr/>
          </p:nvSpPr>
          <p:spPr>
            <a:xfrm>
              <a:off x="5872496" y="-19950"/>
              <a:ext cx="18417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25"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6"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5</a:t>
              </a:r>
              <a:r>
                <a:rPr lang="fr-FR" sz="1700" b="1" i="0" u="none" strike="noStrike" cap="none">
                  <a:solidFill>
                    <a:schemeClr val="lt1"/>
                  </a:solidFill>
                </a:rPr>
                <a:t>.Conclusion et Perspectives</a:t>
              </a:r>
              <a:endParaRPr sz="1400" b="1" i="0" u="none" strike="noStrike" cap="none">
                <a:solidFill>
                  <a:schemeClr val="lt1"/>
                </a:solidFill>
              </a:endParaRPr>
            </a:p>
          </p:txBody>
        </p:sp>
      </p:grpSp>
      <p:sp>
        <p:nvSpPr>
          <p:cNvPr id="27" name="object 5"/>
          <p:cNvSpPr/>
          <p:nvPr/>
        </p:nvSpPr>
        <p:spPr>
          <a:xfrm>
            <a:off x="73062"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29" name="Google Shape;312;p22"/>
          <p:cNvSpPr txBox="1"/>
          <p:nvPr/>
        </p:nvSpPr>
        <p:spPr>
          <a:xfrm>
            <a:off x="1002600" y="1411105"/>
            <a:ext cx="8476800" cy="430857"/>
          </a:xfrm>
          <a:prstGeom prst="rect">
            <a:avLst/>
          </a:prstGeom>
          <a:noFill/>
          <a:ln>
            <a:noFill/>
          </a:ln>
        </p:spPr>
        <p:txBody>
          <a:bodyPr spcFirstLastPara="1" wrap="square" lIns="91425" tIns="91425" rIns="91425" bIns="91425" anchor="t" anchorCtr="0">
            <a:spAutoFit/>
          </a:bodyPr>
          <a:lstStyle/>
          <a:p>
            <a:pPr marL="101600" marR="0" lvl="0" algn="l" rtl="0">
              <a:lnSpc>
                <a:spcPct val="100000"/>
              </a:lnSpc>
              <a:spcBef>
                <a:spcPts val="0"/>
              </a:spcBef>
              <a:spcAft>
                <a:spcPts val="0"/>
              </a:spcAft>
              <a:buClr>
                <a:srgbClr val="C55A11"/>
              </a:buClr>
              <a:buSzPts val="2000"/>
            </a:pPr>
            <a:r>
              <a:rPr lang="fr-FR" sz="1600" b="1" i="0" u="none" strike="noStrike" cap="none" dirty="0">
                <a:solidFill>
                  <a:schemeClr val="accent6">
                    <a:lumMod val="60000"/>
                    <a:lumOff val="40000"/>
                  </a:schemeClr>
                </a:solidFill>
              </a:rPr>
              <a:t>Diagramme de </a:t>
            </a:r>
            <a:r>
              <a:rPr lang="fr-FR" sz="1600" b="1" dirty="0">
                <a:solidFill>
                  <a:schemeClr val="accent6">
                    <a:lumMod val="60000"/>
                    <a:lumOff val="40000"/>
                  </a:schemeClr>
                </a:solidFill>
              </a:rPr>
              <a:t>cas d’utilisation</a:t>
            </a:r>
            <a:endParaRPr sz="1600" b="1" i="0" u="none" strike="noStrike" cap="none" dirty="0">
              <a:solidFill>
                <a:schemeClr val="accent6">
                  <a:lumMod val="60000"/>
                  <a:lumOff val="40000"/>
                </a:schemeClr>
              </a:solidFill>
            </a:endParaRPr>
          </a:p>
        </p:txBody>
      </p:sp>
      <p:sp>
        <p:nvSpPr>
          <p:cNvPr id="2" name="Rectangle : coins arrondis 1">
            <a:extLst>
              <a:ext uri="{FF2B5EF4-FFF2-40B4-BE49-F238E27FC236}">
                <a16:creationId xmlns:a16="http://schemas.microsoft.com/office/drawing/2014/main" id="{61C70059-DB91-4C3C-B674-0890E1A3256D}"/>
              </a:ext>
            </a:extLst>
          </p:cNvPr>
          <p:cNvSpPr/>
          <p:nvPr/>
        </p:nvSpPr>
        <p:spPr>
          <a:xfrm>
            <a:off x="89525" y="1059619"/>
            <a:ext cx="5465129" cy="305040"/>
          </a:xfrm>
          <a:prstGeom prst="roundRect">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1600" marR="0" lvl="0" algn="l" rtl="0">
              <a:lnSpc>
                <a:spcPct val="100000"/>
              </a:lnSpc>
              <a:spcBef>
                <a:spcPts val="0"/>
              </a:spcBef>
              <a:spcAft>
                <a:spcPts val="0"/>
              </a:spcAft>
              <a:buClr>
                <a:srgbClr val="C55A11"/>
              </a:buClr>
              <a:buSzPts val="2000"/>
            </a:pPr>
            <a:r>
              <a:rPr lang="fr-FR" sz="1800" b="1" i="0" u="none" strike="noStrike" cap="none" dirty="0">
                <a:solidFill>
                  <a:schemeClr val="tx1"/>
                </a:solidFill>
              </a:rPr>
              <a:t>Sprint 3: Gest</a:t>
            </a:r>
            <a:r>
              <a:rPr lang="fr-FR" sz="1800" b="1" dirty="0">
                <a:solidFill>
                  <a:schemeClr val="tx1"/>
                </a:solidFill>
              </a:rPr>
              <a:t>ion et suivi des pots connectés</a:t>
            </a:r>
            <a:endParaRPr lang="fr-FR" i="0" u="none" strike="noStrike" cap="none" dirty="0">
              <a:solidFill>
                <a:schemeClr val="tx1"/>
              </a:solidFill>
            </a:endParaRPr>
          </a:p>
        </p:txBody>
      </p:sp>
      <p:pic>
        <p:nvPicPr>
          <p:cNvPr id="28" name="Image 27">
            <a:extLst>
              <a:ext uri="{FF2B5EF4-FFF2-40B4-BE49-F238E27FC236}">
                <a16:creationId xmlns:a16="http://schemas.microsoft.com/office/drawing/2014/main" id="{82C43E16-D160-40F2-BB54-22F96456E8F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303078" y="1894859"/>
            <a:ext cx="7472293" cy="4629150"/>
          </a:xfrm>
          <a:prstGeom prst="rect">
            <a:avLst/>
          </a:prstGeom>
          <a:noFill/>
          <a:ln>
            <a:noFill/>
          </a:ln>
        </p:spPr>
      </p:pic>
      <p:sp>
        <p:nvSpPr>
          <p:cNvPr id="16" name="Espace réservé du numéro de diapositive 1">
            <a:extLst>
              <a:ext uri="{FF2B5EF4-FFF2-40B4-BE49-F238E27FC236}">
                <a16:creationId xmlns:a16="http://schemas.microsoft.com/office/drawing/2014/main" id="{38C39E2E-0109-40F7-B05C-D92B14DAA37B}"/>
              </a:ext>
            </a:extLst>
          </p:cNvPr>
          <p:cNvSpPr>
            <a:spLocks noGrp="1"/>
          </p:cNvSpPr>
          <p:nvPr>
            <p:ph type="sldNum" idx="12"/>
          </p:nvPr>
        </p:nvSpPr>
        <p:spPr>
          <a:xfrm>
            <a:off x="11562080" y="6325870"/>
            <a:ext cx="391160" cy="365125"/>
          </a:xfrm>
        </p:spPr>
        <p:txBody>
          <a:bodyPr/>
          <a:lstStyle/>
          <a:p>
            <a:pPr marL="0" lvl="0" indent="0" algn="r" rtl="0">
              <a:spcBef>
                <a:spcPts val="0"/>
              </a:spcBef>
              <a:spcAft>
                <a:spcPts val="0"/>
              </a:spcAft>
              <a:buNone/>
            </a:pPr>
            <a:r>
              <a:rPr lang="fr-FR" dirty="0"/>
              <a:t>19</a:t>
            </a:r>
          </a:p>
        </p:txBody>
      </p:sp>
    </p:spTree>
    <p:extLst>
      <p:ext uri="{BB962C8B-B14F-4D97-AF65-F5344CB8AC3E}">
        <p14:creationId xmlns:p14="http://schemas.microsoft.com/office/powerpoint/2010/main" val="371838823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 calcmode="lin" valueType="num">
                                      <p:cBhvr additive="base">
                                        <p:cTn id="14" dur="500" fill="hold"/>
                                        <p:tgtEl>
                                          <p:spTgt spid="29"/>
                                        </p:tgtEl>
                                        <p:attrNameLst>
                                          <p:attrName>ppt_x</p:attrName>
                                        </p:attrNameLst>
                                      </p:cBhvr>
                                      <p:tavLst>
                                        <p:tav tm="0">
                                          <p:val>
                                            <p:strVal val="#ppt_x"/>
                                          </p:val>
                                        </p:tav>
                                        <p:tav tm="100000">
                                          <p:val>
                                            <p:strVal val="#ppt_x"/>
                                          </p:val>
                                        </p:tav>
                                      </p:tavLst>
                                    </p:anim>
                                    <p:anim calcmode="lin" valueType="num">
                                      <p:cBhvr additive="base">
                                        <p:cTn id="15"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grpSp>
        <p:nvGrpSpPr>
          <p:cNvPr id="17" name="Google Shape;248;p19"/>
          <p:cNvGrpSpPr/>
          <p:nvPr/>
        </p:nvGrpSpPr>
        <p:grpSpPr>
          <a:xfrm>
            <a:off x="73062" y="269603"/>
            <a:ext cx="10365904" cy="650938"/>
            <a:chOff x="-43152" y="-19950"/>
            <a:chExt cx="10076703" cy="650938"/>
          </a:xfrm>
        </p:grpSpPr>
        <p:sp>
          <p:nvSpPr>
            <p:cNvPr id="18" name="Google Shape;250;p19"/>
            <p:cNvSpPr txBox="1"/>
            <p:nvPr/>
          </p:nvSpPr>
          <p:spPr>
            <a:xfrm>
              <a:off x="-43152" y="6652"/>
              <a:ext cx="2167800" cy="584700"/>
            </a:xfrm>
            <a:prstGeom prst="rect">
              <a:avLst/>
            </a:prstGeom>
            <a:solidFill>
              <a:srgbClr val="AEABAB"/>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19" name="Google Shape;251;p19"/>
            <p:cNvSpPr/>
            <p:nvPr/>
          </p:nvSpPr>
          <p:spPr>
            <a:xfrm>
              <a:off x="1778963" y="0"/>
              <a:ext cx="26382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0" name="Google Shape;252;p19"/>
            <p:cNvSpPr txBox="1"/>
            <p:nvPr/>
          </p:nvSpPr>
          <p:spPr>
            <a:xfrm>
              <a:off x="2071350" y="0"/>
              <a:ext cx="2053500" cy="584700"/>
            </a:xfrm>
            <a:prstGeom prst="rect">
              <a:avLst/>
            </a:prstGeom>
            <a:solidFill>
              <a:srgbClr val="AEABAB"/>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21" name="Google Shape;253;p19"/>
            <p:cNvSpPr/>
            <p:nvPr/>
          </p:nvSpPr>
          <p:spPr>
            <a:xfrm>
              <a:off x="4023490" y="0"/>
              <a:ext cx="19680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2" name="Google Shape;254;p19"/>
            <p:cNvSpPr txBox="1"/>
            <p:nvPr/>
          </p:nvSpPr>
          <p:spPr>
            <a:xfrm>
              <a:off x="4261955" y="0"/>
              <a:ext cx="14373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23"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4" name="Google Shape;256;p19"/>
            <p:cNvSpPr txBox="1"/>
            <p:nvPr/>
          </p:nvSpPr>
          <p:spPr>
            <a:xfrm>
              <a:off x="5872496" y="-19950"/>
              <a:ext cx="18417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25"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6"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5</a:t>
              </a:r>
              <a:r>
                <a:rPr lang="fr-FR" sz="1700" b="1" i="0" u="none" strike="noStrike" cap="none">
                  <a:solidFill>
                    <a:schemeClr val="lt1"/>
                  </a:solidFill>
                </a:rPr>
                <a:t>.Conclusion et Perspectives</a:t>
              </a:r>
              <a:endParaRPr sz="1400" b="1" i="0" u="none" strike="noStrike" cap="none">
                <a:solidFill>
                  <a:schemeClr val="lt1"/>
                </a:solidFill>
              </a:endParaRPr>
            </a:p>
          </p:txBody>
        </p:sp>
      </p:grpSp>
      <p:sp>
        <p:nvSpPr>
          <p:cNvPr id="27" name="object 5"/>
          <p:cNvSpPr/>
          <p:nvPr/>
        </p:nvSpPr>
        <p:spPr>
          <a:xfrm>
            <a:off x="73062"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29" name="Google Shape;312;p22"/>
          <p:cNvSpPr txBox="1"/>
          <p:nvPr/>
        </p:nvSpPr>
        <p:spPr>
          <a:xfrm>
            <a:off x="1002600" y="1434628"/>
            <a:ext cx="8476800" cy="430857"/>
          </a:xfrm>
          <a:prstGeom prst="rect">
            <a:avLst/>
          </a:prstGeom>
          <a:noFill/>
          <a:ln>
            <a:noFill/>
          </a:ln>
        </p:spPr>
        <p:txBody>
          <a:bodyPr spcFirstLastPara="1" wrap="square" lIns="91425" tIns="91425" rIns="91425" bIns="91425" anchor="t" anchorCtr="0">
            <a:spAutoFit/>
          </a:bodyPr>
          <a:lstStyle/>
          <a:p>
            <a:pPr marL="101600" marR="0" lvl="0" algn="l" rtl="0">
              <a:lnSpc>
                <a:spcPct val="100000"/>
              </a:lnSpc>
              <a:spcBef>
                <a:spcPts val="0"/>
              </a:spcBef>
              <a:spcAft>
                <a:spcPts val="0"/>
              </a:spcAft>
              <a:buClr>
                <a:srgbClr val="C55A11"/>
              </a:buClr>
              <a:buSzPts val="2000"/>
            </a:pPr>
            <a:r>
              <a:rPr lang="fr-FR" sz="1600" b="1" i="0" u="none" strike="noStrike" cap="none" dirty="0">
                <a:solidFill>
                  <a:schemeClr val="accent6">
                    <a:lumMod val="60000"/>
                    <a:lumOff val="40000"/>
                  </a:schemeClr>
                </a:solidFill>
              </a:rPr>
              <a:t>Diagramme de séquence « Gérer le pot connecté » </a:t>
            </a:r>
            <a:endParaRPr sz="1600" b="1" i="0" u="none" strike="noStrike" cap="none" dirty="0">
              <a:solidFill>
                <a:schemeClr val="accent6">
                  <a:lumMod val="60000"/>
                  <a:lumOff val="40000"/>
                </a:schemeClr>
              </a:solidFill>
            </a:endParaRPr>
          </a:p>
        </p:txBody>
      </p:sp>
      <p:sp>
        <p:nvSpPr>
          <p:cNvPr id="2" name="Rectangle : coins arrondis 1">
            <a:extLst>
              <a:ext uri="{FF2B5EF4-FFF2-40B4-BE49-F238E27FC236}">
                <a16:creationId xmlns:a16="http://schemas.microsoft.com/office/drawing/2014/main" id="{61C70059-DB91-4C3C-B674-0890E1A3256D}"/>
              </a:ext>
            </a:extLst>
          </p:cNvPr>
          <p:cNvSpPr/>
          <p:nvPr/>
        </p:nvSpPr>
        <p:spPr>
          <a:xfrm>
            <a:off x="89525" y="1070807"/>
            <a:ext cx="5523002" cy="304768"/>
          </a:xfrm>
          <a:prstGeom prst="roundRect">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1600" marR="0" lvl="0" algn="l" rtl="0">
              <a:lnSpc>
                <a:spcPct val="100000"/>
              </a:lnSpc>
              <a:spcBef>
                <a:spcPts val="0"/>
              </a:spcBef>
              <a:spcAft>
                <a:spcPts val="0"/>
              </a:spcAft>
              <a:buClr>
                <a:srgbClr val="C55A11"/>
              </a:buClr>
              <a:buSzPts val="2000"/>
            </a:pPr>
            <a:r>
              <a:rPr lang="fr-FR" sz="1800" b="1" i="0" u="none" strike="noStrike" cap="none" dirty="0">
                <a:solidFill>
                  <a:schemeClr val="tx1"/>
                </a:solidFill>
              </a:rPr>
              <a:t>Sprint 3: Gest</a:t>
            </a:r>
            <a:r>
              <a:rPr lang="fr-FR" sz="1800" b="1" dirty="0">
                <a:solidFill>
                  <a:schemeClr val="tx1"/>
                </a:solidFill>
              </a:rPr>
              <a:t>ion et suivi des pots connectés</a:t>
            </a:r>
            <a:endParaRPr lang="fr-FR" i="0" u="none" strike="noStrike" cap="none" dirty="0">
              <a:solidFill>
                <a:schemeClr val="tx1"/>
              </a:solidFill>
            </a:endParaRPr>
          </a:p>
        </p:txBody>
      </p:sp>
      <p:pic>
        <p:nvPicPr>
          <p:cNvPr id="6" name="Image 5">
            <a:extLst>
              <a:ext uri="{FF2B5EF4-FFF2-40B4-BE49-F238E27FC236}">
                <a16:creationId xmlns:a16="http://schemas.microsoft.com/office/drawing/2014/main" id="{0D9B1376-044B-4DD8-B8A2-1B39A4D0DB30}"/>
              </a:ext>
            </a:extLst>
          </p:cNvPr>
          <p:cNvPicPr>
            <a:picLocks noChangeAspect="1"/>
          </p:cNvPicPr>
          <p:nvPr/>
        </p:nvPicPr>
        <p:blipFill>
          <a:blip r:embed="rId3"/>
          <a:stretch>
            <a:fillRect/>
          </a:stretch>
        </p:blipFill>
        <p:spPr>
          <a:xfrm>
            <a:off x="3113314" y="1997869"/>
            <a:ext cx="5497286" cy="4570578"/>
          </a:xfrm>
          <a:prstGeom prst="rect">
            <a:avLst/>
          </a:prstGeom>
        </p:spPr>
      </p:pic>
      <p:sp>
        <p:nvSpPr>
          <p:cNvPr id="16" name="Espace réservé du numéro de diapositive 1">
            <a:extLst>
              <a:ext uri="{FF2B5EF4-FFF2-40B4-BE49-F238E27FC236}">
                <a16:creationId xmlns:a16="http://schemas.microsoft.com/office/drawing/2014/main" id="{5F21BF5D-9F84-42A5-A766-A925F8332868}"/>
              </a:ext>
            </a:extLst>
          </p:cNvPr>
          <p:cNvSpPr>
            <a:spLocks noGrp="1"/>
          </p:cNvSpPr>
          <p:nvPr>
            <p:ph type="sldNum" idx="12"/>
          </p:nvPr>
        </p:nvSpPr>
        <p:spPr>
          <a:xfrm>
            <a:off x="11623638" y="6295390"/>
            <a:ext cx="350520" cy="365125"/>
          </a:xfrm>
        </p:spPr>
        <p:txBody>
          <a:bodyPr/>
          <a:lstStyle/>
          <a:p>
            <a:pPr marL="0" lvl="0" indent="0" algn="r" rtl="0">
              <a:spcBef>
                <a:spcPts val="0"/>
              </a:spcBef>
              <a:spcAft>
                <a:spcPts val="0"/>
              </a:spcAft>
              <a:buNone/>
            </a:pPr>
            <a:r>
              <a:rPr lang="fr-FR" dirty="0"/>
              <a:t>20</a:t>
            </a:r>
          </a:p>
        </p:txBody>
      </p:sp>
    </p:spTree>
    <p:extLst>
      <p:ext uri="{BB962C8B-B14F-4D97-AF65-F5344CB8AC3E}">
        <p14:creationId xmlns:p14="http://schemas.microsoft.com/office/powerpoint/2010/main" val="113187310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grpSp>
        <p:nvGrpSpPr>
          <p:cNvPr id="17" name="Google Shape;248;p19"/>
          <p:cNvGrpSpPr/>
          <p:nvPr/>
        </p:nvGrpSpPr>
        <p:grpSpPr>
          <a:xfrm>
            <a:off x="73062" y="269603"/>
            <a:ext cx="10365904" cy="650938"/>
            <a:chOff x="-43152" y="-19950"/>
            <a:chExt cx="10076703" cy="650938"/>
          </a:xfrm>
        </p:grpSpPr>
        <p:sp>
          <p:nvSpPr>
            <p:cNvPr id="18" name="Google Shape;250;p19"/>
            <p:cNvSpPr txBox="1"/>
            <p:nvPr/>
          </p:nvSpPr>
          <p:spPr>
            <a:xfrm>
              <a:off x="-43152" y="6652"/>
              <a:ext cx="2167800" cy="584700"/>
            </a:xfrm>
            <a:prstGeom prst="rect">
              <a:avLst/>
            </a:prstGeom>
            <a:solidFill>
              <a:srgbClr val="AEABAB"/>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19" name="Google Shape;251;p19"/>
            <p:cNvSpPr/>
            <p:nvPr/>
          </p:nvSpPr>
          <p:spPr>
            <a:xfrm>
              <a:off x="1778963" y="0"/>
              <a:ext cx="26382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0" name="Google Shape;252;p19"/>
            <p:cNvSpPr txBox="1"/>
            <p:nvPr/>
          </p:nvSpPr>
          <p:spPr>
            <a:xfrm>
              <a:off x="2071350" y="0"/>
              <a:ext cx="2053500" cy="584700"/>
            </a:xfrm>
            <a:prstGeom prst="rect">
              <a:avLst/>
            </a:prstGeom>
            <a:solidFill>
              <a:srgbClr val="AEABAB"/>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21" name="Google Shape;253;p19"/>
            <p:cNvSpPr/>
            <p:nvPr/>
          </p:nvSpPr>
          <p:spPr>
            <a:xfrm>
              <a:off x="4023490" y="0"/>
              <a:ext cx="19680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2" name="Google Shape;254;p19"/>
            <p:cNvSpPr txBox="1"/>
            <p:nvPr/>
          </p:nvSpPr>
          <p:spPr>
            <a:xfrm>
              <a:off x="4261955" y="0"/>
              <a:ext cx="14373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23"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4" name="Google Shape;256;p19"/>
            <p:cNvSpPr txBox="1"/>
            <p:nvPr/>
          </p:nvSpPr>
          <p:spPr>
            <a:xfrm>
              <a:off x="5872496" y="-19950"/>
              <a:ext cx="18417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25"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6"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5</a:t>
              </a:r>
              <a:r>
                <a:rPr lang="fr-FR" sz="1700" b="1" i="0" u="none" strike="noStrike" cap="none">
                  <a:solidFill>
                    <a:schemeClr val="lt1"/>
                  </a:solidFill>
                </a:rPr>
                <a:t>.Conclusion et Perspectives</a:t>
              </a:r>
              <a:endParaRPr sz="1400" b="1" i="0" u="none" strike="noStrike" cap="none">
                <a:solidFill>
                  <a:schemeClr val="lt1"/>
                </a:solidFill>
              </a:endParaRPr>
            </a:p>
          </p:txBody>
        </p:sp>
      </p:grpSp>
      <p:sp>
        <p:nvSpPr>
          <p:cNvPr id="27" name="object 5"/>
          <p:cNvSpPr/>
          <p:nvPr/>
        </p:nvSpPr>
        <p:spPr>
          <a:xfrm>
            <a:off x="73062"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29" name="Google Shape;312;p22"/>
          <p:cNvSpPr txBox="1"/>
          <p:nvPr/>
        </p:nvSpPr>
        <p:spPr>
          <a:xfrm>
            <a:off x="1069572" y="1539218"/>
            <a:ext cx="8476800" cy="430857"/>
          </a:xfrm>
          <a:prstGeom prst="rect">
            <a:avLst/>
          </a:prstGeom>
          <a:noFill/>
          <a:ln>
            <a:noFill/>
          </a:ln>
        </p:spPr>
        <p:txBody>
          <a:bodyPr spcFirstLastPara="1" wrap="square" lIns="91425" tIns="91425" rIns="91425" bIns="91425" anchor="t" anchorCtr="0">
            <a:spAutoFit/>
          </a:bodyPr>
          <a:lstStyle/>
          <a:p>
            <a:pPr marL="101600" marR="0" lvl="0" algn="l" rtl="0">
              <a:lnSpc>
                <a:spcPct val="100000"/>
              </a:lnSpc>
              <a:spcBef>
                <a:spcPts val="0"/>
              </a:spcBef>
              <a:spcAft>
                <a:spcPts val="0"/>
              </a:spcAft>
              <a:buClr>
                <a:srgbClr val="C55A11"/>
              </a:buClr>
              <a:buSzPts val="2000"/>
            </a:pPr>
            <a:r>
              <a:rPr lang="fr-FR" sz="1600" b="1" i="0" u="none" strike="noStrike" cap="none" dirty="0">
                <a:solidFill>
                  <a:schemeClr val="accent6">
                    <a:lumMod val="60000"/>
                    <a:lumOff val="40000"/>
                  </a:schemeClr>
                </a:solidFill>
              </a:rPr>
              <a:t>Diagramme de </a:t>
            </a:r>
            <a:r>
              <a:rPr lang="fr-FR" sz="1600" b="1" dirty="0">
                <a:solidFill>
                  <a:schemeClr val="accent6">
                    <a:lumMod val="60000"/>
                    <a:lumOff val="40000"/>
                  </a:schemeClr>
                </a:solidFill>
              </a:rPr>
              <a:t>cas d’utilisation</a:t>
            </a:r>
            <a:endParaRPr sz="1600" b="1" i="0" u="none" strike="noStrike" cap="none" dirty="0">
              <a:solidFill>
                <a:schemeClr val="accent6">
                  <a:lumMod val="60000"/>
                  <a:lumOff val="40000"/>
                </a:schemeClr>
              </a:solidFill>
            </a:endParaRPr>
          </a:p>
        </p:txBody>
      </p:sp>
      <p:sp>
        <p:nvSpPr>
          <p:cNvPr id="2" name="Rectangle : coins arrondis 1">
            <a:extLst>
              <a:ext uri="{FF2B5EF4-FFF2-40B4-BE49-F238E27FC236}">
                <a16:creationId xmlns:a16="http://schemas.microsoft.com/office/drawing/2014/main" id="{61C70059-DB91-4C3C-B674-0890E1A3256D}"/>
              </a:ext>
            </a:extLst>
          </p:cNvPr>
          <p:cNvSpPr/>
          <p:nvPr/>
        </p:nvSpPr>
        <p:spPr>
          <a:xfrm>
            <a:off x="89525" y="1088331"/>
            <a:ext cx="6370320" cy="343792"/>
          </a:xfrm>
          <a:prstGeom prst="round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1600" marR="0" lvl="0" algn="l" rtl="0">
              <a:lnSpc>
                <a:spcPct val="100000"/>
              </a:lnSpc>
              <a:spcBef>
                <a:spcPts val="0"/>
              </a:spcBef>
              <a:spcAft>
                <a:spcPts val="0"/>
              </a:spcAft>
              <a:buClr>
                <a:srgbClr val="C55A11"/>
              </a:buClr>
              <a:buSzPts val="2000"/>
            </a:pPr>
            <a:r>
              <a:rPr lang="fr-FR" sz="1800" b="1" i="0" u="none" strike="noStrike" cap="none" dirty="0">
                <a:solidFill>
                  <a:schemeClr val="tx1"/>
                </a:solidFill>
              </a:rPr>
              <a:t>Sprint 4: Module éducatif et gestion des réclamations</a:t>
            </a:r>
            <a:endParaRPr lang="fr-FR" i="0" u="none" strike="noStrike" cap="none" dirty="0">
              <a:solidFill>
                <a:schemeClr val="tx1"/>
              </a:solidFill>
            </a:endParaRPr>
          </a:p>
        </p:txBody>
      </p:sp>
      <p:pic>
        <p:nvPicPr>
          <p:cNvPr id="28" name="Image 27">
            <a:extLst>
              <a:ext uri="{FF2B5EF4-FFF2-40B4-BE49-F238E27FC236}">
                <a16:creationId xmlns:a16="http://schemas.microsoft.com/office/drawing/2014/main" id="{2E0D0C07-85CE-44EF-AC2D-F6A83B6B3DE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248250" y="2214809"/>
            <a:ext cx="7298122" cy="4100901"/>
          </a:xfrm>
          <a:prstGeom prst="rect">
            <a:avLst/>
          </a:prstGeom>
          <a:noFill/>
          <a:ln>
            <a:noFill/>
          </a:ln>
        </p:spPr>
      </p:pic>
      <p:sp>
        <p:nvSpPr>
          <p:cNvPr id="16" name="Espace réservé du numéro de diapositive 1">
            <a:extLst>
              <a:ext uri="{FF2B5EF4-FFF2-40B4-BE49-F238E27FC236}">
                <a16:creationId xmlns:a16="http://schemas.microsoft.com/office/drawing/2014/main" id="{321A5480-AA75-409E-A214-F52989171F64}"/>
              </a:ext>
            </a:extLst>
          </p:cNvPr>
          <p:cNvSpPr>
            <a:spLocks noGrp="1"/>
          </p:cNvSpPr>
          <p:nvPr>
            <p:ph type="sldNum" idx="12"/>
          </p:nvPr>
        </p:nvSpPr>
        <p:spPr>
          <a:xfrm>
            <a:off x="11612880" y="6315710"/>
            <a:ext cx="370840" cy="365125"/>
          </a:xfrm>
        </p:spPr>
        <p:txBody>
          <a:bodyPr/>
          <a:lstStyle/>
          <a:p>
            <a:pPr marL="0" lvl="0" indent="0" algn="r" rtl="0">
              <a:spcBef>
                <a:spcPts val="0"/>
              </a:spcBef>
              <a:spcAft>
                <a:spcPts val="0"/>
              </a:spcAft>
              <a:buNone/>
            </a:pPr>
            <a:r>
              <a:rPr lang="fr-FR" dirty="0"/>
              <a:t>21</a:t>
            </a:r>
          </a:p>
        </p:txBody>
      </p:sp>
    </p:spTree>
    <p:extLst>
      <p:ext uri="{BB962C8B-B14F-4D97-AF65-F5344CB8AC3E}">
        <p14:creationId xmlns:p14="http://schemas.microsoft.com/office/powerpoint/2010/main" val="169315996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 calcmode="lin" valueType="num">
                                      <p:cBhvr additive="base">
                                        <p:cTn id="14" dur="500" fill="hold"/>
                                        <p:tgtEl>
                                          <p:spTgt spid="29"/>
                                        </p:tgtEl>
                                        <p:attrNameLst>
                                          <p:attrName>ppt_x</p:attrName>
                                        </p:attrNameLst>
                                      </p:cBhvr>
                                      <p:tavLst>
                                        <p:tav tm="0">
                                          <p:val>
                                            <p:strVal val="#ppt_x"/>
                                          </p:val>
                                        </p:tav>
                                        <p:tav tm="100000">
                                          <p:val>
                                            <p:strVal val="#ppt_x"/>
                                          </p:val>
                                        </p:tav>
                                      </p:tavLst>
                                    </p:anim>
                                    <p:anim calcmode="lin" valueType="num">
                                      <p:cBhvr additive="base">
                                        <p:cTn id="15"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grpSp>
        <p:nvGrpSpPr>
          <p:cNvPr id="17" name="Google Shape;248;p19"/>
          <p:cNvGrpSpPr/>
          <p:nvPr/>
        </p:nvGrpSpPr>
        <p:grpSpPr>
          <a:xfrm>
            <a:off x="73062" y="269603"/>
            <a:ext cx="10365904" cy="650938"/>
            <a:chOff x="-43152" y="-19950"/>
            <a:chExt cx="10076703" cy="650938"/>
          </a:xfrm>
        </p:grpSpPr>
        <p:sp>
          <p:nvSpPr>
            <p:cNvPr id="18" name="Google Shape;250;p19"/>
            <p:cNvSpPr txBox="1"/>
            <p:nvPr/>
          </p:nvSpPr>
          <p:spPr>
            <a:xfrm>
              <a:off x="-43152" y="6652"/>
              <a:ext cx="2167800" cy="584700"/>
            </a:xfrm>
            <a:prstGeom prst="rect">
              <a:avLst/>
            </a:prstGeom>
            <a:solidFill>
              <a:srgbClr val="AEABAB"/>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19" name="Google Shape;251;p19"/>
            <p:cNvSpPr/>
            <p:nvPr/>
          </p:nvSpPr>
          <p:spPr>
            <a:xfrm>
              <a:off x="1778963" y="0"/>
              <a:ext cx="26382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0" name="Google Shape;252;p19"/>
            <p:cNvSpPr txBox="1"/>
            <p:nvPr/>
          </p:nvSpPr>
          <p:spPr>
            <a:xfrm>
              <a:off x="2071350" y="0"/>
              <a:ext cx="2053500" cy="584700"/>
            </a:xfrm>
            <a:prstGeom prst="rect">
              <a:avLst/>
            </a:prstGeom>
            <a:solidFill>
              <a:srgbClr val="AEABAB"/>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21" name="Google Shape;253;p19"/>
            <p:cNvSpPr/>
            <p:nvPr/>
          </p:nvSpPr>
          <p:spPr>
            <a:xfrm>
              <a:off x="4023490" y="0"/>
              <a:ext cx="19680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2" name="Google Shape;254;p19"/>
            <p:cNvSpPr txBox="1"/>
            <p:nvPr/>
          </p:nvSpPr>
          <p:spPr>
            <a:xfrm>
              <a:off x="4261955" y="0"/>
              <a:ext cx="14373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23" name="Google Shape;255;p19"/>
            <p:cNvSpPr/>
            <p:nvPr/>
          </p:nvSpPr>
          <p:spPr>
            <a:xfrm>
              <a:off x="5597962"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4" name="Google Shape;256;p19"/>
            <p:cNvSpPr txBox="1"/>
            <p:nvPr/>
          </p:nvSpPr>
          <p:spPr>
            <a:xfrm>
              <a:off x="5872496" y="-19950"/>
              <a:ext cx="18417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25"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6"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5</a:t>
              </a:r>
              <a:r>
                <a:rPr lang="fr-FR" sz="1700" b="1" i="0" u="none" strike="noStrike" cap="none">
                  <a:solidFill>
                    <a:schemeClr val="lt1"/>
                  </a:solidFill>
                </a:rPr>
                <a:t>.Conclusion et Perspectives</a:t>
              </a:r>
              <a:endParaRPr sz="1400" b="1" i="0" u="none" strike="noStrike" cap="none">
                <a:solidFill>
                  <a:schemeClr val="lt1"/>
                </a:solidFill>
              </a:endParaRPr>
            </a:p>
          </p:txBody>
        </p:sp>
      </p:grpSp>
      <p:sp>
        <p:nvSpPr>
          <p:cNvPr id="27" name="object 5"/>
          <p:cNvSpPr/>
          <p:nvPr/>
        </p:nvSpPr>
        <p:spPr>
          <a:xfrm>
            <a:off x="73062"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29" name="Google Shape;312;p22"/>
          <p:cNvSpPr txBox="1"/>
          <p:nvPr/>
        </p:nvSpPr>
        <p:spPr>
          <a:xfrm>
            <a:off x="1030257" y="1467163"/>
            <a:ext cx="8476800" cy="430857"/>
          </a:xfrm>
          <a:prstGeom prst="rect">
            <a:avLst/>
          </a:prstGeom>
          <a:noFill/>
          <a:ln>
            <a:noFill/>
          </a:ln>
        </p:spPr>
        <p:txBody>
          <a:bodyPr spcFirstLastPara="1" wrap="square" lIns="91425" tIns="91425" rIns="91425" bIns="91425" anchor="t" anchorCtr="0">
            <a:spAutoFit/>
          </a:bodyPr>
          <a:lstStyle/>
          <a:p>
            <a:pPr marL="101600" marR="0" lvl="0" algn="l" rtl="0">
              <a:lnSpc>
                <a:spcPct val="100000"/>
              </a:lnSpc>
              <a:spcBef>
                <a:spcPts val="0"/>
              </a:spcBef>
              <a:spcAft>
                <a:spcPts val="0"/>
              </a:spcAft>
              <a:buClr>
                <a:srgbClr val="C55A11"/>
              </a:buClr>
              <a:buSzPts val="2000"/>
            </a:pPr>
            <a:r>
              <a:rPr lang="fr-FR" sz="1600" b="1" i="0" u="none" strike="noStrike" cap="none" dirty="0">
                <a:solidFill>
                  <a:schemeClr val="accent6">
                    <a:lumMod val="60000"/>
                    <a:lumOff val="40000"/>
                  </a:schemeClr>
                </a:solidFill>
              </a:rPr>
              <a:t>Diagramme de </a:t>
            </a:r>
            <a:r>
              <a:rPr lang="fr-FR" sz="1600" b="1" dirty="0">
                <a:solidFill>
                  <a:schemeClr val="accent6">
                    <a:lumMod val="60000"/>
                    <a:lumOff val="40000"/>
                  </a:schemeClr>
                </a:solidFill>
              </a:rPr>
              <a:t>séquence « Obtenir un certificat » </a:t>
            </a:r>
            <a:endParaRPr sz="1600" b="1" i="0" u="none" strike="noStrike" cap="none" dirty="0">
              <a:solidFill>
                <a:schemeClr val="accent6">
                  <a:lumMod val="60000"/>
                  <a:lumOff val="40000"/>
                </a:schemeClr>
              </a:solidFill>
            </a:endParaRPr>
          </a:p>
        </p:txBody>
      </p:sp>
      <p:sp>
        <p:nvSpPr>
          <p:cNvPr id="2" name="Rectangle : coins arrondis 1">
            <a:extLst>
              <a:ext uri="{FF2B5EF4-FFF2-40B4-BE49-F238E27FC236}">
                <a16:creationId xmlns:a16="http://schemas.microsoft.com/office/drawing/2014/main" id="{61C70059-DB91-4C3C-B674-0890E1A3256D}"/>
              </a:ext>
            </a:extLst>
          </p:cNvPr>
          <p:cNvSpPr/>
          <p:nvPr/>
        </p:nvSpPr>
        <p:spPr>
          <a:xfrm>
            <a:off x="89525" y="1094983"/>
            <a:ext cx="6370320" cy="326812"/>
          </a:xfrm>
          <a:prstGeom prst="roundRect">
            <a:avLst/>
          </a:prstGeom>
          <a:solidFill>
            <a:schemeClr val="accent5">
              <a:lumMod val="40000"/>
              <a:lumOff val="60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1600" marR="0" lvl="0" algn="l" rtl="0">
              <a:lnSpc>
                <a:spcPct val="100000"/>
              </a:lnSpc>
              <a:spcBef>
                <a:spcPts val="0"/>
              </a:spcBef>
              <a:spcAft>
                <a:spcPts val="0"/>
              </a:spcAft>
              <a:buClr>
                <a:srgbClr val="C55A11"/>
              </a:buClr>
              <a:buSzPts val="2000"/>
            </a:pPr>
            <a:r>
              <a:rPr lang="fr-FR" sz="1800" b="1" i="0" u="none" strike="noStrike" cap="none" dirty="0">
                <a:solidFill>
                  <a:schemeClr val="tx1"/>
                </a:solidFill>
              </a:rPr>
              <a:t>Sprint 4: Module éducatif et gestion des réclamations</a:t>
            </a:r>
            <a:endParaRPr lang="fr-FR" i="0" u="none" strike="noStrike" cap="none" dirty="0">
              <a:solidFill>
                <a:schemeClr val="tx1"/>
              </a:solidFill>
            </a:endParaRPr>
          </a:p>
        </p:txBody>
      </p:sp>
      <p:pic>
        <p:nvPicPr>
          <p:cNvPr id="5" name="Image 4">
            <a:extLst>
              <a:ext uri="{FF2B5EF4-FFF2-40B4-BE49-F238E27FC236}">
                <a16:creationId xmlns:a16="http://schemas.microsoft.com/office/drawing/2014/main" id="{7DA241C3-FE0C-4B5B-8285-66FB69368073}"/>
              </a:ext>
            </a:extLst>
          </p:cNvPr>
          <p:cNvPicPr>
            <a:picLocks noChangeAspect="1"/>
          </p:cNvPicPr>
          <p:nvPr/>
        </p:nvPicPr>
        <p:blipFill>
          <a:blip r:embed="rId3"/>
          <a:stretch>
            <a:fillRect/>
          </a:stretch>
        </p:blipFill>
        <p:spPr>
          <a:xfrm>
            <a:off x="3145971" y="1984781"/>
            <a:ext cx="6106886" cy="4607252"/>
          </a:xfrm>
          <a:prstGeom prst="rect">
            <a:avLst/>
          </a:prstGeom>
        </p:spPr>
      </p:pic>
      <p:sp>
        <p:nvSpPr>
          <p:cNvPr id="16" name="Espace réservé du numéro de diapositive 1">
            <a:extLst>
              <a:ext uri="{FF2B5EF4-FFF2-40B4-BE49-F238E27FC236}">
                <a16:creationId xmlns:a16="http://schemas.microsoft.com/office/drawing/2014/main" id="{AEA93B1A-BB97-4A43-90C8-DD115075817B}"/>
              </a:ext>
            </a:extLst>
          </p:cNvPr>
          <p:cNvSpPr>
            <a:spLocks noGrp="1"/>
          </p:cNvSpPr>
          <p:nvPr>
            <p:ph type="sldNum" idx="12"/>
          </p:nvPr>
        </p:nvSpPr>
        <p:spPr>
          <a:xfrm>
            <a:off x="11553616" y="6334452"/>
            <a:ext cx="401320" cy="365125"/>
          </a:xfrm>
        </p:spPr>
        <p:txBody>
          <a:bodyPr/>
          <a:lstStyle/>
          <a:p>
            <a:pPr marL="0" lvl="0" indent="0" algn="r" rtl="0">
              <a:spcBef>
                <a:spcPts val="0"/>
              </a:spcBef>
              <a:spcAft>
                <a:spcPts val="0"/>
              </a:spcAft>
              <a:buNone/>
            </a:pPr>
            <a:r>
              <a:rPr lang="fr-FR" dirty="0"/>
              <a:t>22</a:t>
            </a:r>
          </a:p>
        </p:txBody>
      </p:sp>
    </p:spTree>
    <p:extLst>
      <p:ext uri="{BB962C8B-B14F-4D97-AF65-F5344CB8AC3E}">
        <p14:creationId xmlns:p14="http://schemas.microsoft.com/office/powerpoint/2010/main" val="300983333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4"/>
          <p:cNvSpPr/>
          <p:nvPr/>
        </p:nvSpPr>
        <p:spPr>
          <a:xfrm>
            <a:off x="1546775" y="2934119"/>
            <a:ext cx="10563931" cy="1152313"/>
          </a:xfrm>
          <a:custGeom>
            <a:avLst/>
            <a:gdLst/>
            <a:ahLst/>
            <a:cxnLst/>
            <a:rect l="l" t="t" r="r" b="b"/>
            <a:pathLst>
              <a:path w="8507095" h="864235">
                <a:moveTo>
                  <a:pt x="0" y="864107"/>
                </a:moveTo>
                <a:lnTo>
                  <a:pt x="8506968" y="864107"/>
                </a:lnTo>
                <a:lnTo>
                  <a:pt x="8506968" y="0"/>
                </a:lnTo>
                <a:lnTo>
                  <a:pt x="0" y="0"/>
                </a:lnTo>
                <a:lnTo>
                  <a:pt x="0" y="864107"/>
                </a:lnTo>
                <a:close/>
              </a:path>
            </a:pathLst>
          </a:custGeom>
          <a:solidFill>
            <a:schemeClr val="accent6">
              <a:lumMod val="60000"/>
              <a:lumOff val="40000"/>
            </a:schemeClr>
          </a:solidFill>
          <a:ln w="9144">
            <a:solidFill>
              <a:schemeClr val="accent6">
                <a:lumMod val="60000"/>
                <a:lumOff val="40000"/>
              </a:schemeClr>
            </a:solidFill>
          </a:ln>
        </p:spPr>
        <p:txBody>
          <a:bodyPr wrap="square" lIns="0" tIns="0" rIns="0" bIns="0" rtlCol="0"/>
          <a:lstStyle/>
          <a:p>
            <a:endParaRPr sz="1867"/>
          </a:p>
        </p:txBody>
      </p:sp>
      <p:pic>
        <p:nvPicPr>
          <p:cNvPr id="15" name="object 8"/>
          <p:cNvPicPr/>
          <p:nvPr/>
        </p:nvPicPr>
        <p:blipFill>
          <a:blip r:embed="rId3" cstate="print"/>
          <a:stretch>
            <a:fillRect/>
          </a:stretch>
        </p:blipFill>
        <p:spPr>
          <a:xfrm>
            <a:off x="2077527" y="3127245"/>
            <a:ext cx="768096" cy="766064"/>
          </a:xfrm>
          <a:prstGeom prst="rect">
            <a:avLst/>
          </a:prstGeom>
        </p:spPr>
      </p:pic>
      <p:sp>
        <p:nvSpPr>
          <p:cNvPr id="17" name="object 5"/>
          <p:cNvSpPr txBox="1">
            <a:spLocks noGrp="1"/>
          </p:cNvSpPr>
          <p:nvPr>
            <p:ph type="title"/>
          </p:nvPr>
        </p:nvSpPr>
        <p:spPr>
          <a:xfrm>
            <a:off x="3617783" y="3208089"/>
            <a:ext cx="4733737" cy="604375"/>
          </a:xfrm>
          <a:prstGeom prst="rect">
            <a:avLst/>
          </a:prstGeom>
        </p:spPr>
        <p:txBody>
          <a:bodyPr spcFirstLastPara="1" vert="horz" wrap="square" lIns="0" tIns="16933" rIns="0" bIns="0" rtlCol="0" anchor="ctr" anchorCtr="0">
            <a:spAutoFit/>
          </a:bodyPr>
          <a:lstStyle/>
          <a:p>
            <a:pPr marL="16933">
              <a:lnSpc>
                <a:spcPct val="100000"/>
              </a:lnSpc>
              <a:spcBef>
                <a:spcPts val="133"/>
              </a:spcBef>
            </a:pPr>
            <a:r>
              <a:rPr lang="fr-FR" sz="3733" b="1" dirty="0">
                <a:solidFill>
                  <a:schemeClr val="bg1"/>
                </a:solidFill>
                <a:latin typeface="+mj-lt"/>
              </a:rPr>
              <a:t>Réalisation</a:t>
            </a:r>
            <a:endParaRPr sz="3733" b="1" spc="20" dirty="0">
              <a:solidFill>
                <a:schemeClr val="bg1"/>
              </a:solidFill>
              <a:latin typeface="+mj-lt"/>
            </a:endParaRPr>
          </a:p>
        </p:txBody>
      </p:sp>
      <p:sp>
        <p:nvSpPr>
          <p:cNvPr id="18" name="object 5"/>
          <p:cNvSpPr/>
          <p:nvPr/>
        </p:nvSpPr>
        <p:spPr>
          <a:xfrm>
            <a:off x="81293"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2" name="Espace réservé du numéro de diapositive 1">
            <a:extLst>
              <a:ext uri="{FF2B5EF4-FFF2-40B4-BE49-F238E27FC236}">
                <a16:creationId xmlns:a16="http://schemas.microsoft.com/office/drawing/2014/main" id="{EF0F2299-39DE-4764-A6D7-7E03947975EB}"/>
              </a:ext>
            </a:extLst>
          </p:cNvPr>
          <p:cNvSpPr>
            <a:spLocks noGrp="1"/>
          </p:cNvSpPr>
          <p:nvPr>
            <p:ph type="sldNum" idx="12"/>
          </p:nvPr>
        </p:nvSpPr>
        <p:spPr>
          <a:xfrm>
            <a:off x="11633200" y="6346190"/>
            <a:ext cx="401320" cy="365125"/>
          </a:xfrm>
        </p:spPr>
        <p:txBody>
          <a:bodyPr/>
          <a:lstStyle/>
          <a:p>
            <a:pPr marL="0" lvl="0" indent="0" algn="r" rtl="0">
              <a:spcBef>
                <a:spcPts val="0"/>
              </a:spcBef>
              <a:spcAft>
                <a:spcPts val="0"/>
              </a:spcAft>
              <a:buNone/>
            </a:pPr>
            <a:r>
              <a:rPr lang="fr-FR" dirty="0"/>
              <a:t>23</a:t>
            </a:r>
          </a:p>
        </p:txBody>
      </p:sp>
    </p:spTree>
    <p:extLst>
      <p:ext uri="{BB962C8B-B14F-4D97-AF65-F5344CB8AC3E}">
        <p14:creationId xmlns:p14="http://schemas.microsoft.com/office/powerpoint/2010/main" val="2902013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oogle Shape;248;p19"/>
          <p:cNvGrpSpPr/>
          <p:nvPr/>
        </p:nvGrpSpPr>
        <p:grpSpPr>
          <a:xfrm>
            <a:off x="68379" y="203748"/>
            <a:ext cx="10365904" cy="650938"/>
            <a:chOff x="-43152" y="-19950"/>
            <a:chExt cx="10076703" cy="650938"/>
          </a:xfrm>
        </p:grpSpPr>
        <p:sp>
          <p:nvSpPr>
            <p:cNvPr id="39" name="Google Shape;250;p19"/>
            <p:cNvSpPr txBox="1"/>
            <p:nvPr/>
          </p:nvSpPr>
          <p:spPr>
            <a:xfrm>
              <a:off x="-43152" y="6652"/>
              <a:ext cx="2167800" cy="584700"/>
            </a:xfrm>
            <a:prstGeom prst="rect">
              <a:avLst/>
            </a:prstGeom>
            <a:solidFill>
              <a:schemeClr val="accent3"/>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40" name="Google Shape;251;p19"/>
            <p:cNvSpPr/>
            <p:nvPr/>
          </p:nvSpPr>
          <p:spPr>
            <a:xfrm>
              <a:off x="1778963" y="0"/>
              <a:ext cx="2638200" cy="584700"/>
            </a:xfrm>
            <a:prstGeom prst="chevron">
              <a:avLst>
                <a:gd name="adj" fmla="val 50000"/>
              </a:avLst>
            </a:prstGeom>
            <a:solidFill>
              <a:schemeClr val="accent3"/>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41" name="Google Shape;252;p19"/>
            <p:cNvSpPr txBox="1"/>
            <p:nvPr/>
          </p:nvSpPr>
          <p:spPr>
            <a:xfrm>
              <a:off x="2071350" y="0"/>
              <a:ext cx="2053500" cy="584700"/>
            </a:xfrm>
            <a:prstGeom prst="rect">
              <a:avLst/>
            </a:prstGeom>
            <a:solidFill>
              <a:schemeClr val="accent3"/>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42" name="Google Shape;253;p19"/>
            <p:cNvSpPr/>
            <p:nvPr/>
          </p:nvSpPr>
          <p:spPr>
            <a:xfrm>
              <a:off x="4023490" y="0"/>
              <a:ext cx="1968000" cy="584700"/>
            </a:xfrm>
            <a:prstGeom prst="chevron">
              <a:avLst>
                <a:gd name="adj" fmla="val 50000"/>
              </a:avLst>
            </a:prstGeom>
            <a:solidFill>
              <a:schemeClr val="accent3"/>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43" name="Google Shape;254;p19"/>
            <p:cNvSpPr txBox="1"/>
            <p:nvPr/>
          </p:nvSpPr>
          <p:spPr>
            <a:xfrm>
              <a:off x="4261955" y="0"/>
              <a:ext cx="1437300" cy="584700"/>
            </a:xfrm>
            <a:prstGeom prst="rect">
              <a:avLst/>
            </a:prstGeom>
            <a:solidFill>
              <a:schemeClr val="accent3"/>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44" name="Google Shape;255;p19"/>
            <p:cNvSpPr/>
            <p:nvPr/>
          </p:nvSpPr>
          <p:spPr>
            <a:xfrm>
              <a:off x="5597962" y="0"/>
              <a:ext cx="24675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45" name="Google Shape;256;p19"/>
            <p:cNvSpPr txBox="1"/>
            <p:nvPr/>
          </p:nvSpPr>
          <p:spPr>
            <a:xfrm>
              <a:off x="5872496" y="-19950"/>
              <a:ext cx="18417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46"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47"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5</a:t>
              </a:r>
              <a:r>
                <a:rPr lang="fr-FR" sz="1700" b="1" i="0" u="none" strike="noStrike" cap="none" dirty="0">
                  <a:solidFill>
                    <a:schemeClr val="lt1"/>
                  </a:solidFill>
                </a:rPr>
                <a:t>.Conclusion et Perspectives</a:t>
              </a:r>
              <a:endParaRPr sz="1400" b="1" i="0" u="none" strike="noStrike" cap="none" dirty="0">
                <a:solidFill>
                  <a:schemeClr val="lt1"/>
                </a:solidFill>
              </a:endParaRPr>
            </a:p>
          </p:txBody>
        </p:sp>
      </p:grpSp>
      <p:sp>
        <p:nvSpPr>
          <p:cNvPr id="48" name="object 5"/>
          <p:cNvSpPr/>
          <p:nvPr/>
        </p:nvSpPr>
        <p:spPr>
          <a:xfrm>
            <a:off x="68379" y="93135"/>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pic>
        <p:nvPicPr>
          <p:cNvPr id="59" name="Image 58">
            <a:extLst>
              <a:ext uri="{FF2B5EF4-FFF2-40B4-BE49-F238E27FC236}">
                <a16:creationId xmlns:a16="http://schemas.microsoft.com/office/drawing/2014/main" id="{AFFFC30B-DE29-4286-840B-E3C90C35C5C8}"/>
              </a:ext>
            </a:extLst>
          </p:cNvPr>
          <p:cNvPicPr>
            <a:picLocks noChangeAspect="1"/>
          </p:cNvPicPr>
          <p:nvPr/>
        </p:nvPicPr>
        <p:blipFill>
          <a:blip r:embed="rId3"/>
          <a:stretch>
            <a:fillRect/>
          </a:stretch>
        </p:blipFill>
        <p:spPr>
          <a:xfrm>
            <a:off x="1823953" y="2002473"/>
            <a:ext cx="1487424" cy="1499447"/>
          </a:xfrm>
          <a:prstGeom prst="rect">
            <a:avLst/>
          </a:prstGeom>
        </p:spPr>
      </p:pic>
      <p:sp>
        <p:nvSpPr>
          <p:cNvPr id="61" name="ZoneTexte 60">
            <a:extLst>
              <a:ext uri="{FF2B5EF4-FFF2-40B4-BE49-F238E27FC236}">
                <a16:creationId xmlns:a16="http://schemas.microsoft.com/office/drawing/2014/main" id="{BF7C3680-42E6-497B-B343-EE558C1DEC90}"/>
              </a:ext>
            </a:extLst>
          </p:cNvPr>
          <p:cNvSpPr txBox="1"/>
          <p:nvPr/>
        </p:nvSpPr>
        <p:spPr>
          <a:xfrm>
            <a:off x="425273" y="1130615"/>
            <a:ext cx="7889240" cy="400110"/>
          </a:xfrm>
          <a:prstGeom prst="rect">
            <a:avLst/>
          </a:prstGeom>
          <a:noFill/>
        </p:spPr>
        <p:txBody>
          <a:bodyPr wrap="square" rtlCol="0">
            <a:spAutoFit/>
          </a:bodyPr>
          <a:lstStyle/>
          <a:p>
            <a:r>
              <a:rPr lang="fr-FR" sz="2000" b="1" dirty="0">
                <a:solidFill>
                  <a:schemeClr val="accent6">
                    <a:lumMod val="60000"/>
                    <a:lumOff val="40000"/>
                  </a:schemeClr>
                </a:solidFill>
              </a:rPr>
              <a:t>Récupération des paramètres environnementaux en temps réel </a:t>
            </a:r>
          </a:p>
        </p:txBody>
      </p:sp>
      <p:sp>
        <p:nvSpPr>
          <p:cNvPr id="62" name="ZoneTexte 61">
            <a:extLst>
              <a:ext uri="{FF2B5EF4-FFF2-40B4-BE49-F238E27FC236}">
                <a16:creationId xmlns:a16="http://schemas.microsoft.com/office/drawing/2014/main" id="{0C8B7BF4-FE0C-4D98-A172-06734396CBCF}"/>
              </a:ext>
            </a:extLst>
          </p:cNvPr>
          <p:cNvSpPr txBox="1"/>
          <p:nvPr/>
        </p:nvSpPr>
        <p:spPr>
          <a:xfrm>
            <a:off x="1942789" y="1950731"/>
            <a:ext cx="2103120" cy="307777"/>
          </a:xfrm>
          <a:prstGeom prst="rect">
            <a:avLst/>
          </a:prstGeom>
          <a:noFill/>
        </p:spPr>
        <p:txBody>
          <a:bodyPr wrap="square" rtlCol="0">
            <a:spAutoFit/>
          </a:bodyPr>
          <a:lstStyle/>
          <a:p>
            <a:r>
              <a:rPr lang="fr-FR" b="1" dirty="0"/>
              <a:t>Pot connecté</a:t>
            </a:r>
          </a:p>
        </p:txBody>
      </p:sp>
      <p:cxnSp>
        <p:nvCxnSpPr>
          <p:cNvPr id="64" name="Connecteur droit avec flèche 63">
            <a:extLst>
              <a:ext uri="{FF2B5EF4-FFF2-40B4-BE49-F238E27FC236}">
                <a16:creationId xmlns:a16="http://schemas.microsoft.com/office/drawing/2014/main" id="{82EF4321-9D2B-45AE-957F-794A4A14ADE5}"/>
              </a:ext>
            </a:extLst>
          </p:cNvPr>
          <p:cNvCxnSpPr>
            <a:cxnSpLocks/>
          </p:cNvCxnSpPr>
          <p:nvPr/>
        </p:nvCxnSpPr>
        <p:spPr>
          <a:xfrm flipV="1">
            <a:off x="1320800" y="2816972"/>
            <a:ext cx="987755" cy="154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Connecteur droit avec flèche 71">
            <a:extLst>
              <a:ext uri="{FF2B5EF4-FFF2-40B4-BE49-F238E27FC236}">
                <a16:creationId xmlns:a16="http://schemas.microsoft.com/office/drawing/2014/main" id="{4F182838-E3E0-414A-8BC3-2FB4B27A8474}"/>
              </a:ext>
            </a:extLst>
          </p:cNvPr>
          <p:cNvCxnSpPr>
            <a:cxnSpLocks/>
          </p:cNvCxnSpPr>
          <p:nvPr/>
        </p:nvCxnSpPr>
        <p:spPr>
          <a:xfrm flipV="1">
            <a:off x="1391920" y="3161371"/>
            <a:ext cx="1060810" cy="5596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927D721B-753B-4D28-8EF7-1813997DDE01}"/>
              </a:ext>
            </a:extLst>
          </p:cNvPr>
          <p:cNvCxnSpPr>
            <a:cxnSpLocks/>
          </p:cNvCxnSpPr>
          <p:nvPr/>
        </p:nvCxnSpPr>
        <p:spPr>
          <a:xfrm flipH="1" flipV="1">
            <a:off x="2789919" y="2971338"/>
            <a:ext cx="277687" cy="457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ZoneTexte 81">
            <a:extLst>
              <a:ext uri="{FF2B5EF4-FFF2-40B4-BE49-F238E27FC236}">
                <a16:creationId xmlns:a16="http://schemas.microsoft.com/office/drawing/2014/main" id="{7F76111D-3EF5-44E3-8BC3-A1985EB6EF38}"/>
              </a:ext>
            </a:extLst>
          </p:cNvPr>
          <p:cNvSpPr txBox="1"/>
          <p:nvPr/>
        </p:nvSpPr>
        <p:spPr>
          <a:xfrm>
            <a:off x="152400" y="2682240"/>
            <a:ext cx="1168400" cy="738664"/>
          </a:xfrm>
          <a:prstGeom prst="rect">
            <a:avLst/>
          </a:prstGeom>
          <a:noFill/>
        </p:spPr>
        <p:txBody>
          <a:bodyPr wrap="square" rtlCol="0">
            <a:spAutoFit/>
          </a:bodyPr>
          <a:lstStyle/>
          <a:p>
            <a:r>
              <a:rPr lang="fr-FR" dirty="0"/>
              <a:t>Capteur d’humidité du sol</a:t>
            </a:r>
          </a:p>
        </p:txBody>
      </p:sp>
      <p:sp>
        <p:nvSpPr>
          <p:cNvPr id="89" name="ZoneTexte 88">
            <a:extLst>
              <a:ext uri="{FF2B5EF4-FFF2-40B4-BE49-F238E27FC236}">
                <a16:creationId xmlns:a16="http://schemas.microsoft.com/office/drawing/2014/main" id="{904A1024-43B5-489D-995A-B659D6966EC2}"/>
              </a:ext>
            </a:extLst>
          </p:cNvPr>
          <p:cNvSpPr txBox="1"/>
          <p:nvPr/>
        </p:nvSpPr>
        <p:spPr>
          <a:xfrm>
            <a:off x="468852" y="3612591"/>
            <a:ext cx="1168400" cy="523220"/>
          </a:xfrm>
          <a:prstGeom prst="rect">
            <a:avLst/>
          </a:prstGeom>
          <a:noFill/>
        </p:spPr>
        <p:txBody>
          <a:bodyPr wrap="square" rtlCol="0">
            <a:spAutoFit/>
          </a:bodyPr>
          <a:lstStyle/>
          <a:p>
            <a:r>
              <a:rPr lang="fr-FR" dirty="0"/>
              <a:t>Pompe à eau</a:t>
            </a:r>
          </a:p>
        </p:txBody>
      </p:sp>
      <p:sp>
        <p:nvSpPr>
          <p:cNvPr id="90" name="ZoneTexte 89">
            <a:extLst>
              <a:ext uri="{FF2B5EF4-FFF2-40B4-BE49-F238E27FC236}">
                <a16:creationId xmlns:a16="http://schemas.microsoft.com/office/drawing/2014/main" id="{B06CA299-95A6-4D2E-AA81-4E4CAF3D3CDB}"/>
              </a:ext>
            </a:extLst>
          </p:cNvPr>
          <p:cNvSpPr txBox="1"/>
          <p:nvPr/>
        </p:nvSpPr>
        <p:spPr>
          <a:xfrm>
            <a:off x="2203217" y="3470879"/>
            <a:ext cx="1877371" cy="523220"/>
          </a:xfrm>
          <a:prstGeom prst="rect">
            <a:avLst/>
          </a:prstGeom>
          <a:noFill/>
        </p:spPr>
        <p:txBody>
          <a:bodyPr wrap="square" rtlCol="0">
            <a:spAutoFit/>
          </a:bodyPr>
          <a:lstStyle/>
          <a:p>
            <a:r>
              <a:rPr lang="fr-FR" dirty="0"/>
              <a:t>Capteur d’humidité et température de l’air</a:t>
            </a:r>
          </a:p>
        </p:txBody>
      </p:sp>
      <p:cxnSp>
        <p:nvCxnSpPr>
          <p:cNvPr id="85" name="Connecteur droit avec flèche 84">
            <a:extLst>
              <a:ext uri="{FF2B5EF4-FFF2-40B4-BE49-F238E27FC236}">
                <a16:creationId xmlns:a16="http://schemas.microsoft.com/office/drawing/2014/main" id="{21F9ACE1-96CD-4E82-9F07-191926370E81}"/>
              </a:ext>
            </a:extLst>
          </p:cNvPr>
          <p:cNvCxnSpPr/>
          <p:nvPr/>
        </p:nvCxnSpPr>
        <p:spPr>
          <a:xfrm>
            <a:off x="-609600" y="93135"/>
            <a:ext cx="0" cy="28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Flèche : droite 93">
            <a:extLst>
              <a:ext uri="{FF2B5EF4-FFF2-40B4-BE49-F238E27FC236}">
                <a16:creationId xmlns:a16="http://schemas.microsoft.com/office/drawing/2014/main" id="{4EBDFB6C-1284-44C8-B855-045B231BF31D}"/>
              </a:ext>
            </a:extLst>
          </p:cNvPr>
          <p:cNvSpPr/>
          <p:nvPr/>
        </p:nvSpPr>
        <p:spPr>
          <a:xfrm>
            <a:off x="3504725" y="2855129"/>
            <a:ext cx="1603052" cy="207554"/>
          </a:xfrm>
          <a:prstGeom prst="rightArrow">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ZoneTexte 94">
            <a:extLst>
              <a:ext uri="{FF2B5EF4-FFF2-40B4-BE49-F238E27FC236}">
                <a16:creationId xmlns:a16="http://schemas.microsoft.com/office/drawing/2014/main" id="{2B2E06DB-06AC-484A-AEF0-CE6F88A2855E}"/>
              </a:ext>
            </a:extLst>
          </p:cNvPr>
          <p:cNvSpPr txBox="1"/>
          <p:nvPr/>
        </p:nvSpPr>
        <p:spPr>
          <a:xfrm>
            <a:off x="3291466" y="2512815"/>
            <a:ext cx="2123031" cy="307777"/>
          </a:xfrm>
          <a:prstGeom prst="rect">
            <a:avLst/>
          </a:prstGeom>
          <a:noFill/>
        </p:spPr>
        <p:txBody>
          <a:bodyPr wrap="square" rtlCol="0">
            <a:spAutoFit/>
          </a:bodyPr>
          <a:lstStyle/>
          <a:p>
            <a:r>
              <a:rPr lang="fr-FR" b="1" dirty="0"/>
              <a:t>Envoyer les données </a:t>
            </a:r>
          </a:p>
        </p:txBody>
      </p:sp>
      <p:pic>
        <p:nvPicPr>
          <p:cNvPr id="97" name="Image 96">
            <a:extLst>
              <a:ext uri="{FF2B5EF4-FFF2-40B4-BE49-F238E27FC236}">
                <a16:creationId xmlns:a16="http://schemas.microsoft.com/office/drawing/2014/main" id="{FAFED6C3-7A3A-42CB-9840-73DACA31D3C0}"/>
              </a:ext>
            </a:extLst>
          </p:cNvPr>
          <p:cNvPicPr>
            <a:picLocks noChangeAspect="1"/>
          </p:cNvPicPr>
          <p:nvPr/>
        </p:nvPicPr>
        <p:blipFill>
          <a:blip r:embed="rId4"/>
          <a:stretch>
            <a:fillRect/>
          </a:stretch>
        </p:blipFill>
        <p:spPr>
          <a:xfrm>
            <a:off x="5135252" y="2284622"/>
            <a:ext cx="1070011" cy="1623676"/>
          </a:xfrm>
          <a:prstGeom prst="rect">
            <a:avLst/>
          </a:prstGeom>
        </p:spPr>
      </p:pic>
      <p:pic>
        <p:nvPicPr>
          <p:cNvPr id="104" name="Image 103">
            <a:extLst>
              <a:ext uri="{FF2B5EF4-FFF2-40B4-BE49-F238E27FC236}">
                <a16:creationId xmlns:a16="http://schemas.microsoft.com/office/drawing/2014/main" id="{00DCA62D-E78C-4CB9-8AE6-6D70D3625D57}"/>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6615161" y="1831542"/>
            <a:ext cx="5338388" cy="2547924"/>
          </a:xfrm>
          <a:prstGeom prst="rect">
            <a:avLst/>
          </a:prstGeom>
          <a:noFill/>
          <a:ln>
            <a:noFill/>
          </a:ln>
        </p:spPr>
      </p:pic>
      <p:sp>
        <p:nvSpPr>
          <p:cNvPr id="98" name="ZoneTexte 97">
            <a:extLst>
              <a:ext uri="{FF2B5EF4-FFF2-40B4-BE49-F238E27FC236}">
                <a16:creationId xmlns:a16="http://schemas.microsoft.com/office/drawing/2014/main" id="{2E5FE2C1-0D89-4404-A8D2-FEA165625E78}"/>
              </a:ext>
            </a:extLst>
          </p:cNvPr>
          <p:cNvSpPr txBox="1"/>
          <p:nvPr/>
        </p:nvSpPr>
        <p:spPr>
          <a:xfrm>
            <a:off x="5042988" y="2009514"/>
            <a:ext cx="1675281" cy="307777"/>
          </a:xfrm>
          <a:prstGeom prst="rect">
            <a:avLst/>
          </a:prstGeom>
          <a:noFill/>
        </p:spPr>
        <p:txBody>
          <a:bodyPr wrap="square" rtlCol="0">
            <a:spAutoFit/>
          </a:bodyPr>
          <a:lstStyle/>
          <a:p>
            <a:r>
              <a:rPr lang="fr-FR" b="1" dirty="0"/>
              <a:t>Broker MQTT</a:t>
            </a:r>
          </a:p>
        </p:txBody>
      </p:sp>
      <p:sp>
        <p:nvSpPr>
          <p:cNvPr id="100" name="Flèche : bas 99">
            <a:extLst>
              <a:ext uri="{FF2B5EF4-FFF2-40B4-BE49-F238E27FC236}">
                <a16:creationId xmlns:a16="http://schemas.microsoft.com/office/drawing/2014/main" id="{7267F3AE-4120-4312-9B6C-0BF983A4EC25}"/>
              </a:ext>
            </a:extLst>
          </p:cNvPr>
          <p:cNvSpPr/>
          <p:nvPr/>
        </p:nvSpPr>
        <p:spPr>
          <a:xfrm>
            <a:off x="5570770" y="3925497"/>
            <a:ext cx="300623" cy="685880"/>
          </a:xfrm>
          <a:prstGeom prst="downArrow">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ZoneTexte 101">
            <a:extLst>
              <a:ext uri="{FF2B5EF4-FFF2-40B4-BE49-F238E27FC236}">
                <a16:creationId xmlns:a16="http://schemas.microsoft.com/office/drawing/2014/main" id="{8FD5F7C3-443A-4BE8-B95A-DE17BA24644E}"/>
              </a:ext>
            </a:extLst>
          </p:cNvPr>
          <p:cNvSpPr txBox="1"/>
          <p:nvPr/>
        </p:nvSpPr>
        <p:spPr>
          <a:xfrm>
            <a:off x="3824812" y="4103904"/>
            <a:ext cx="1938472" cy="307777"/>
          </a:xfrm>
          <a:prstGeom prst="rect">
            <a:avLst/>
          </a:prstGeom>
          <a:noFill/>
        </p:spPr>
        <p:txBody>
          <a:bodyPr wrap="square" rtlCol="0">
            <a:spAutoFit/>
          </a:bodyPr>
          <a:lstStyle/>
          <a:p>
            <a:r>
              <a:rPr lang="fr-FR" b="1" dirty="0"/>
              <a:t>Stocker les valeurs  </a:t>
            </a:r>
          </a:p>
        </p:txBody>
      </p:sp>
      <p:pic>
        <p:nvPicPr>
          <p:cNvPr id="111" name="Image 110">
            <a:extLst>
              <a:ext uri="{FF2B5EF4-FFF2-40B4-BE49-F238E27FC236}">
                <a16:creationId xmlns:a16="http://schemas.microsoft.com/office/drawing/2014/main" id="{887618E1-8855-4A41-95D1-93DCC4B09A5F}"/>
              </a:ext>
            </a:extLst>
          </p:cNvPr>
          <p:cNvPicPr>
            <a:picLocks noChangeAspect="1"/>
          </p:cNvPicPr>
          <p:nvPr/>
        </p:nvPicPr>
        <p:blipFill>
          <a:blip r:embed="rId6"/>
          <a:stretch>
            <a:fillRect/>
          </a:stretch>
        </p:blipFill>
        <p:spPr>
          <a:xfrm>
            <a:off x="6649093" y="4755241"/>
            <a:ext cx="2901307" cy="1601109"/>
          </a:xfrm>
          <a:prstGeom prst="rect">
            <a:avLst/>
          </a:prstGeom>
        </p:spPr>
      </p:pic>
      <p:pic>
        <p:nvPicPr>
          <p:cNvPr id="119" name="Image 118">
            <a:extLst>
              <a:ext uri="{FF2B5EF4-FFF2-40B4-BE49-F238E27FC236}">
                <a16:creationId xmlns:a16="http://schemas.microsoft.com/office/drawing/2014/main" id="{394D7031-2DBD-40B4-8DD6-01264B657919}"/>
              </a:ext>
            </a:extLst>
          </p:cNvPr>
          <p:cNvPicPr>
            <a:picLocks noChangeAspect="1"/>
          </p:cNvPicPr>
          <p:nvPr/>
        </p:nvPicPr>
        <p:blipFill>
          <a:blip r:embed="rId7"/>
          <a:stretch>
            <a:fillRect/>
          </a:stretch>
        </p:blipFill>
        <p:spPr>
          <a:xfrm>
            <a:off x="4996796" y="5112478"/>
            <a:ext cx="1346921" cy="1229813"/>
          </a:xfrm>
          <a:prstGeom prst="rect">
            <a:avLst/>
          </a:prstGeom>
        </p:spPr>
      </p:pic>
      <p:sp>
        <p:nvSpPr>
          <p:cNvPr id="120" name="ZoneTexte 119">
            <a:extLst>
              <a:ext uri="{FF2B5EF4-FFF2-40B4-BE49-F238E27FC236}">
                <a16:creationId xmlns:a16="http://schemas.microsoft.com/office/drawing/2014/main" id="{F055259E-F4C8-4380-8F7A-4FE973EBA612}"/>
              </a:ext>
            </a:extLst>
          </p:cNvPr>
          <p:cNvSpPr txBox="1"/>
          <p:nvPr/>
        </p:nvSpPr>
        <p:spPr>
          <a:xfrm>
            <a:off x="4827001" y="4905380"/>
            <a:ext cx="1788160" cy="307777"/>
          </a:xfrm>
          <a:prstGeom prst="rect">
            <a:avLst/>
          </a:prstGeom>
          <a:noFill/>
        </p:spPr>
        <p:txBody>
          <a:bodyPr wrap="square" rtlCol="0">
            <a:spAutoFit/>
          </a:bodyPr>
          <a:lstStyle/>
          <a:p>
            <a:r>
              <a:rPr lang="fr-FR" b="1" dirty="0"/>
              <a:t>Base de données</a:t>
            </a:r>
          </a:p>
        </p:txBody>
      </p:sp>
      <p:sp>
        <p:nvSpPr>
          <p:cNvPr id="127" name="Rectangle à coins arrondis 45">
            <a:extLst>
              <a:ext uri="{FF2B5EF4-FFF2-40B4-BE49-F238E27FC236}">
                <a16:creationId xmlns:a16="http://schemas.microsoft.com/office/drawing/2014/main" id="{B27B973C-890C-45C8-BA51-F600F0113159}"/>
              </a:ext>
            </a:extLst>
          </p:cNvPr>
          <p:cNvSpPr/>
          <p:nvPr/>
        </p:nvSpPr>
        <p:spPr>
          <a:xfrm>
            <a:off x="6607431" y="1823981"/>
            <a:ext cx="4186867" cy="165037"/>
          </a:xfrm>
          <a:prstGeom prst="round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sp>
        <p:nvSpPr>
          <p:cNvPr id="129" name="Rectangle à coins arrondis 45">
            <a:extLst>
              <a:ext uri="{FF2B5EF4-FFF2-40B4-BE49-F238E27FC236}">
                <a16:creationId xmlns:a16="http://schemas.microsoft.com/office/drawing/2014/main" id="{59ADD0D3-A6A3-4B35-80DD-4B586CED1D86}"/>
              </a:ext>
            </a:extLst>
          </p:cNvPr>
          <p:cNvSpPr/>
          <p:nvPr/>
        </p:nvSpPr>
        <p:spPr>
          <a:xfrm>
            <a:off x="6558721" y="2173002"/>
            <a:ext cx="1565847" cy="1008515"/>
          </a:xfrm>
          <a:prstGeom prst="round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sp>
        <p:nvSpPr>
          <p:cNvPr id="130" name="Rectangle à coins arrondis 45">
            <a:extLst>
              <a:ext uri="{FF2B5EF4-FFF2-40B4-BE49-F238E27FC236}">
                <a16:creationId xmlns:a16="http://schemas.microsoft.com/office/drawing/2014/main" id="{D884ECB2-9210-44C7-95F7-B238B1298998}"/>
              </a:ext>
            </a:extLst>
          </p:cNvPr>
          <p:cNvSpPr/>
          <p:nvPr/>
        </p:nvSpPr>
        <p:spPr>
          <a:xfrm>
            <a:off x="6549370" y="3204506"/>
            <a:ext cx="4088150" cy="1163036"/>
          </a:xfrm>
          <a:prstGeom prst="round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cxnSp>
        <p:nvCxnSpPr>
          <p:cNvPr id="126" name="Connecteur droit avec flèche 125">
            <a:extLst>
              <a:ext uri="{FF2B5EF4-FFF2-40B4-BE49-F238E27FC236}">
                <a16:creationId xmlns:a16="http://schemas.microsoft.com/office/drawing/2014/main" id="{06EB8619-5A3A-40E7-B732-F0AD56EFA8DF}"/>
              </a:ext>
            </a:extLst>
          </p:cNvPr>
          <p:cNvCxnSpPr>
            <a:cxnSpLocks/>
          </p:cNvCxnSpPr>
          <p:nvPr/>
        </p:nvCxnSpPr>
        <p:spPr>
          <a:xfrm flipH="1">
            <a:off x="8124568" y="2814489"/>
            <a:ext cx="9076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0" name="ZoneTexte 139">
            <a:extLst>
              <a:ext uri="{FF2B5EF4-FFF2-40B4-BE49-F238E27FC236}">
                <a16:creationId xmlns:a16="http://schemas.microsoft.com/office/drawing/2014/main" id="{114BCF77-5993-4D8B-AEA9-B5029BAD387D}"/>
              </a:ext>
            </a:extLst>
          </p:cNvPr>
          <p:cNvSpPr txBox="1"/>
          <p:nvPr/>
        </p:nvSpPr>
        <p:spPr>
          <a:xfrm>
            <a:off x="8970389" y="2646782"/>
            <a:ext cx="2128962" cy="461665"/>
          </a:xfrm>
          <a:prstGeom prst="rect">
            <a:avLst/>
          </a:prstGeom>
          <a:noFill/>
        </p:spPr>
        <p:txBody>
          <a:bodyPr wrap="square" rtlCol="0">
            <a:spAutoFit/>
          </a:bodyPr>
          <a:lstStyle/>
          <a:p>
            <a:r>
              <a:rPr lang="fr-FR" sz="1200" dirty="0">
                <a:solidFill>
                  <a:schemeClr val="bg1"/>
                </a:solidFill>
              </a:rPr>
              <a:t>Topiques des paramètres du</a:t>
            </a:r>
          </a:p>
          <a:p>
            <a:r>
              <a:rPr lang="fr-FR" sz="1200" dirty="0">
                <a:solidFill>
                  <a:schemeClr val="bg1"/>
                </a:solidFill>
              </a:rPr>
              <a:t>pot</a:t>
            </a:r>
          </a:p>
        </p:txBody>
      </p:sp>
      <p:sp>
        <p:nvSpPr>
          <p:cNvPr id="141" name="ZoneTexte 140">
            <a:extLst>
              <a:ext uri="{FF2B5EF4-FFF2-40B4-BE49-F238E27FC236}">
                <a16:creationId xmlns:a16="http://schemas.microsoft.com/office/drawing/2014/main" id="{63074870-81F3-44EE-BE33-504C61F9F8A3}"/>
              </a:ext>
            </a:extLst>
          </p:cNvPr>
          <p:cNvSpPr txBox="1"/>
          <p:nvPr/>
        </p:nvSpPr>
        <p:spPr>
          <a:xfrm>
            <a:off x="10038095" y="2246734"/>
            <a:ext cx="2001045" cy="276999"/>
          </a:xfrm>
          <a:prstGeom prst="rect">
            <a:avLst/>
          </a:prstGeom>
          <a:noFill/>
        </p:spPr>
        <p:txBody>
          <a:bodyPr wrap="square" rtlCol="0">
            <a:spAutoFit/>
          </a:bodyPr>
          <a:lstStyle/>
          <a:p>
            <a:r>
              <a:rPr lang="fr-FR" sz="1200" dirty="0">
                <a:solidFill>
                  <a:schemeClr val="bg1"/>
                </a:solidFill>
              </a:rPr>
              <a:t>Connexion au broker</a:t>
            </a:r>
          </a:p>
        </p:txBody>
      </p:sp>
      <p:cxnSp>
        <p:nvCxnSpPr>
          <p:cNvPr id="142" name="Connecteur droit avec flèche 141">
            <a:extLst>
              <a:ext uri="{FF2B5EF4-FFF2-40B4-BE49-F238E27FC236}">
                <a16:creationId xmlns:a16="http://schemas.microsoft.com/office/drawing/2014/main" id="{24E1A879-0777-4C97-8C8D-44C41A15B315}"/>
              </a:ext>
            </a:extLst>
          </p:cNvPr>
          <p:cNvCxnSpPr>
            <a:cxnSpLocks/>
          </p:cNvCxnSpPr>
          <p:nvPr/>
        </p:nvCxnSpPr>
        <p:spPr>
          <a:xfrm flipH="1" flipV="1">
            <a:off x="9550400" y="2058279"/>
            <a:ext cx="522396" cy="2942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6" name="ZoneTexte 145">
            <a:extLst>
              <a:ext uri="{FF2B5EF4-FFF2-40B4-BE49-F238E27FC236}">
                <a16:creationId xmlns:a16="http://schemas.microsoft.com/office/drawing/2014/main" id="{4F78AC85-7061-42DB-A567-1D3B4D782C1F}"/>
              </a:ext>
            </a:extLst>
          </p:cNvPr>
          <p:cNvSpPr txBox="1"/>
          <p:nvPr/>
        </p:nvSpPr>
        <p:spPr>
          <a:xfrm>
            <a:off x="11038617" y="3419394"/>
            <a:ext cx="914932" cy="646331"/>
          </a:xfrm>
          <a:prstGeom prst="rect">
            <a:avLst/>
          </a:prstGeom>
          <a:noFill/>
        </p:spPr>
        <p:txBody>
          <a:bodyPr wrap="square" rtlCol="0">
            <a:spAutoFit/>
          </a:bodyPr>
          <a:lstStyle/>
          <a:p>
            <a:r>
              <a:rPr lang="fr-FR" sz="1200" dirty="0">
                <a:solidFill>
                  <a:schemeClr val="bg1"/>
                </a:solidFill>
              </a:rPr>
              <a:t>Valeurs envoyés par le pot</a:t>
            </a:r>
          </a:p>
        </p:txBody>
      </p:sp>
      <p:cxnSp>
        <p:nvCxnSpPr>
          <p:cNvPr id="147" name="Connecteur droit avec flèche 146">
            <a:extLst>
              <a:ext uri="{FF2B5EF4-FFF2-40B4-BE49-F238E27FC236}">
                <a16:creationId xmlns:a16="http://schemas.microsoft.com/office/drawing/2014/main" id="{6F7A488B-A182-4491-AD6E-365656BC810E}"/>
              </a:ext>
            </a:extLst>
          </p:cNvPr>
          <p:cNvCxnSpPr>
            <a:cxnSpLocks/>
          </p:cNvCxnSpPr>
          <p:nvPr/>
        </p:nvCxnSpPr>
        <p:spPr>
          <a:xfrm flipH="1">
            <a:off x="10637520" y="3652897"/>
            <a:ext cx="4538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9" name="Rectangle à coins arrondis 45">
            <a:extLst>
              <a:ext uri="{FF2B5EF4-FFF2-40B4-BE49-F238E27FC236}">
                <a16:creationId xmlns:a16="http://schemas.microsoft.com/office/drawing/2014/main" id="{F1242BF4-7ADB-4EEF-AE52-7603A129AD76}"/>
              </a:ext>
            </a:extLst>
          </p:cNvPr>
          <p:cNvSpPr/>
          <p:nvPr/>
        </p:nvSpPr>
        <p:spPr>
          <a:xfrm>
            <a:off x="6920537" y="4762423"/>
            <a:ext cx="2049852" cy="1601109"/>
          </a:xfrm>
          <a:prstGeom prst="round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cxnSp>
        <p:nvCxnSpPr>
          <p:cNvPr id="150" name="Connecteur droit avec flèche 149">
            <a:extLst>
              <a:ext uri="{FF2B5EF4-FFF2-40B4-BE49-F238E27FC236}">
                <a16:creationId xmlns:a16="http://schemas.microsoft.com/office/drawing/2014/main" id="{02F4E0FB-E1C9-4C1A-9147-116A73B1BE11}"/>
              </a:ext>
            </a:extLst>
          </p:cNvPr>
          <p:cNvCxnSpPr>
            <a:cxnSpLocks/>
            <a:stCxn id="151" idx="1"/>
          </p:cNvCxnSpPr>
          <p:nvPr/>
        </p:nvCxnSpPr>
        <p:spPr>
          <a:xfrm flipH="1">
            <a:off x="8970390" y="5492479"/>
            <a:ext cx="677978" cy="347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1" name="ZoneTexte 150">
            <a:extLst>
              <a:ext uri="{FF2B5EF4-FFF2-40B4-BE49-F238E27FC236}">
                <a16:creationId xmlns:a16="http://schemas.microsoft.com/office/drawing/2014/main" id="{0BFF0A34-1385-46BA-B029-9552D9388A7E}"/>
              </a:ext>
            </a:extLst>
          </p:cNvPr>
          <p:cNvSpPr txBox="1"/>
          <p:nvPr/>
        </p:nvSpPr>
        <p:spPr>
          <a:xfrm>
            <a:off x="9648368" y="5112478"/>
            <a:ext cx="2305182" cy="646331"/>
          </a:xfrm>
          <a:prstGeom prst="rect">
            <a:avLst/>
          </a:prstGeom>
          <a:noFill/>
        </p:spPr>
        <p:txBody>
          <a:bodyPr wrap="square" rtlCol="0">
            <a:spAutoFit/>
          </a:bodyPr>
          <a:lstStyle/>
          <a:p>
            <a:r>
              <a:rPr lang="fr-FR" sz="1200" dirty="0"/>
              <a:t>Collection « Historiques Mesures » de la base de données</a:t>
            </a:r>
          </a:p>
        </p:txBody>
      </p:sp>
      <p:sp>
        <p:nvSpPr>
          <p:cNvPr id="49" name="Espace réservé du numéro de diapositive 1">
            <a:extLst>
              <a:ext uri="{FF2B5EF4-FFF2-40B4-BE49-F238E27FC236}">
                <a16:creationId xmlns:a16="http://schemas.microsoft.com/office/drawing/2014/main" id="{D0198F9A-9DCE-422E-B309-A359A0A5DD3D}"/>
              </a:ext>
            </a:extLst>
          </p:cNvPr>
          <p:cNvSpPr>
            <a:spLocks noGrp="1"/>
          </p:cNvSpPr>
          <p:nvPr>
            <p:ph type="sldNum" idx="12"/>
          </p:nvPr>
        </p:nvSpPr>
        <p:spPr>
          <a:xfrm>
            <a:off x="11633200" y="6336030"/>
            <a:ext cx="401320" cy="365125"/>
          </a:xfrm>
        </p:spPr>
        <p:txBody>
          <a:bodyPr/>
          <a:lstStyle/>
          <a:p>
            <a:pPr marL="0" lvl="0" indent="0" algn="r" rtl="0">
              <a:spcBef>
                <a:spcPts val="0"/>
              </a:spcBef>
              <a:spcAft>
                <a:spcPts val="0"/>
              </a:spcAft>
              <a:buNone/>
            </a:pPr>
            <a:r>
              <a:rPr lang="fr-FR" dirty="0"/>
              <a:t>24</a:t>
            </a:r>
          </a:p>
        </p:txBody>
      </p:sp>
    </p:spTree>
    <p:extLst>
      <p:ext uri="{BB962C8B-B14F-4D97-AF65-F5344CB8AC3E}">
        <p14:creationId xmlns:p14="http://schemas.microsoft.com/office/powerpoint/2010/main" val="579995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500"/>
                                        <p:tgtEl>
                                          <p:spTgt spid="5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2"/>
                                        </p:tgtEl>
                                        <p:attrNameLst>
                                          <p:attrName>style.visibility</p:attrName>
                                        </p:attrNameLst>
                                      </p:cBhvr>
                                      <p:to>
                                        <p:strVal val="visible"/>
                                      </p:to>
                                    </p:set>
                                    <p:animEffect transition="in" filter="fade">
                                      <p:cBhvr>
                                        <p:cTn id="10" dur="500"/>
                                        <p:tgtEl>
                                          <p:spTgt spid="6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4"/>
                                        </p:tgtEl>
                                        <p:attrNameLst>
                                          <p:attrName>style.visibility</p:attrName>
                                        </p:attrNameLst>
                                      </p:cBhvr>
                                      <p:to>
                                        <p:strVal val="visible"/>
                                      </p:to>
                                    </p:set>
                                    <p:animEffect transition="in" filter="fade">
                                      <p:cBhvr>
                                        <p:cTn id="15" dur="500"/>
                                        <p:tgtEl>
                                          <p:spTgt spid="6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2"/>
                                        </p:tgtEl>
                                        <p:attrNameLst>
                                          <p:attrName>style.visibility</p:attrName>
                                        </p:attrNameLst>
                                      </p:cBhvr>
                                      <p:to>
                                        <p:strVal val="visible"/>
                                      </p:to>
                                    </p:set>
                                    <p:animEffect transition="in" filter="fade">
                                      <p:cBhvr>
                                        <p:cTn id="18" dur="500"/>
                                        <p:tgtEl>
                                          <p:spTgt spid="8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2"/>
                                        </p:tgtEl>
                                        <p:attrNameLst>
                                          <p:attrName>style.visibility</p:attrName>
                                        </p:attrNameLst>
                                      </p:cBhvr>
                                      <p:to>
                                        <p:strVal val="visible"/>
                                      </p:to>
                                    </p:set>
                                    <p:animEffect transition="in" filter="fade">
                                      <p:cBhvr>
                                        <p:cTn id="23" dur="500"/>
                                        <p:tgtEl>
                                          <p:spTgt spid="7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9"/>
                                        </p:tgtEl>
                                        <p:attrNameLst>
                                          <p:attrName>style.visibility</p:attrName>
                                        </p:attrNameLst>
                                      </p:cBhvr>
                                      <p:to>
                                        <p:strVal val="visible"/>
                                      </p:to>
                                    </p:set>
                                    <p:animEffect transition="in" filter="fade">
                                      <p:cBhvr>
                                        <p:cTn id="26" dur="500"/>
                                        <p:tgtEl>
                                          <p:spTgt spid="8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83"/>
                                        </p:tgtEl>
                                        <p:attrNameLst>
                                          <p:attrName>style.visibility</p:attrName>
                                        </p:attrNameLst>
                                      </p:cBhvr>
                                      <p:to>
                                        <p:strVal val="visible"/>
                                      </p:to>
                                    </p:set>
                                    <p:animEffect transition="in" filter="fade">
                                      <p:cBhvr>
                                        <p:cTn id="31" dur="500"/>
                                        <p:tgtEl>
                                          <p:spTgt spid="8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0"/>
                                        </p:tgtEl>
                                        <p:attrNameLst>
                                          <p:attrName>style.visibility</p:attrName>
                                        </p:attrNameLst>
                                      </p:cBhvr>
                                      <p:to>
                                        <p:strVal val="visible"/>
                                      </p:to>
                                    </p:set>
                                    <p:animEffect transition="in" filter="fade">
                                      <p:cBhvr>
                                        <p:cTn id="34" dur="500"/>
                                        <p:tgtEl>
                                          <p:spTgt spid="9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94"/>
                                        </p:tgtEl>
                                        <p:attrNameLst>
                                          <p:attrName>style.visibility</p:attrName>
                                        </p:attrNameLst>
                                      </p:cBhvr>
                                      <p:to>
                                        <p:strVal val="visible"/>
                                      </p:to>
                                    </p:set>
                                    <p:animEffect transition="in" filter="fade">
                                      <p:cBhvr>
                                        <p:cTn id="39" dur="500"/>
                                        <p:tgtEl>
                                          <p:spTgt spid="9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95"/>
                                        </p:tgtEl>
                                        <p:attrNameLst>
                                          <p:attrName>style.visibility</p:attrName>
                                        </p:attrNameLst>
                                      </p:cBhvr>
                                      <p:to>
                                        <p:strVal val="visible"/>
                                      </p:to>
                                    </p:set>
                                    <p:animEffect transition="in" filter="fade">
                                      <p:cBhvr>
                                        <p:cTn id="42" dur="500"/>
                                        <p:tgtEl>
                                          <p:spTgt spid="9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7"/>
                                        </p:tgtEl>
                                        <p:attrNameLst>
                                          <p:attrName>style.visibility</p:attrName>
                                        </p:attrNameLst>
                                      </p:cBhvr>
                                      <p:to>
                                        <p:strVal val="visible"/>
                                      </p:to>
                                    </p:set>
                                    <p:animEffect transition="in" filter="fade">
                                      <p:cBhvr>
                                        <p:cTn id="47" dur="500"/>
                                        <p:tgtEl>
                                          <p:spTgt spid="9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98"/>
                                        </p:tgtEl>
                                        <p:attrNameLst>
                                          <p:attrName>style.visibility</p:attrName>
                                        </p:attrNameLst>
                                      </p:cBhvr>
                                      <p:to>
                                        <p:strVal val="visible"/>
                                      </p:to>
                                    </p:set>
                                    <p:animEffect transition="in" filter="fade">
                                      <p:cBhvr>
                                        <p:cTn id="50" dur="500"/>
                                        <p:tgtEl>
                                          <p:spTgt spid="98"/>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104"/>
                                        </p:tgtEl>
                                        <p:attrNameLst>
                                          <p:attrName>style.visibility</p:attrName>
                                        </p:attrNameLst>
                                      </p:cBhvr>
                                      <p:to>
                                        <p:strVal val="visible"/>
                                      </p:to>
                                    </p:set>
                                    <p:anim calcmode="lin" valueType="num">
                                      <p:cBhvr additive="base">
                                        <p:cTn id="55" dur="500" fill="hold"/>
                                        <p:tgtEl>
                                          <p:spTgt spid="104"/>
                                        </p:tgtEl>
                                        <p:attrNameLst>
                                          <p:attrName>ppt_x</p:attrName>
                                        </p:attrNameLst>
                                      </p:cBhvr>
                                      <p:tavLst>
                                        <p:tav tm="0">
                                          <p:val>
                                            <p:strVal val="1+#ppt_w/2"/>
                                          </p:val>
                                        </p:tav>
                                        <p:tav tm="100000">
                                          <p:val>
                                            <p:strVal val="#ppt_x"/>
                                          </p:val>
                                        </p:tav>
                                      </p:tavLst>
                                    </p:anim>
                                    <p:anim calcmode="lin" valueType="num">
                                      <p:cBhvr additive="base">
                                        <p:cTn id="56" dur="500" fill="hold"/>
                                        <p:tgtEl>
                                          <p:spTgt spid="104"/>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27"/>
                                        </p:tgtEl>
                                        <p:attrNameLst>
                                          <p:attrName>style.visibility</p:attrName>
                                        </p:attrNameLst>
                                      </p:cBhvr>
                                      <p:to>
                                        <p:strVal val="visible"/>
                                      </p:to>
                                    </p:set>
                                    <p:animEffect transition="in" filter="fade">
                                      <p:cBhvr>
                                        <p:cTn id="61" dur="500"/>
                                        <p:tgtEl>
                                          <p:spTgt spid="127"/>
                                        </p:tgtEl>
                                      </p:cBhvr>
                                    </p:animEffect>
                                  </p:childTnLst>
                                </p:cTn>
                              </p:par>
                              <p:par>
                                <p:cTn id="62" presetID="10" presetClass="entr" presetSubtype="0" fill="hold" nodeType="withEffect">
                                  <p:stCondLst>
                                    <p:cond delay="0"/>
                                  </p:stCondLst>
                                  <p:childTnLst>
                                    <p:set>
                                      <p:cBhvr>
                                        <p:cTn id="63" dur="1" fill="hold">
                                          <p:stCondLst>
                                            <p:cond delay="0"/>
                                          </p:stCondLst>
                                        </p:cTn>
                                        <p:tgtEl>
                                          <p:spTgt spid="142"/>
                                        </p:tgtEl>
                                        <p:attrNameLst>
                                          <p:attrName>style.visibility</p:attrName>
                                        </p:attrNameLst>
                                      </p:cBhvr>
                                      <p:to>
                                        <p:strVal val="visible"/>
                                      </p:to>
                                    </p:set>
                                    <p:animEffect transition="in" filter="fade">
                                      <p:cBhvr>
                                        <p:cTn id="64" dur="500"/>
                                        <p:tgtEl>
                                          <p:spTgt spid="14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41"/>
                                        </p:tgtEl>
                                        <p:attrNameLst>
                                          <p:attrName>style.visibility</p:attrName>
                                        </p:attrNameLst>
                                      </p:cBhvr>
                                      <p:to>
                                        <p:strVal val="visible"/>
                                      </p:to>
                                    </p:set>
                                    <p:animEffect transition="in" filter="fade">
                                      <p:cBhvr>
                                        <p:cTn id="67" dur="500"/>
                                        <p:tgtEl>
                                          <p:spTgt spid="141"/>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29"/>
                                        </p:tgtEl>
                                        <p:attrNameLst>
                                          <p:attrName>style.visibility</p:attrName>
                                        </p:attrNameLst>
                                      </p:cBhvr>
                                      <p:to>
                                        <p:strVal val="visible"/>
                                      </p:to>
                                    </p:set>
                                    <p:animEffect transition="in" filter="fade">
                                      <p:cBhvr>
                                        <p:cTn id="72" dur="500"/>
                                        <p:tgtEl>
                                          <p:spTgt spid="129"/>
                                        </p:tgtEl>
                                      </p:cBhvr>
                                    </p:animEffect>
                                  </p:childTnLst>
                                </p:cTn>
                              </p:par>
                              <p:par>
                                <p:cTn id="73" presetID="10" presetClass="entr" presetSubtype="0" fill="hold" nodeType="withEffect">
                                  <p:stCondLst>
                                    <p:cond delay="0"/>
                                  </p:stCondLst>
                                  <p:childTnLst>
                                    <p:set>
                                      <p:cBhvr>
                                        <p:cTn id="74" dur="1" fill="hold">
                                          <p:stCondLst>
                                            <p:cond delay="0"/>
                                          </p:stCondLst>
                                        </p:cTn>
                                        <p:tgtEl>
                                          <p:spTgt spid="126"/>
                                        </p:tgtEl>
                                        <p:attrNameLst>
                                          <p:attrName>style.visibility</p:attrName>
                                        </p:attrNameLst>
                                      </p:cBhvr>
                                      <p:to>
                                        <p:strVal val="visible"/>
                                      </p:to>
                                    </p:set>
                                    <p:animEffect transition="in" filter="fade">
                                      <p:cBhvr>
                                        <p:cTn id="75" dur="500"/>
                                        <p:tgtEl>
                                          <p:spTgt spid="1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40"/>
                                        </p:tgtEl>
                                        <p:attrNameLst>
                                          <p:attrName>style.visibility</p:attrName>
                                        </p:attrNameLst>
                                      </p:cBhvr>
                                      <p:to>
                                        <p:strVal val="visible"/>
                                      </p:to>
                                    </p:set>
                                    <p:animEffect transition="in" filter="fade">
                                      <p:cBhvr>
                                        <p:cTn id="78" dur="500"/>
                                        <p:tgtEl>
                                          <p:spTgt spid="140"/>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130"/>
                                        </p:tgtEl>
                                        <p:attrNameLst>
                                          <p:attrName>style.visibility</p:attrName>
                                        </p:attrNameLst>
                                      </p:cBhvr>
                                      <p:to>
                                        <p:strVal val="visible"/>
                                      </p:to>
                                    </p:set>
                                    <p:animEffect transition="in" filter="fade">
                                      <p:cBhvr>
                                        <p:cTn id="83" dur="500"/>
                                        <p:tgtEl>
                                          <p:spTgt spid="130"/>
                                        </p:tgtEl>
                                      </p:cBhvr>
                                    </p:animEffect>
                                  </p:childTnLst>
                                </p:cTn>
                              </p:par>
                              <p:par>
                                <p:cTn id="84" presetID="10" presetClass="entr" presetSubtype="0" fill="hold" nodeType="withEffect">
                                  <p:stCondLst>
                                    <p:cond delay="0"/>
                                  </p:stCondLst>
                                  <p:childTnLst>
                                    <p:set>
                                      <p:cBhvr>
                                        <p:cTn id="85" dur="1" fill="hold">
                                          <p:stCondLst>
                                            <p:cond delay="0"/>
                                          </p:stCondLst>
                                        </p:cTn>
                                        <p:tgtEl>
                                          <p:spTgt spid="147"/>
                                        </p:tgtEl>
                                        <p:attrNameLst>
                                          <p:attrName>style.visibility</p:attrName>
                                        </p:attrNameLst>
                                      </p:cBhvr>
                                      <p:to>
                                        <p:strVal val="visible"/>
                                      </p:to>
                                    </p:set>
                                    <p:animEffect transition="in" filter="fade">
                                      <p:cBhvr>
                                        <p:cTn id="86" dur="500"/>
                                        <p:tgtEl>
                                          <p:spTgt spid="14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146"/>
                                        </p:tgtEl>
                                        <p:attrNameLst>
                                          <p:attrName>style.visibility</p:attrName>
                                        </p:attrNameLst>
                                      </p:cBhvr>
                                      <p:to>
                                        <p:strVal val="visible"/>
                                      </p:to>
                                    </p:set>
                                    <p:animEffect transition="in" filter="fade">
                                      <p:cBhvr>
                                        <p:cTn id="89" dur="500"/>
                                        <p:tgtEl>
                                          <p:spTgt spid="146"/>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100"/>
                                        </p:tgtEl>
                                        <p:attrNameLst>
                                          <p:attrName>style.visibility</p:attrName>
                                        </p:attrNameLst>
                                      </p:cBhvr>
                                      <p:to>
                                        <p:strVal val="visible"/>
                                      </p:to>
                                    </p:set>
                                    <p:animEffect transition="in" filter="fade">
                                      <p:cBhvr>
                                        <p:cTn id="94" dur="500"/>
                                        <p:tgtEl>
                                          <p:spTgt spid="10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02"/>
                                        </p:tgtEl>
                                        <p:attrNameLst>
                                          <p:attrName>style.visibility</p:attrName>
                                        </p:attrNameLst>
                                      </p:cBhvr>
                                      <p:to>
                                        <p:strVal val="visible"/>
                                      </p:to>
                                    </p:set>
                                    <p:animEffect transition="in" filter="fade">
                                      <p:cBhvr>
                                        <p:cTn id="97" dur="500"/>
                                        <p:tgtEl>
                                          <p:spTgt spid="102"/>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119"/>
                                        </p:tgtEl>
                                        <p:attrNameLst>
                                          <p:attrName>style.visibility</p:attrName>
                                        </p:attrNameLst>
                                      </p:cBhvr>
                                      <p:to>
                                        <p:strVal val="visible"/>
                                      </p:to>
                                    </p:set>
                                    <p:animEffect transition="in" filter="fade">
                                      <p:cBhvr>
                                        <p:cTn id="102" dur="500"/>
                                        <p:tgtEl>
                                          <p:spTgt spid="119"/>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120"/>
                                        </p:tgtEl>
                                        <p:attrNameLst>
                                          <p:attrName>style.visibility</p:attrName>
                                        </p:attrNameLst>
                                      </p:cBhvr>
                                      <p:to>
                                        <p:strVal val="visible"/>
                                      </p:to>
                                    </p:set>
                                    <p:animEffect transition="in" filter="fade">
                                      <p:cBhvr>
                                        <p:cTn id="105" dur="500"/>
                                        <p:tgtEl>
                                          <p:spTgt spid="120"/>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nodeType="clickEffect">
                                  <p:stCondLst>
                                    <p:cond delay="0"/>
                                  </p:stCondLst>
                                  <p:childTnLst>
                                    <p:set>
                                      <p:cBhvr>
                                        <p:cTn id="109" dur="1" fill="hold">
                                          <p:stCondLst>
                                            <p:cond delay="0"/>
                                          </p:stCondLst>
                                        </p:cTn>
                                        <p:tgtEl>
                                          <p:spTgt spid="111"/>
                                        </p:tgtEl>
                                        <p:attrNameLst>
                                          <p:attrName>style.visibility</p:attrName>
                                        </p:attrNameLst>
                                      </p:cBhvr>
                                      <p:to>
                                        <p:strVal val="visible"/>
                                      </p:to>
                                    </p:set>
                                    <p:animEffect transition="in" filter="fade">
                                      <p:cBhvr>
                                        <p:cTn id="110" dur="500"/>
                                        <p:tgtEl>
                                          <p:spTgt spid="111"/>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149"/>
                                        </p:tgtEl>
                                        <p:attrNameLst>
                                          <p:attrName>style.visibility</p:attrName>
                                        </p:attrNameLst>
                                      </p:cBhvr>
                                      <p:to>
                                        <p:strVal val="visible"/>
                                      </p:to>
                                    </p:set>
                                    <p:animEffect transition="in" filter="fade">
                                      <p:cBhvr>
                                        <p:cTn id="115" dur="500"/>
                                        <p:tgtEl>
                                          <p:spTgt spid="149"/>
                                        </p:tgtEl>
                                      </p:cBhvr>
                                    </p:animEffect>
                                  </p:childTnLst>
                                </p:cTn>
                              </p:par>
                              <p:par>
                                <p:cTn id="116" presetID="10" presetClass="entr" presetSubtype="0" fill="hold" nodeType="withEffect">
                                  <p:stCondLst>
                                    <p:cond delay="0"/>
                                  </p:stCondLst>
                                  <p:childTnLst>
                                    <p:set>
                                      <p:cBhvr>
                                        <p:cTn id="117" dur="1" fill="hold">
                                          <p:stCondLst>
                                            <p:cond delay="0"/>
                                          </p:stCondLst>
                                        </p:cTn>
                                        <p:tgtEl>
                                          <p:spTgt spid="150"/>
                                        </p:tgtEl>
                                        <p:attrNameLst>
                                          <p:attrName>style.visibility</p:attrName>
                                        </p:attrNameLst>
                                      </p:cBhvr>
                                      <p:to>
                                        <p:strVal val="visible"/>
                                      </p:to>
                                    </p:set>
                                    <p:animEffect transition="in" filter="fade">
                                      <p:cBhvr>
                                        <p:cTn id="118" dur="500"/>
                                        <p:tgtEl>
                                          <p:spTgt spid="150"/>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151"/>
                                        </p:tgtEl>
                                        <p:attrNameLst>
                                          <p:attrName>style.visibility</p:attrName>
                                        </p:attrNameLst>
                                      </p:cBhvr>
                                      <p:to>
                                        <p:strVal val="visible"/>
                                      </p:to>
                                    </p:set>
                                    <p:animEffect transition="in" filter="fade">
                                      <p:cBhvr>
                                        <p:cTn id="121" dur="500"/>
                                        <p:tgtEl>
                                          <p:spTgt spid="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82" grpId="0"/>
      <p:bldP spid="89" grpId="0"/>
      <p:bldP spid="90" grpId="0"/>
      <p:bldP spid="94" grpId="0" animBg="1"/>
      <p:bldP spid="95" grpId="0"/>
      <p:bldP spid="98" grpId="0"/>
      <p:bldP spid="100" grpId="0" animBg="1"/>
      <p:bldP spid="102" grpId="0"/>
      <p:bldP spid="120" grpId="0"/>
      <p:bldP spid="127" grpId="0" animBg="1"/>
      <p:bldP spid="129" grpId="0" animBg="1"/>
      <p:bldP spid="130" grpId="0" animBg="1"/>
      <p:bldP spid="140" grpId="0"/>
      <p:bldP spid="141" grpId="0"/>
      <p:bldP spid="146" grpId="0"/>
      <p:bldP spid="149" grpId="0" animBg="1"/>
      <p:bldP spid="15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Google Shape;248;p19"/>
          <p:cNvGrpSpPr/>
          <p:nvPr/>
        </p:nvGrpSpPr>
        <p:grpSpPr>
          <a:xfrm>
            <a:off x="68379" y="217833"/>
            <a:ext cx="10365904" cy="650938"/>
            <a:chOff x="-43152" y="-19950"/>
            <a:chExt cx="10076703" cy="650938"/>
          </a:xfrm>
        </p:grpSpPr>
        <p:sp>
          <p:nvSpPr>
            <p:cNvPr id="71" name="Google Shape;250;p19"/>
            <p:cNvSpPr txBox="1"/>
            <p:nvPr/>
          </p:nvSpPr>
          <p:spPr>
            <a:xfrm>
              <a:off x="-43152" y="6652"/>
              <a:ext cx="2167800" cy="584700"/>
            </a:xfrm>
            <a:prstGeom prst="rect">
              <a:avLst/>
            </a:prstGeom>
            <a:solidFill>
              <a:schemeClr val="accent3"/>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72" name="Google Shape;251;p19"/>
            <p:cNvSpPr/>
            <p:nvPr/>
          </p:nvSpPr>
          <p:spPr>
            <a:xfrm>
              <a:off x="1778963" y="0"/>
              <a:ext cx="2638200" cy="584700"/>
            </a:xfrm>
            <a:prstGeom prst="chevron">
              <a:avLst>
                <a:gd name="adj" fmla="val 50000"/>
              </a:avLst>
            </a:prstGeom>
            <a:solidFill>
              <a:schemeClr val="accent3"/>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73" name="Google Shape;252;p19"/>
            <p:cNvSpPr txBox="1"/>
            <p:nvPr/>
          </p:nvSpPr>
          <p:spPr>
            <a:xfrm>
              <a:off x="2071350" y="0"/>
              <a:ext cx="2053500" cy="584700"/>
            </a:xfrm>
            <a:prstGeom prst="rect">
              <a:avLst/>
            </a:prstGeom>
            <a:solidFill>
              <a:schemeClr val="accent3"/>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74" name="Google Shape;253;p19"/>
            <p:cNvSpPr/>
            <p:nvPr/>
          </p:nvSpPr>
          <p:spPr>
            <a:xfrm>
              <a:off x="4023490" y="0"/>
              <a:ext cx="1968000" cy="584700"/>
            </a:xfrm>
            <a:prstGeom prst="chevron">
              <a:avLst>
                <a:gd name="adj" fmla="val 50000"/>
              </a:avLst>
            </a:prstGeom>
            <a:solidFill>
              <a:schemeClr val="accent3"/>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75" name="Google Shape;254;p19"/>
            <p:cNvSpPr txBox="1"/>
            <p:nvPr/>
          </p:nvSpPr>
          <p:spPr>
            <a:xfrm>
              <a:off x="4261955" y="0"/>
              <a:ext cx="1437300" cy="584700"/>
            </a:xfrm>
            <a:prstGeom prst="rect">
              <a:avLst/>
            </a:prstGeom>
            <a:solidFill>
              <a:schemeClr val="accent3"/>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76" name="Google Shape;255;p19"/>
            <p:cNvSpPr/>
            <p:nvPr/>
          </p:nvSpPr>
          <p:spPr>
            <a:xfrm>
              <a:off x="5597962" y="0"/>
              <a:ext cx="24675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77" name="Google Shape;256;p19"/>
            <p:cNvSpPr txBox="1"/>
            <p:nvPr/>
          </p:nvSpPr>
          <p:spPr>
            <a:xfrm>
              <a:off x="5872496" y="-19950"/>
              <a:ext cx="18417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78"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79"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5</a:t>
              </a:r>
              <a:r>
                <a:rPr lang="fr-FR" sz="1700" b="1" i="0" u="none" strike="noStrike" cap="none" dirty="0">
                  <a:solidFill>
                    <a:schemeClr val="lt1"/>
                  </a:solidFill>
                </a:rPr>
                <a:t>.Conclusion et Perspectives</a:t>
              </a:r>
              <a:endParaRPr sz="1400" b="1" i="0" u="none" strike="noStrike" cap="none" dirty="0">
                <a:solidFill>
                  <a:schemeClr val="lt1"/>
                </a:solidFill>
              </a:endParaRPr>
            </a:p>
          </p:txBody>
        </p:sp>
      </p:grpSp>
      <p:sp>
        <p:nvSpPr>
          <p:cNvPr id="80" name="object 5"/>
          <p:cNvSpPr/>
          <p:nvPr/>
        </p:nvSpPr>
        <p:spPr>
          <a:xfrm>
            <a:off x="68379"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2" name="ZoneTexte 1">
            <a:extLst>
              <a:ext uri="{FF2B5EF4-FFF2-40B4-BE49-F238E27FC236}">
                <a16:creationId xmlns:a16="http://schemas.microsoft.com/office/drawing/2014/main" id="{C82FAA36-0076-4F96-83DE-11A538E97936}"/>
              </a:ext>
            </a:extLst>
          </p:cNvPr>
          <p:cNvSpPr txBox="1"/>
          <p:nvPr/>
        </p:nvSpPr>
        <p:spPr>
          <a:xfrm>
            <a:off x="505335" y="1178560"/>
            <a:ext cx="5770880" cy="400110"/>
          </a:xfrm>
          <a:prstGeom prst="rect">
            <a:avLst/>
          </a:prstGeom>
          <a:noFill/>
        </p:spPr>
        <p:txBody>
          <a:bodyPr wrap="square" rtlCol="0">
            <a:spAutoFit/>
          </a:bodyPr>
          <a:lstStyle/>
          <a:p>
            <a:r>
              <a:rPr lang="fr-FR" sz="2000" b="1" dirty="0">
                <a:solidFill>
                  <a:schemeClr val="accent6">
                    <a:lumMod val="60000"/>
                    <a:lumOff val="40000"/>
                  </a:schemeClr>
                </a:solidFill>
              </a:rPr>
              <a:t>Prédiction des paramètres environnementaux</a:t>
            </a:r>
          </a:p>
        </p:txBody>
      </p:sp>
      <p:sp>
        <p:nvSpPr>
          <p:cNvPr id="11" name="Flèche : droite 10">
            <a:extLst>
              <a:ext uri="{FF2B5EF4-FFF2-40B4-BE49-F238E27FC236}">
                <a16:creationId xmlns:a16="http://schemas.microsoft.com/office/drawing/2014/main" id="{26E0FF01-E6AE-4BCF-8234-77CB67287F57}"/>
              </a:ext>
            </a:extLst>
          </p:cNvPr>
          <p:cNvSpPr/>
          <p:nvPr/>
        </p:nvSpPr>
        <p:spPr>
          <a:xfrm>
            <a:off x="4656706" y="3113306"/>
            <a:ext cx="1036524" cy="315694"/>
          </a:xfrm>
          <a:prstGeom prst="rightArrow">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8EB80EC5-C965-4EBB-8A19-75E9A0F53263}"/>
              </a:ext>
            </a:extLst>
          </p:cNvPr>
          <p:cNvSpPr txBox="1"/>
          <p:nvPr/>
        </p:nvSpPr>
        <p:spPr>
          <a:xfrm>
            <a:off x="532352" y="1856668"/>
            <a:ext cx="4470823" cy="307777"/>
          </a:xfrm>
          <a:prstGeom prst="rect">
            <a:avLst/>
          </a:prstGeom>
          <a:noFill/>
        </p:spPr>
        <p:txBody>
          <a:bodyPr wrap="square" rtlCol="0">
            <a:spAutoFit/>
          </a:bodyPr>
          <a:lstStyle/>
          <a:p>
            <a:r>
              <a:rPr lang="fr-FR" b="1" dirty="0"/>
              <a:t>Récupération des données enregistrés dans la BD</a:t>
            </a:r>
          </a:p>
        </p:txBody>
      </p:sp>
      <p:pic>
        <p:nvPicPr>
          <p:cNvPr id="48" name="Image 47">
            <a:extLst>
              <a:ext uri="{FF2B5EF4-FFF2-40B4-BE49-F238E27FC236}">
                <a16:creationId xmlns:a16="http://schemas.microsoft.com/office/drawing/2014/main" id="{41371E4E-A079-4950-8826-4AC7B0F4C8A5}"/>
              </a:ext>
            </a:extLst>
          </p:cNvPr>
          <p:cNvPicPr/>
          <p:nvPr/>
        </p:nvPicPr>
        <p:blipFill>
          <a:blip r:embed="rId3"/>
          <a:stretch>
            <a:fillRect/>
          </a:stretch>
        </p:blipFill>
        <p:spPr>
          <a:xfrm>
            <a:off x="929076" y="2330970"/>
            <a:ext cx="3677376" cy="2217492"/>
          </a:xfrm>
          <a:prstGeom prst="rect">
            <a:avLst/>
          </a:prstGeom>
        </p:spPr>
      </p:pic>
      <p:pic>
        <p:nvPicPr>
          <p:cNvPr id="53" name="Image 52">
            <a:extLst>
              <a:ext uri="{FF2B5EF4-FFF2-40B4-BE49-F238E27FC236}">
                <a16:creationId xmlns:a16="http://schemas.microsoft.com/office/drawing/2014/main" id="{D5EE80B7-BA35-4767-95CC-50D436F8EF23}"/>
              </a:ext>
            </a:extLst>
          </p:cNvPr>
          <p:cNvPicPr/>
          <p:nvPr/>
        </p:nvPicPr>
        <p:blipFill>
          <a:blip r:embed="rId4"/>
          <a:stretch>
            <a:fillRect/>
          </a:stretch>
        </p:blipFill>
        <p:spPr>
          <a:xfrm>
            <a:off x="5813619" y="2068914"/>
            <a:ext cx="3935780" cy="2394542"/>
          </a:xfrm>
          <a:prstGeom prst="rect">
            <a:avLst/>
          </a:prstGeom>
        </p:spPr>
      </p:pic>
      <p:sp>
        <p:nvSpPr>
          <p:cNvPr id="58" name="ZoneTexte 57">
            <a:extLst>
              <a:ext uri="{FF2B5EF4-FFF2-40B4-BE49-F238E27FC236}">
                <a16:creationId xmlns:a16="http://schemas.microsoft.com/office/drawing/2014/main" id="{44255A31-895A-4889-8E5E-43FD7C4B6F4D}"/>
              </a:ext>
            </a:extLst>
          </p:cNvPr>
          <p:cNvSpPr txBox="1"/>
          <p:nvPr/>
        </p:nvSpPr>
        <p:spPr>
          <a:xfrm>
            <a:off x="6364329" y="1725929"/>
            <a:ext cx="3935779" cy="307777"/>
          </a:xfrm>
          <a:prstGeom prst="rect">
            <a:avLst/>
          </a:prstGeom>
          <a:noFill/>
        </p:spPr>
        <p:txBody>
          <a:bodyPr wrap="square" rtlCol="0">
            <a:spAutoFit/>
          </a:bodyPr>
          <a:lstStyle/>
          <a:p>
            <a:r>
              <a:rPr lang="fr-FR" b="1" dirty="0"/>
              <a:t>Création du modèle LSTM </a:t>
            </a:r>
          </a:p>
        </p:txBody>
      </p:sp>
      <p:sp>
        <p:nvSpPr>
          <p:cNvPr id="59" name="Rectangle à coins arrondis 45">
            <a:extLst>
              <a:ext uri="{FF2B5EF4-FFF2-40B4-BE49-F238E27FC236}">
                <a16:creationId xmlns:a16="http://schemas.microsoft.com/office/drawing/2014/main" id="{76202910-FADC-43E0-A728-42CA916E37B2}"/>
              </a:ext>
            </a:extLst>
          </p:cNvPr>
          <p:cNvSpPr/>
          <p:nvPr/>
        </p:nvSpPr>
        <p:spPr>
          <a:xfrm>
            <a:off x="5813619" y="2293008"/>
            <a:ext cx="2277240" cy="1391920"/>
          </a:xfrm>
          <a:prstGeom prst="round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cxnSp>
        <p:nvCxnSpPr>
          <p:cNvPr id="60" name="Connecteur droit avec flèche 59">
            <a:extLst>
              <a:ext uri="{FF2B5EF4-FFF2-40B4-BE49-F238E27FC236}">
                <a16:creationId xmlns:a16="http://schemas.microsoft.com/office/drawing/2014/main" id="{12EA3243-33D1-400F-A9C2-EDD2033351A9}"/>
              </a:ext>
            </a:extLst>
          </p:cNvPr>
          <p:cNvCxnSpPr>
            <a:cxnSpLocks/>
          </p:cNvCxnSpPr>
          <p:nvPr/>
        </p:nvCxnSpPr>
        <p:spPr>
          <a:xfrm flipH="1">
            <a:off x="8124568" y="2858194"/>
            <a:ext cx="4153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ZoneTexte 12">
            <a:extLst>
              <a:ext uri="{FF2B5EF4-FFF2-40B4-BE49-F238E27FC236}">
                <a16:creationId xmlns:a16="http://schemas.microsoft.com/office/drawing/2014/main" id="{FD303FAA-1EC7-4ED4-BFDF-DAC75A0E2EAF}"/>
              </a:ext>
            </a:extLst>
          </p:cNvPr>
          <p:cNvSpPr txBox="1"/>
          <p:nvPr/>
        </p:nvSpPr>
        <p:spPr>
          <a:xfrm>
            <a:off x="8469863" y="2627361"/>
            <a:ext cx="1390521" cy="461665"/>
          </a:xfrm>
          <a:prstGeom prst="rect">
            <a:avLst/>
          </a:prstGeom>
          <a:noFill/>
        </p:spPr>
        <p:txBody>
          <a:bodyPr wrap="square" rtlCol="0">
            <a:spAutoFit/>
          </a:bodyPr>
          <a:lstStyle/>
          <a:p>
            <a:r>
              <a:rPr lang="fr-FR" sz="1200" dirty="0">
                <a:solidFill>
                  <a:schemeClr val="bg1"/>
                </a:solidFill>
              </a:rPr>
              <a:t>Les couches du modèle</a:t>
            </a:r>
          </a:p>
        </p:txBody>
      </p:sp>
      <p:pic>
        <p:nvPicPr>
          <p:cNvPr id="62" name="Picture 131">
            <a:extLst>
              <a:ext uri="{FF2B5EF4-FFF2-40B4-BE49-F238E27FC236}">
                <a16:creationId xmlns:a16="http://schemas.microsoft.com/office/drawing/2014/main" id="{3B1D2722-E9FB-4697-8105-F131441C4ECC}"/>
              </a:ext>
            </a:extLst>
          </p:cNvPr>
          <p:cNvPicPr/>
          <p:nvPr/>
        </p:nvPicPr>
        <p:blipFill>
          <a:blip r:embed="rId5">
            <a:extLst>
              <a:ext uri="{28A0092B-C50C-407E-A947-70E740481C1C}">
                <a14:useLocalDpi xmlns:a14="http://schemas.microsoft.com/office/drawing/2010/main" val="0"/>
              </a:ext>
            </a:extLst>
          </a:blip>
          <a:stretch>
            <a:fillRect/>
          </a:stretch>
        </p:blipFill>
        <p:spPr>
          <a:xfrm>
            <a:off x="4606452" y="5205411"/>
            <a:ext cx="4999715" cy="1202055"/>
          </a:xfrm>
          <a:prstGeom prst="rect">
            <a:avLst/>
          </a:prstGeom>
        </p:spPr>
      </p:pic>
      <p:sp>
        <p:nvSpPr>
          <p:cNvPr id="19" name="Flèche : bas 18">
            <a:extLst>
              <a:ext uri="{FF2B5EF4-FFF2-40B4-BE49-F238E27FC236}">
                <a16:creationId xmlns:a16="http://schemas.microsoft.com/office/drawing/2014/main" id="{60D1987C-52FD-4CFA-BB0D-840266285A5F}"/>
              </a:ext>
            </a:extLst>
          </p:cNvPr>
          <p:cNvSpPr/>
          <p:nvPr/>
        </p:nvSpPr>
        <p:spPr>
          <a:xfrm>
            <a:off x="8678100" y="4498665"/>
            <a:ext cx="215530" cy="695766"/>
          </a:xfrm>
          <a:prstGeom prst="downArrow">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28706BE7-3563-4DAD-AA19-C64F809A7B4F}"/>
              </a:ext>
            </a:extLst>
          </p:cNvPr>
          <p:cNvSpPr txBox="1"/>
          <p:nvPr/>
        </p:nvSpPr>
        <p:spPr>
          <a:xfrm>
            <a:off x="4957851" y="4591110"/>
            <a:ext cx="3935779" cy="523220"/>
          </a:xfrm>
          <a:prstGeom prst="rect">
            <a:avLst/>
          </a:prstGeom>
          <a:noFill/>
        </p:spPr>
        <p:txBody>
          <a:bodyPr wrap="square" rtlCol="0">
            <a:spAutoFit/>
          </a:bodyPr>
          <a:lstStyle/>
          <a:p>
            <a:r>
              <a:rPr lang="fr-FR" b="1" dirty="0"/>
              <a:t>Charger le modèle et afficher les valeurs prévues pour les 15 prochaines minutes </a:t>
            </a:r>
          </a:p>
        </p:txBody>
      </p:sp>
      <p:sp>
        <p:nvSpPr>
          <p:cNvPr id="27" name="Espace réservé du numéro de diapositive 1">
            <a:extLst>
              <a:ext uri="{FF2B5EF4-FFF2-40B4-BE49-F238E27FC236}">
                <a16:creationId xmlns:a16="http://schemas.microsoft.com/office/drawing/2014/main" id="{D6EE6BAF-8A09-4D73-A077-59CFC06AA270}"/>
              </a:ext>
            </a:extLst>
          </p:cNvPr>
          <p:cNvSpPr>
            <a:spLocks noGrp="1"/>
          </p:cNvSpPr>
          <p:nvPr>
            <p:ph type="sldNum" idx="12"/>
          </p:nvPr>
        </p:nvSpPr>
        <p:spPr>
          <a:xfrm>
            <a:off x="11633200" y="6336030"/>
            <a:ext cx="401320" cy="365125"/>
          </a:xfrm>
        </p:spPr>
        <p:txBody>
          <a:bodyPr/>
          <a:lstStyle/>
          <a:p>
            <a:pPr marL="0" lvl="0" indent="0" algn="r" rtl="0">
              <a:spcBef>
                <a:spcPts val="0"/>
              </a:spcBef>
              <a:spcAft>
                <a:spcPts val="0"/>
              </a:spcAft>
              <a:buNone/>
            </a:pPr>
            <a:r>
              <a:rPr lang="fr-FR" dirty="0"/>
              <a:t>25</a:t>
            </a:r>
          </a:p>
        </p:txBody>
      </p:sp>
    </p:spTree>
    <p:extLst>
      <p:ext uri="{BB962C8B-B14F-4D97-AF65-F5344CB8AC3E}">
        <p14:creationId xmlns:p14="http://schemas.microsoft.com/office/powerpoint/2010/main" val="3271219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2" presetClass="entr" presetSubtype="8" fill="hold" nodeType="withEffect">
                                  <p:stCondLst>
                                    <p:cond delay="0"/>
                                  </p:stCondLst>
                                  <p:childTnLst>
                                    <p:set>
                                      <p:cBhvr>
                                        <p:cTn id="9" dur="1" fill="hold">
                                          <p:stCondLst>
                                            <p:cond delay="0"/>
                                          </p:stCondLst>
                                        </p:cTn>
                                        <p:tgtEl>
                                          <p:spTgt spid="48"/>
                                        </p:tgtEl>
                                        <p:attrNameLst>
                                          <p:attrName>style.visibility</p:attrName>
                                        </p:attrNameLst>
                                      </p:cBhvr>
                                      <p:to>
                                        <p:strVal val="visible"/>
                                      </p:to>
                                    </p:set>
                                    <p:anim calcmode="lin" valueType="num">
                                      <p:cBhvr additive="base">
                                        <p:cTn id="10" dur="500" fill="hold"/>
                                        <p:tgtEl>
                                          <p:spTgt spid="48"/>
                                        </p:tgtEl>
                                        <p:attrNameLst>
                                          <p:attrName>ppt_x</p:attrName>
                                        </p:attrNameLst>
                                      </p:cBhvr>
                                      <p:tavLst>
                                        <p:tav tm="0">
                                          <p:val>
                                            <p:strVal val="0-#ppt_w/2"/>
                                          </p:val>
                                        </p:tav>
                                        <p:tav tm="100000">
                                          <p:val>
                                            <p:strVal val="#ppt_x"/>
                                          </p:val>
                                        </p:tav>
                                      </p:tavLst>
                                    </p:anim>
                                    <p:anim calcmode="lin" valueType="num">
                                      <p:cBhvr additive="base">
                                        <p:cTn id="11"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8"/>
                                        </p:tgtEl>
                                        <p:attrNameLst>
                                          <p:attrName>style.visibility</p:attrName>
                                        </p:attrNameLst>
                                      </p:cBhvr>
                                      <p:to>
                                        <p:strVal val="visible"/>
                                      </p:to>
                                    </p:set>
                                    <p:animEffect transition="in" filter="fade">
                                      <p:cBhvr>
                                        <p:cTn id="21" dur="500"/>
                                        <p:tgtEl>
                                          <p:spTgt spid="58"/>
                                        </p:tgtEl>
                                      </p:cBhvr>
                                    </p:animEffect>
                                  </p:childTnLst>
                                </p:cTn>
                              </p:par>
                              <p:par>
                                <p:cTn id="22" presetID="2" presetClass="entr" presetSubtype="2" fill="hold" nodeType="withEffect">
                                  <p:stCondLst>
                                    <p:cond delay="0"/>
                                  </p:stCondLst>
                                  <p:childTnLst>
                                    <p:set>
                                      <p:cBhvr>
                                        <p:cTn id="23" dur="1" fill="hold">
                                          <p:stCondLst>
                                            <p:cond delay="0"/>
                                          </p:stCondLst>
                                        </p:cTn>
                                        <p:tgtEl>
                                          <p:spTgt spid="53"/>
                                        </p:tgtEl>
                                        <p:attrNameLst>
                                          <p:attrName>style.visibility</p:attrName>
                                        </p:attrNameLst>
                                      </p:cBhvr>
                                      <p:to>
                                        <p:strVal val="visible"/>
                                      </p:to>
                                    </p:set>
                                    <p:anim calcmode="lin" valueType="num">
                                      <p:cBhvr additive="base">
                                        <p:cTn id="24" dur="500" fill="hold"/>
                                        <p:tgtEl>
                                          <p:spTgt spid="53"/>
                                        </p:tgtEl>
                                        <p:attrNameLst>
                                          <p:attrName>ppt_x</p:attrName>
                                        </p:attrNameLst>
                                      </p:cBhvr>
                                      <p:tavLst>
                                        <p:tav tm="0">
                                          <p:val>
                                            <p:strVal val="1+#ppt_w/2"/>
                                          </p:val>
                                        </p:tav>
                                        <p:tav tm="100000">
                                          <p:val>
                                            <p:strVal val="#ppt_x"/>
                                          </p:val>
                                        </p:tav>
                                      </p:tavLst>
                                    </p:anim>
                                    <p:anim calcmode="lin" valueType="num">
                                      <p:cBhvr additive="base">
                                        <p:cTn id="25" dur="500" fill="hold"/>
                                        <p:tgtEl>
                                          <p:spTgt spid="53"/>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9"/>
                                        </p:tgtEl>
                                        <p:attrNameLst>
                                          <p:attrName>style.visibility</p:attrName>
                                        </p:attrNameLst>
                                      </p:cBhvr>
                                      <p:to>
                                        <p:strVal val="visible"/>
                                      </p:to>
                                    </p:set>
                                    <p:animEffect transition="in" filter="fade">
                                      <p:cBhvr>
                                        <p:cTn id="30" dur="500"/>
                                        <p:tgtEl>
                                          <p:spTgt spid="59"/>
                                        </p:tgtEl>
                                      </p:cBhvr>
                                    </p:animEffect>
                                  </p:childTnLst>
                                </p:cTn>
                              </p:par>
                              <p:par>
                                <p:cTn id="31" presetID="10" presetClass="entr" presetSubtype="0" fill="hold" nodeType="withEffect">
                                  <p:stCondLst>
                                    <p:cond delay="0"/>
                                  </p:stCondLst>
                                  <p:childTnLst>
                                    <p:set>
                                      <p:cBhvr>
                                        <p:cTn id="32" dur="1" fill="hold">
                                          <p:stCondLst>
                                            <p:cond delay="0"/>
                                          </p:stCondLst>
                                        </p:cTn>
                                        <p:tgtEl>
                                          <p:spTgt spid="60"/>
                                        </p:tgtEl>
                                        <p:attrNameLst>
                                          <p:attrName>style.visibility</p:attrName>
                                        </p:attrNameLst>
                                      </p:cBhvr>
                                      <p:to>
                                        <p:strVal val="visible"/>
                                      </p:to>
                                    </p:set>
                                    <p:animEffect transition="in" filter="fade">
                                      <p:cBhvr>
                                        <p:cTn id="33" dur="500"/>
                                        <p:tgtEl>
                                          <p:spTgt spid="6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2"/>
                                        </p:tgtEl>
                                        <p:attrNameLst>
                                          <p:attrName>style.visibility</p:attrName>
                                        </p:attrNameLst>
                                      </p:cBhvr>
                                      <p:to>
                                        <p:strVal val="visible"/>
                                      </p:to>
                                    </p:set>
                                    <p:animEffect transition="in" filter="fade">
                                      <p:cBhvr>
                                        <p:cTn id="51"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58" grpId="0"/>
      <p:bldP spid="59" grpId="0" animBg="1"/>
      <p:bldP spid="13" grpId="0"/>
      <p:bldP spid="19" grpId="0" animBg="1"/>
      <p:bldP spid="2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Google Shape;452;p27"/>
          <p:cNvSpPr txBox="1"/>
          <p:nvPr/>
        </p:nvSpPr>
        <p:spPr>
          <a:xfrm>
            <a:off x="296435" y="1330039"/>
            <a:ext cx="7056008" cy="492412"/>
          </a:xfrm>
          <a:prstGeom prst="rect">
            <a:avLst/>
          </a:prstGeom>
          <a:noFill/>
          <a:ln>
            <a:noFill/>
          </a:ln>
        </p:spPr>
        <p:txBody>
          <a:bodyPr spcFirstLastPara="1" wrap="square" lIns="91425" tIns="91425" rIns="91425" bIns="91425" anchor="t" anchorCtr="0">
            <a:spAutoFit/>
          </a:bodyPr>
          <a:lstStyle/>
          <a:p>
            <a:pPr marL="101600" lvl="0" algn="l" rtl="0">
              <a:spcBef>
                <a:spcPts val="0"/>
              </a:spcBef>
              <a:spcAft>
                <a:spcPts val="0"/>
              </a:spcAft>
              <a:buClr>
                <a:srgbClr val="ED8945"/>
              </a:buClr>
              <a:buSzPts val="2000"/>
            </a:pPr>
            <a:endParaRPr sz="2000" b="1" dirty="0">
              <a:solidFill>
                <a:srgbClr val="1AAFE4"/>
              </a:solidFill>
            </a:endParaRPr>
          </a:p>
        </p:txBody>
      </p:sp>
      <p:grpSp>
        <p:nvGrpSpPr>
          <p:cNvPr id="53" name="Google Shape;248;p19"/>
          <p:cNvGrpSpPr/>
          <p:nvPr/>
        </p:nvGrpSpPr>
        <p:grpSpPr>
          <a:xfrm>
            <a:off x="68379" y="252723"/>
            <a:ext cx="10365904" cy="650938"/>
            <a:chOff x="-43152" y="-19950"/>
            <a:chExt cx="10076703" cy="650938"/>
          </a:xfrm>
        </p:grpSpPr>
        <p:sp>
          <p:nvSpPr>
            <p:cNvPr id="54" name="Google Shape;250;p19"/>
            <p:cNvSpPr txBox="1"/>
            <p:nvPr/>
          </p:nvSpPr>
          <p:spPr>
            <a:xfrm>
              <a:off x="-43152" y="6652"/>
              <a:ext cx="2167800" cy="584700"/>
            </a:xfrm>
            <a:prstGeom prst="rect">
              <a:avLst/>
            </a:prstGeom>
            <a:solidFill>
              <a:schemeClr val="accent3"/>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55" name="Google Shape;251;p19"/>
            <p:cNvSpPr/>
            <p:nvPr/>
          </p:nvSpPr>
          <p:spPr>
            <a:xfrm>
              <a:off x="1778963" y="0"/>
              <a:ext cx="2638200" cy="584700"/>
            </a:xfrm>
            <a:prstGeom prst="chevron">
              <a:avLst>
                <a:gd name="adj" fmla="val 50000"/>
              </a:avLst>
            </a:prstGeom>
            <a:solidFill>
              <a:schemeClr val="accent3"/>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56" name="Google Shape;252;p19"/>
            <p:cNvSpPr txBox="1"/>
            <p:nvPr/>
          </p:nvSpPr>
          <p:spPr>
            <a:xfrm>
              <a:off x="2071350" y="0"/>
              <a:ext cx="2053500" cy="584700"/>
            </a:xfrm>
            <a:prstGeom prst="rect">
              <a:avLst/>
            </a:prstGeom>
            <a:solidFill>
              <a:schemeClr val="accent3"/>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57" name="Google Shape;253;p19"/>
            <p:cNvSpPr/>
            <p:nvPr/>
          </p:nvSpPr>
          <p:spPr>
            <a:xfrm>
              <a:off x="4023490" y="0"/>
              <a:ext cx="1968000" cy="584700"/>
            </a:xfrm>
            <a:prstGeom prst="chevron">
              <a:avLst>
                <a:gd name="adj" fmla="val 50000"/>
              </a:avLst>
            </a:prstGeom>
            <a:solidFill>
              <a:schemeClr val="accent3"/>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58" name="Google Shape;254;p19"/>
            <p:cNvSpPr txBox="1"/>
            <p:nvPr/>
          </p:nvSpPr>
          <p:spPr>
            <a:xfrm>
              <a:off x="4261955" y="0"/>
              <a:ext cx="1437300" cy="584700"/>
            </a:xfrm>
            <a:prstGeom prst="rect">
              <a:avLst/>
            </a:prstGeom>
            <a:solidFill>
              <a:schemeClr val="accent3"/>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59" name="Google Shape;255;p19"/>
            <p:cNvSpPr/>
            <p:nvPr/>
          </p:nvSpPr>
          <p:spPr>
            <a:xfrm>
              <a:off x="5597962" y="0"/>
              <a:ext cx="24675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60" name="Google Shape;256;p19"/>
            <p:cNvSpPr txBox="1"/>
            <p:nvPr/>
          </p:nvSpPr>
          <p:spPr>
            <a:xfrm>
              <a:off x="5872496" y="-19950"/>
              <a:ext cx="1841700" cy="584700"/>
            </a:xfrm>
            <a:prstGeom prst="rect">
              <a:avLst/>
            </a:prstGeom>
            <a:solidFill>
              <a:schemeClr val="accent6">
                <a:lumMod val="60000"/>
                <a:lumOff val="40000"/>
              </a:schemeClr>
            </a:solidFill>
            <a:ln>
              <a:solidFill>
                <a:schemeClr val="accent6">
                  <a:lumMod val="60000"/>
                  <a:lumOff val="40000"/>
                </a:schemeClr>
              </a:solid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61"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62"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5</a:t>
              </a:r>
              <a:r>
                <a:rPr lang="fr-FR" sz="1700" b="1" i="0" u="none" strike="noStrike" cap="none">
                  <a:solidFill>
                    <a:schemeClr val="lt1"/>
                  </a:solidFill>
                </a:rPr>
                <a:t>.Conclusion et Perspectives</a:t>
              </a:r>
              <a:endParaRPr sz="1400" b="1" i="0" u="none" strike="noStrike" cap="none">
                <a:solidFill>
                  <a:schemeClr val="lt1"/>
                </a:solidFill>
              </a:endParaRPr>
            </a:p>
          </p:txBody>
        </p:sp>
      </p:grpSp>
      <p:sp>
        <p:nvSpPr>
          <p:cNvPr id="63" name="object 5"/>
          <p:cNvSpPr/>
          <p:nvPr/>
        </p:nvSpPr>
        <p:spPr>
          <a:xfrm>
            <a:off x="68379"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3" name="ZoneTexte 2">
            <a:extLst>
              <a:ext uri="{FF2B5EF4-FFF2-40B4-BE49-F238E27FC236}">
                <a16:creationId xmlns:a16="http://schemas.microsoft.com/office/drawing/2014/main" id="{47A7D719-E59C-4FFC-8962-86AE8E541282}"/>
              </a:ext>
            </a:extLst>
          </p:cNvPr>
          <p:cNvSpPr txBox="1"/>
          <p:nvPr/>
        </p:nvSpPr>
        <p:spPr>
          <a:xfrm>
            <a:off x="400391" y="1154915"/>
            <a:ext cx="4256314" cy="400110"/>
          </a:xfrm>
          <a:prstGeom prst="rect">
            <a:avLst/>
          </a:prstGeom>
          <a:noFill/>
        </p:spPr>
        <p:txBody>
          <a:bodyPr wrap="square" rtlCol="0">
            <a:spAutoFit/>
          </a:bodyPr>
          <a:lstStyle/>
          <a:p>
            <a:r>
              <a:rPr lang="fr-FR" sz="2000" b="1" dirty="0">
                <a:solidFill>
                  <a:schemeClr val="accent6">
                    <a:lumMod val="60000"/>
                    <a:lumOff val="40000"/>
                  </a:schemeClr>
                </a:solidFill>
              </a:rPr>
              <a:t>Pilotage de l’irrigation </a:t>
            </a:r>
          </a:p>
        </p:txBody>
      </p:sp>
      <p:pic>
        <p:nvPicPr>
          <p:cNvPr id="28" name="Google Shape;337;p23">
            <a:extLst>
              <a:ext uri="{FF2B5EF4-FFF2-40B4-BE49-F238E27FC236}">
                <a16:creationId xmlns:a16="http://schemas.microsoft.com/office/drawing/2014/main" id="{55E49D0E-699B-4381-B956-461238FA3397}"/>
              </a:ext>
            </a:extLst>
          </p:cNvPr>
          <p:cNvPicPr preferRelativeResize="0"/>
          <p:nvPr/>
        </p:nvPicPr>
        <p:blipFill>
          <a:blip r:embed="rId2">
            <a:alphaModFix/>
          </a:blip>
          <a:stretch>
            <a:fillRect/>
          </a:stretch>
        </p:blipFill>
        <p:spPr>
          <a:xfrm>
            <a:off x="466987" y="2206048"/>
            <a:ext cx="1432800" cy="1432800"/>
          </a:xfrm>
          <a:prstGeom prst="rect">
            <a:avLst/>
          </a:prstGeom>
          <a:noFill/>
          <a:ln>
            <a:noFill/>
          </a:ln>
        </p:spPr>
      </p:pic>
      <p:sp>
        <p:nvSpPr>
          <p:cNvPr id="33" name="Flèche : droite 32">
            <a:extLst>
              <a:ext uri="{FF2B5EF4-FFF2-40B4-BE49-F238E27FC236}">
                <a16:creationId xmlns:a16="http://schemas.microsoft.com/office/drawing/2014/main" id="{6765CF50-73F5-4E6A-8D5D-1DFBABA80BB1}"/>
              </a:ext>
            </a:extLst>
          </p:cNvPr>
          <p:cNvSpPr/>
          <p:nvPr/>
        </p:nvSpPr>
        <p:spPr>
          <a:xfrm>
            <a:off x="1895850" y="3026428"/>
            <a:ext cx="1758553" cy="232833"/>
          </a:xfrm>
          <a:prstGeom prst="rightArrow">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ZoneTexte 3">
            <a:extLst>
              <a:ext uri="{FF2B5EF4-FFF2-40B4-BE49-F238E27FC236}">
                <a16:creationId xmlns:a16="http://schemas.microsoft.com/office/drawing/2014/main" id="{04DF6644-9311-4E2F-AFB9-299D5136249F}"/>
              </a:ext>
            </a:extLst>
          </p:cNvPr>
          <p:cNvSpPr txBox="1"/>
          <p:nvPr/>
        </p:nvSpPr>
        <p:spPr>
          <a:xfrm>
            <a:off x="1595618" y="2658385"/>
            <a:ext cx="2501926" cy="307777"/>
          </a:xfrm>
          <a:prstGeom prst="rect">
            <a:avLst/>
          </a:prstGeom>
          <a:noFill/>
        </p:spPr>
        <p:txBody>
          <a:bodyPr wrap="square" rtlCol="0">
            <a:spAutoFit/>
          </a:bodyPr>
          <a:lstStyle/>
          <a:p>
            <a:r>
              <a:rPr lang="fr-FR" b="1" dirty="0"/>
              <a:t>Déclencher l’irrigation via</a:t>
            </a:r>
          </a:p>
        </p:txBody>
      </p:sp>
      <p:pic>
        <p:nvPicPr>
          <p:cNvPr id="40" name="Image 39">
            <a:extLst>
              <a:ext uri="{FF2B5EF4-FFF2-40B4-BE49-F238E27FC236}">
                <a16:creationId xmlns:a16="http://schemas.microsoft.com/office/drawing/2014/main" id="{0AE9146D-8409-4549-BF2B-87B772800886}"/>
              </a:ext>
            </a:extLst>
          </p:cNvPr>
          <p:cNvPicPr/>
          <p:nvPr/>
        </p:nvPicPr>
        <p:blipFill>
          <a:blip r:embed="rId3"/>
          <a:stretch>
            <a:fillRect/>
          </a:stretch>
        </p:blipFill>
        <p:spPr>
          <a:xfrm>
            <a:off x="4032836" y="2424170"/>
            <a:ext cx="1214688" cy="1109738"/>
          </a:xfrm>
          <a:prstGeom prst="rect">
            <a:avLst/>
          </a:prstGeom>
        </p:spPr>
      </p:pic>
      <p:sp>
        <p:nvSpPr>
          <p:cNvPr id="7" name="ZoneTexte 6">
            <a:extLst>
              <a:ext uri="{FF2B5EF4-FFF2-40B4-BE49-F238E27FC236}">
                <a16:creationId xmlns:a16="http://schemas.microsoft.com/office/drawing/2014/main" id="{77AFE52F-D2CA-43DA-86D2-8F93E21F0196}"/>
              </a:ext>
            </a:extLst>
          </p:cNvPr>
          <p:cNvSpPr txBox="1"/>
          <p:nvPr/>
        </p:nvSpPr>
        <p:spPr>
          <a:xfrm>
            <a:off x="810574" y="2009443"/>
            <a:ext cx="1306637" cy="307777"/>
          </a:xfrm>
          <a:prstGeom prst="rect">
            <a:avLst/>
          </a:prstGeom>
          <a:noFill/>
        </p:spPr>
        <p:txBody>
          <a:bodyPr wrap="square" rtlCol="0">
            <a:spAutoFit/>
          </a:bodyPr>
          <a:lstStyle/>
          <a:p>
            <a:r>
              <a:rPr lang="fr-FR" b="1" dirty="0"/>
              <a:t>Client</a:t>
            </a:r>
          </a:p>
        </p:txBody>
      </p:sp>
      <p:sp>
        <p:nvSpPr>
          <p:cNvPr id="8" name="ZoneTexte 7">
            <a:extLst>
              <a:ext uri="{FF2B5EF4-FFF2-40B4-BE49-F238E27FC236}">
                <a16:creationId xmlns:a16="http://schemas.microsoft.com/office/drawing/2014/main" id="{27FB7E42-DDDD-46B2-9AD4-DEA3EA5DB554}"/>
              </a:ext>
            </a:extLst>
          </p:cNvPr>
          <p:cNvSpPr txBox="1"/>
          <p:nvPr/>
        </p:nvSpPr>
        <p:spPr>
          <a:xfrm>
            <a:off x="4097544" y="2088675"/>
            <a:ext cx="1214688" cy="307777"/>
          </a:xfrm>
          <a:prstGeom prst="rect">
            <a:avLst/>
          </a:prstGeom>
          <a:noFill/>
        </p:spPr>
        <p:txBody>
          <a:bodyPr wrap="square" rtlCol="0">
            <a:spAutoFit/>
          </a:bodyPr>
          <a:lstStyle/>
          <a:p>
            <a:r>
              <a:rPr lang="fr-FR" b="1" dirty="0"/>
              <a:t>Plateforme</a:t>
            </a:r>
          </a:p>
        </p:txBody>
      </p:sp>
      <p:sp>
        <p:nvSpPr>
          <p:cNvPr id="41" name="Flèche : droite 40">
            <a:extLst>
              <a:ext uri="{FF2B5EF4-FFF2-40B4-BE49-F238E27FC236}">
                <a16:creationId xmlns:a16="http://schemas.microsoft.com/office/drawing/2014/main" id="{EE195C04-38A2-494E-9929-28EB9B069DF7}"/>
              </a:ext>
            </a:extLst>
          </p:cNvPr>
          <p:cNvSpPr/>
          <p:nvPr/>
        </p:nvSpPr>
        <p:spPr>
          <a:xfrm>
            <a:off x="5342531" y="3026428"/>
            <a:ext cx="1758553" cy="232833"/>
          </a:xfrm>
          <a:prstGeom prst="rightArrow">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ZoneTexte 8">
            <a:extLst>
              <a:ext uri="{FF2B5EF4-FFF2-40B4-BE49-F238E27FC236}">
                <a16:creationId xmlns:a16="http://schemas.microsoft.com/office/drawing/2014/main" id="{CE58A1F8-7E7C-4982-8209-D5E850AC798A}"/>
              </a:ext>
            </a:extLst>
          </p:cNvPr>
          <p:cNvSpPr txBox="1"/>
          <p:nvPr/>
        </p:nvSpPr>
        <p:spPr>
          <a:xfrm>
            <a:off x="5205106" y="2455819"/>
            <a:ext cx="2538317" cy="523220"/>
          </a:xfrm>
          <a:prstGeom prst="rect">
            <a:avLst/>
          </a:prstGeom>
          <a:noFill/>
        </p:spPr>
        <p:txBody>
          <a:bodyPr wrap="square" rtlCol="0">
            <a:spAutoFit/>
          </a:bodyPr>
          <a:lstStyle/>
          <a:p>
            <a:r>
              <a:rPr lang="fr-FR" b="1" dirty="0"/>
              <a:t>Envoyer la commande de l’irrigation </a:t>
            </a:r>
          </a:p>
        </p:txBody>
      </p:sp>
      <p:pic>
        <p:nvPicPr>
          <p:cNvPr id="43" name="Image 42">
            <a:extLst>
              <a:ext uri="{FF2B5EF4-FFF2-40B4-BE49-F238E27FC236}">
                <a16:creationId xmlns:a16="http://schemas.microsoft.com/office/drawing/2014/main" id="{DAA64ABD-9C43-400F-81DF-82253344A7EF}"/>
              </a:ext>
            </a:extLst>
          </p:cNvPr>
          <p:cNvPicPr>
            <a:picLocks noChangeAspect="1"/>
          </p:cNvPicPr>
          <p:nvPr/>
        </p:nvPicPr>
        <p:blipFill>
          <a:blip r:embed="rId4"/>
          <a:stretch>
            <a:fillRect/>
          </a:stretch>
        </p:blipFill>
        <p:spPr>
          <a:xfrm>
            <a:off x="7447015" y="2499316"/>
            <a:ext cx="1070011" cy="1195118"/>
          </a:xfrm>
          <a:prstGeom prst="rect">
            <a:avLst/>
          </a:prstGeom>
        </p:spPr>
      </p:pic>
      <p:sp>
        <p:nvSpPr>
          <p:cNvPr id="10" name="ZoneTexte 9">
            <a:extLst>
              <a:ext uri="{FF2B5EF4-FFF2-40B4-BE49-F238E27FC236}">
                <a16:creationId xmlns:a16="http://schemas.microsoft.com/office/drawing/2014/main" id="{18BB26B3-E015-441B-8CF7-0FEB97512F64}"/>
              </a:ext>
            </a:extLst>
          </p:cNvPr>
          <p:cNvSpPr txBox="1"/>
          <p:nvPr/>
        </p:nvSpPr>
        <p:spPr>
          <a:xfrm>
            <a:off x="7447015" y="2104125"/>
            <a:ext cx="1615778" cy="307777"/>
          </a:xfrm>
          <a:prstGeom prst="rect">
            <a:avLst/>
          </a:prstGeom>
          <a:noFill/>
        </p:spPr>
        <p:txBody>
          <a:bodyPr wrap="square" rtlCol="0">
            <a:spAutoFit/>
          </a:bodyPr>
          <a:lstStyle/>
          <a:p>
            <a:r>
              <a:rPr lang="fr-FR" b="1" dirty="0"/>
              <a:t>Broker MQTT</a:t>
            </a:r>
          </a:p>
        </p:txBody>
      </p:sp>
      <p:pic>
        <p:nvPicPr>
          <p:cNvPr id="44" name="Image 43">
            <a:extLst>
              <a:ext uri="{FF2B5EF4-FFF2-40B4-BE49-F238E27FC236}">
                <a16:creationId xmlns:a16="http://schemas.microsoft.com/office/drawing/2014/main" id="{4228DEBF-887C-4C61-AC82-7CF3956576E4}"/>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8491183" y="2585133"/>
            <a:ext cx="3233830" cy="1290181"/>
          </a:xfrm>
          <a:prstGeom prst="rect">
            <a:avLst/>
          </a:prstGeom>
          <a:noFill/>
          <a:ln>
            <a:noFill/>
          </a:ln>
        </p:spPr>
      </p:pic>
      <p:sp>
        <p:nvSpPr>
          <p:cNvPr id="45" name="Rectangle à coins arrondis 45">
            <a:extLst>
              <a:ext uri="{FF2B5EF4-FFF2-40B4-BE49-F238E27FC236}">
                <a16:creationId xmlns:a16="http://schemas.microsoft.com/office/drawing/2014/main" id="{9750D357-4D2A-429A-A522-4AC0722B3BDD}"/>
              </a:ext>
            </a:extLst>
          </p:cNvPr>
          <p:cNvSpPr/>
          <p:nvPr/>
        </p:nvSpPr>
        <p:spPr>
          <a:xfrm>
            <a:off x="8409711" y="2538845"/>
            <a:ext cx="3001784" cy="173077"/>
          </a:xfrm>
          <a:prstGeom prst="round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fr-FR"/>
          </a:p>
        </p:txBody>
      </p:sp>
      <p:cxnSp>
        <p:nvCxnSpPr>
          <p:cNvPr id="46" name="Connecteur droit avec flèche 45">
            <a:extLst>
              <a:ext uri="{FF2B5EF4-FFF2-40B4-BE49-F238E27FC236}">
                <a16:creationId xmlns:a16="http://schemas.microsoft.com/office/drawing/2014/main" id="{34B29482-DA87-44F2-8CA8-9032264DAE55}"/>
              </a:ext>
            </a:extLst>
          </p:cNvPr>
          <p:cNvCxnSpPr>
            <a:cxnSpLocks/>
          </p:cNvCxnSpPr>
          <p:nvPr/>
        </p:nvCxnSpPr>
        <p:spPr>
          <a:xfrm flipH="1" flipV="1">
            <a:off x="11092602" y="2761800"/>
            <a:ext cx="87027" cy="175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9D8AEC08-1D03-4074-9E28-14036CF088B7}"/>
              </a:ext>
            </a:extLst>
          </p:cNvPr>
          <p:cNvSpPr txBox="1"/>
          <p:nvPr/>
        </p:nvSpPr>
        <p:spPr>
          <a:xfrm>
            <a:off x="10833717" y="2922448"/>
            <a:ext cx="1077686" cy="461665"/>
          </a:xfrm>
          <a:prstGeom prst="rect">
            <a:avLst/>
          </a:prstGeom>
          <a:noFill/>
        </p:spPr>
        <p:txBody>
          <a:bodyPr wrap="square" rtlCol="0">
            <a:spAutoFit/>
          </a:bodyPr>
          <a:lstStyle/>
          <a:p>
            <a:r>
              <a:rPr lang="fr-FR" sz="1200" dirty="0">
                <a:solidFill>
                  <a:schemeClr val="bg1"/>
                </a:solidFill>
              </a:rPr>
              <a:t>Mode d’irrigation</a:t>
            </a:r>
          </a:p>
        </p:txBody>
      </p:sp>
      <p:sp>
        <p:nvSpPr>
          <p:cNvPr id="13" name="Flèche : bas 12">
            <a:extLst>
              <a:ext uri="{FF2B5EF4-FFF2-40B4-BE49-F238E27FC236}">
                <a16:creationId xmlns:a16="http://schemas.microsoft.com/office/drawing/2014/main" id="{2D32A724-E3D2-4C04-915E-1736517C97E3}"/>
              </a:ext>
            </a:extLst>
          </p:cNvPr>
          <p:cNvSpPr/>
          <p:nvPr/>
        </p:nvSpPr>
        <p:spPr>
          <a:xfrm>
            <a:off x="7982020" y="3875313"/>
            <a:ext cx="322773" cy="918559"/>
          </a:xfrm>
          <a:prstGeom prst="downArrow">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3C76C40F-942C-4CF3-B2D7-09A9E35A0AA5}"/>
              </a:ext>
            </a:extLst>
          </p:cNvPr>
          <p:cNvSpPr txBox="1"/>
          <p:nvPr/>
        </p:nvSpPr>
        <p:spPr>
          <a:xfrm>
            <a:off x="6717735" y="4811750"/>
            <a:ext cx="2639489" cy="523220"/>
          </a:xfrm>
          <a:prstGeom prst="rect">
            <a:avLst/>
          </a:prstGeom>
          <a:noFill/>
        </p:spPr>
        <p:txBody>
          <a:bodyPr wrap="square" rtlCol="0">
            <a:spAutoFit/>
          </a:bodyPr>
          <a:lstStyle/>
          <a:p>
            <a:r>
              <a:rPr lang="fr-FR" b="1" dirty="0"/>
              <a:t>Activer et désactiver la pompe à eau du pot</a:t>
            </a:r>
          </a:p>
        </p:txBody>
      </p:sp>
      <p:pic>
        <p:nvPicPr>
          <p:cNvPr id="47" name="Image 46">
            <a:extLst>
              <a:ext uri="{FF2B5EF4-FFF2-40B4-BE49-F238E27FC236}">
                <a16:creationId xmlns:a16="http://schemas.microsoft.com/office/drawing/2014/main" id="{25D9691F-AFBE-4D16-A51E-87DB6E2EE5C7}"/>
              </a:ext>
            </a:extLst>
          </p:cNvPr>
          <p:cNvPicPr>
            <a:picLocks noChangeAspect="1"/>
          </p:cNvPicPr>
          <p:nvPr/>
        </p:nvPicPr>
        <p:blipFill>
          <a:blip r:embed="rId6"/>
          <a:stretch>
            <a:fillRect/>
          </a:stretch>
        </p:blipFill>
        <p:spPr>
          <a:xfrm>
            <a:off x="7140551" y="5246923"/>
            <a:ext cx="1085296" cy="817272"/>
          </a:xfrm>
          <a:prstGeom prst="rect">
            <a:avLst/>
          </a:prstGeom>
        </p:spPr>
      </p:pic>
      <p:sp>
        <p:nvSpPr>
          <p:cNvPr id="34" name="Espace réservé du numéro de diapositive 1">
            <a:extLst>
              <a:ext uri="{FF2B5EF4-FFF2-40B4-BE49-F238E27FC236}">
                <a16:creationId xmlns:a16="http://schemas.microsoft.com/office/drawing/2014/main" id="{AF765611-BD13-4E34-919A-E7E1B2B528F8}"/>
              </a:ext>
            </a:extLst>
          </p:cNvPr>
          <p:cNvSpPr>
            <a:spLocks noGrp="1"/>
          </p:cNvSpPr>
          <p:nvPr>
            <p:ph type="sldNum" idx="12"/>
          </p:nvPr>
        </p:nvSpPr>
        <p:spPr>
          <a:xfrm>
            <a:off x="11633200" y="6336030"/>
            <a:ext cx="401320" cy="365125"/>
          </a:xfrm>
        </p:spPr>
        <p:txBody>
          <a:bodyPr/>
          <a:lstStyle/>
          <a:p>
            <a:pPr marL="0" lvl="0" indent="0" algn="r" rtl="0">
              <a:spcBef>
                <a:spcPts val="0"/>
              </a:spcBef>
              <a:spcAft>
                <a:spcPts val="0"/>
              </a:spcAft>
              <a:buNone/>
            </a:pPr>
            <a:r>
              <a:rPr lang="fr-FR" dirty="0"/>
              <a:t>26</a:t>
            </a:r>
          </a:p>
        </p:txBody>
      </p:sp>
    </p:spTree>
    <p:extLst>
      <p:ext uri="{BB962C8B-B14F-4D97-AF65-F5344CB8AC3E}">
        <p14:creationId xmlns:p14="http://schemas.microsoft.com/office/powerpoint/2010/main" val="1123952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500"/>
                                        <p:tgtEl>
                                          <p:spTgt spid="4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fade">
                                      <p:cBhvr>
                                        <p:cTn id="39" dur="500"/>
                                        <p:tgtEl>
                                          <p:spTgt spid="4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nodeType="clickEffect">
                                  <p:stCondLst>
                                    <p:cond delay="0"/>
                                  </p:stCondLst>
                                  <p:childTnLst>
                                    <p:set>
                                      <p:cBhvr>
                                        <p:cTn id="46" dur="1" fill="hold">
                                          <p:stCondLst>
                                            <p:cond delay="0"/>
                                          </p:stCondLst>
                                        </p:cTn>
                                        <p:tgtEl>
                                          <p:spTgt spid="44"/>
                                        </p:tgtEl>
                                        <p:attrNameLst>
                                          <p:attrName>style.visibility</p:attrName>
                                        </p:attrNameLst>
                                      </p:cBhvr>
                                      <p:to>
                                        <p:strVal val="visible"/>
                                      </p:to>
                                    </p:set>
                                    <p:anim calcmode="lin" valueType="num">
                                      <p:cBhvr additive="base">
                                        <p:cTn id="47" dur="500" fill="hold"/>
                                        <p:tgtEl>
                                          <p:spTgt spid="44"/>
                                        </p:tgtEl>
                                        <p:attrNameLst>
                                          <p:attrName>ppt_x</p:attrName>
                                        </p:attrNameLst>
                                      </p:cBhvr>
                                      <p:tavLst>
                                        <p:tav tm="0">
                                          <p:val>
                                            <p:strVal val="1+#ppt_w/2"/>
                                          </p:val>
                                        </p:tav>
                                        <p:tav tm="100000">
                                          <p:val>
                                            <p:strVal val="#ppt_x"/>
                                          </p:val>
                                        </p:tav>
                                      </p:tavLst>
                                    </p:anim>
                                    <p:anim calcmode="lin" valueType="num">
                                      <p:cBhvr additive="base">
                                        <p:cTn id="48"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500"/>
                                        <p:tgtEl>
                                          <p:spTgt spid="45"/>
                                        </p:tgtEl>
                                      </p:cBhvr>
                                    </p:animEffect>
                                  </p:childTnLst>
                                </p:cTn>
                              </p:par>
                              <p:par>
                                <p:cTn id="54" presetID="10" presetClass="entr" presetSubtype="0" fill="hold" nodeType="withEffect">
                                  <p:stCondLst>
                                    <p:cond delay="0"/>
                                  </p:stCondLst>
                                  <p:childTnLst>
                                    <p:set>
                                      <p:cBhvr>
                                        <p:cTn id="55" dur="1" fill="hold">
                                          <p:stCondLst>
                                            <p:cond delay="0"/>
                                          </p:stCondLst>
                                        </p:cTn>
                                        <p:tgtEl>
                                          <p:spTgt spid="46"/>
                                        </p:tgtEl>
                                        <p:attrNameLst>
                                          <p:attrName>style.visibility</p:attrName>
                                        </p:attrNameLst>
                                      </p:cBhvr>
                                      <p:to>
                                        <p:strVal val="visible"/>
                                      </p:to>
                                    </p:set>
                                    <p:animEffect transition="in" filter="fade">
                                      <p:cBhvr>
                                        <p:cTn id="56" dur="500"/>
                                        <p:tgtEl>
                                          <p:spTgt spid="4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00"/>
                                        <p:tgtEl>
                                          <p:spTgt spid="1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00"/>
                                        <p:tgtEl>
                                          <p:spTgt spid="1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500"/>
                                        <p:tgtEl>
                                          <p:spTgt spid="14"/>
                                        </p:tgtEl>
                                      </p:cBhvr>
                                    </p:animEffect>
                                  </p:childTnLst>
                                </p:cTn>
                              </p:par>
                              <p:par>
                                <p:cTn id="68" presetID="10" presetClass="entr" presetSubtype="0" fill="hold" nodeType="withEffect">
                                  <p:stCondLst>
                                    <p:cond delay="0"/>
                                  </p:stCondLst>
                                  <p:childTnLst>
                                    <p:set>
                                      <p:cBhvr>
                                        <p:cTn id="69" dur="1" fill="hold">
                                          <p:stCondLst>
                                            <p:cond delay="0"/>
                                          </p:stCondLst>
                                        </p:cTn>
                                        <p:tgtEl>
                                          <p:spTgt spid="47"/>
                                        </p:tgtEl>
                                        <p:attrNameLst>
                                          <p:attrName>style.visibility</p:attrName>
                                        </p:attrNameLst>
                                      </p:cBhvr>
                                      <p:to>
                                        <p:strVal val="visible"/>
                                      </p:to>
                                    </p:set>
                                    <p:animEffect transition="in" filter="fade">
                                      <p:cBhvr>
                                        <p:cTn id="7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4" grpId="0"/>
      <p:bldP spid="7" grpId="0"/>
      <p:bldP spid="8" grpId="0"/>
      <p:bldP spid="41" grpId="0" animBg="1"/>
      <p:bldP spid="9" grpId="0"/>
      <p:bldP spid="10" grpId="0"/>
      <p:bldP spid="45" grpId="0" animBg="1"/>
      <p:bldP spid="12" grpId="0"/>
      <p:bldP spid="13" grpId="0" animBg="1"/>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Google Shape;452;p27"/>
          <p:cNvSpPr txBox="1"/>
          <p:nvPr/>
        </p:nvSpPr>
        <p:spPr>
          <a:xfrm>
            <a:off x="374132" y="1086871"/>
            <a:ext cx="8790992" cy="492412"/>
          </a:xfrm>
          <a:prstGeom prst="rect">
            <a:avLst/>
          </a:prstGeom>
          <a:noFill/>
          <a:ln>
            <a:noFill/>
          </a:ln>
        </p:spPr>
        <p:txBody>
          <a:bodyPr spcFirstLastPara="1" wrap="square" lIns="91425" tIns="91425" rIns="91425" bIns="91425" anchor="t" anchorCtr="0">
            <a:spAutoFit/>
          </a:bodyPr>
          <a:lstStyle/>
          <a:p>
            <a:pPr marL="101600" lvl="0">
              <a:buClr>
                <a:srgbClr val="ED8945"/>
              </a:buClr>
              <a:buSzPts val="2000"/>
            </a:pPr>
            <a:r>
              <a:rPr lang="fr-FR" sz="2000" b="1" dirty="0">
                <a:solidFill>
                  <a:schemeClr val="accent6">
                    <a:lumMod val="60000"/>
                    <a:lumOff val="40000"/>
                  </a:schemeClr>
                </a:solidFill>
              </a:rPr>
              <a:t>Architecture logique de l’application </a:t>
            </a:r>
            <a:endParaRPr sz="2000" b="1" dirty="0">
              <a:solidFill>
                <a:schemeClr val="accent6">
                  <a:lumMod val="60000"/>
                  <a:lumOff val="40000"/>
                </a:schemeClr>
              </a:solidFill>
            </a:endParaRPr>
          </a:p>
        </p:txBody>
      </p:sp>
      <p:grpSp>
        <p:nvGrpSpPr>
          <p:cNvPr id="79" name="Google Shape;248;p19"/>
          <p:cNvGrpSpPr/>
          <p:nvPr/>
        </p:nvGrpSpPr>
        <p:grpSpPr>
          <a:xfrm>
            <a:off x="68379" y="265547"/>
            <a:ext cx="10365904" cy="650938"/>
            <a:chOff x="-43152" y="-19950"/>
            <a:chExt cx="10076703" cy="650938"/>
          </a:xfrm>
        </p:grpSpPr>
        <p:sp>
          <p:nvSpPr>
            <p:cNvPr id="80" name="Google Shape;250;p19"/>
            <p:cNvSpPr txBox="1"/>
            <p:nvPr/>
          </p:nvSpPr>
          <p:spPr>
            <a:xfrm>
              <a:off x="-43152" y="6652"/>
              <a:ext cx="2167800" cy="584700"/>
            </a:xfrm>
            <a:prstGeom prst="rect">
              <a:avLst/>
            </a:prstGeom>
            <a:solidFill>
              <a:schemeClr val="accent3"/>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81" name="Google Shape;251;p19"/>
            <p:cNvSpPr/>
            <p:nvPr/>
          </p:nvSpPr>
          <p:spPr>
            <a:xfrm>
              <a:off x="1778963" y="0"/>
              <a:ext cx="2638200" cy="584700"/>
            </a:xfrm>
            <a:prstGeom prst="chevron">
              <a:avLst>
                <a:gd name="adj" fmla="val 50000"/>
              </a:avLst>
            </a:prstGeom>
            <a:solidFill>
              <a:schemeClr val="accent3"/>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82" name="Google Shape;252;p19"/>
            <p:cNvSpPr txBox="1"/>
            <p:nvPr/>
          </p:nvSpPr>
          <p:spPr>
            <a:xfrm>
              <a:off x="2071350" y="0"/>
              <a:ext cx="2053500" cy="584700"/>
            </a:xfrm>
            <a:prstGeom prst="rect">
              <a:avLst/>
            </a:prstGeom>
            <a:solidFill>
              <a:schemeClr val="accent3"/>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83" name="Google Shape;253;p19"/>
            <p:cNvSpPr/>
            <p:nvPr/>
          </p:nvSpPr>
          <p:spPr>
            <a:xfrm>
              <a:off x="4023490" y="0"/>
              <a:ext cx="1968000" cy="584700"/>
            </a:xfrm>
            <a:prstGeom prst="chevron">
              <a:avLst>
                <a:gd name="adj" fmla="val 50000"/>
              </a:avLst>
            </a:prstGeom>
            <a:solidFill>
              <a:schemeClr val="accent3"/>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84" name="Google Shape;254;p19"/>
            <p:cNvSpPr txBox="1"/>
            <p:nvPr/>
          </p:nvSpPr>
          <p:spPr>
            <a:xfrm>
              <a:off x="4261955" y="0"/>
              <a:ext cx="1437300" cy="584700"/>
            </a:xfrm>
            <a:prstGeom prst="rect">
              <a:avLst/>
            </a:prstGeom>
            <a:solidFill>
              <a:schemeClr val="accent3"/>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85" name="Google Shape;255;p19"/>
            <p:cNvSpPr/>
            <p:nvPr/>
          </p:nvSpPr>
          <p:spPr>
            <a:xfrm>
              <a:off x="5597962" y="0"/>
              <a:ext cx="24675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86" name="Google Shape;256;p19"/>
            <p:cNvSpPr txBox="1"/>
            <p:nvPr/>
          </p:nvSpPr>
          <p:spPr>
            <a:xfrm>
              <a:off x="5872496" y="-19950"/>
              <a:ext cx="1841700" cy="584700"/>
            </a:xfrm>
            <a:prstGeom prst="rect">
              <a:avLst/>
            </a:prstGeom>
            <a:solidFill>
              <a:schemeClr val="accent6">
                <a:lumMod val="60000"/>
                <a:lumOff val="40000"/>
              </a:schemeClr>
            </a:solidFill>
            <a:ln>
              <a:solidFill>
                <a:schemeClr val="accent6">
                  <a:lumMod val="60000"/>
                  <a:lumOff val="40000"/>
                </a:schemeClr>
              </a:solid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87"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88"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5</a:t>
              </a:r>
              <a:r>
                <a:rPr lang="fr-FR" sz="1700" b="1" i="0" u="none" strike="noStrike" cap="none">
                  <a:solidFill>
                    <a:schemeClr val="lt1"/>
                  </a:solidFill>
                </a:rPr>
                <a:t>.Conclusion et Perspectives</a:t>
              </a:r>
              <a:endParaRPr sz="1400" b="1" i="0" u="none" strike="noStrike" cap="none">
                <a:solidFill>
                  <a:schemeClr val="lt1"/>
                </a:solidFill>
              </a:endParaRPr>
            </a:p>
          </p:txBody>
        </p:sp>
      </p:grpSp>
      <p:sp>
        <p:nvSpPr>
          <p:cNvPr id="89" name="object 5"/>
          <p:cNvSpPr/>
          <p:nvPr/>
        </p:nvSpPr>
        <p:spPr>
          <a:xfrm>
            <a:off x="68379"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pic>
        <p:nvPicPr>
          <p:cNvPr id="4" name="Image 3">
            <a:extLst>
              <a:ext uri="{FF2B5EF4-FFF2-40B4-BE49-F238E27FC236}">
                <a16:creationId xmlns:a16="http://schemas.microsoft.com/office/drawing/2014/main" id="{B4B6104D-9CA1-4AF8-8F14-85392EE54C40}"/>
              </a:ext>
            </a:extLst>
          </p:cNvPr>
          <p:cNvPicPr>
            <a:picLocks noChangeAspect="1"/>
          </p:cNvPicPr>
          <p:nvPr/>
        </p:nvPicPr>
        <p:blipFill>
          <a:blip r:embed="rId3"/>
          <a:stretch>
            <a:fillRect/>
          </a:stretch>
        </p:blipFill>
        <p:spPr>
          <a:xfrm>
            <a:off x="2910543" y="1795957"/>
            <a:ext cx="6486525" cy="4200525"/>
          </a:xfrm>
          <a:prstGeom prst="rect">
            <a:avLst/>
          </a:prstGeom>
        </p:spPr>
      </p:pic>
      <p:sp>
        <p:nvSpPr>
          <p:cNvPr id="16" name="Espace réservé du numéro de diapositive 1">
            <a:extLst>
              <a:ext uri="{FF2B5EF4-FFF2-40B4-BE49-F238E27FC236}">
                <a16:creationId xmlns:a16="http://schemas.microsoft.com/office/drawing/2014/main" id="{721F0330-3A3C-496A-ABD5-9B635928191D}"/>
              </a:ext>
            </a:extLst>
          </p:cNvPr>
          <p:cNvSpPr>
            <a:spLocks noGrp="1"/>
          </p:cNvSpPr>
          <p:nvPr>
            <p:ph type="sldNum" idx="12"/>
          </p:nvPr>
        </p:nvSpPr>
        <p:spPr>
          <a:xfrm>
            <a:off x="11633200" y="6336030"/>
            <a:ext cx="401320" cy="365125"/>
          </a:xfrm>
        </p:spPr>
        <p:txBody>
          <a:bodyPr/>
          <a:lstStyle/>
          <a:p>
            <a:pPr marL="0" lvl="0" indent="0" algn="r" rtl="0">
              <a:spcBef>
                <a:spcPts val="0"/>
              </a:spcBef>
              <a:spcAft>
                <a:spcPts val="0"/>
              </a:spcAft>
              <a:buNone/>
            </a:pPr>
            <a:r>
              <a:rPr lang="fr-FR" dirty="0"/>
              <a:t>27</a:t>
            </a:r>
          </a:p>
        </p:txBody>
      </p:sp>
    </p:spTree>
    <p:extLst>
      <p:ext uri="{BB962C8B-B14F-4D97-AF65-F5344CB8AC3E}">
        <p14:creationId xmlns:p14="http://schemas.microsoft.com/office/powerpoint/2010/main" val="3872035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Google Shape;452;p27"/>
          <p:cNvSpPr txBox="1"/>
          <p:nvPr/>
        </p:nvSpPr>
        <p:spPr>
          <a:xfrm>
            <a:off x="271588" y="1183273"/>
            <a:ext cx="7056008" cy="492412"/>
          </a:xfrm>
          <a:prstGeom prst="rect">
            <a:avLst/>
          </a:prstGeom>
          <a:noFill/>
          <a:ln>
            <a:noFill/>
          </a:ln>
        </p:spPr>
        <p:txBody>
          <a:bodyPr spcFirstLastPara="1" wrap="square" lIns="91425" tIns="91425" rIns="91425" bIns="91425" anchor="t" anchorCtr="0">
            <a:spAutoFit/>
          </a:bodyPr>
          <a:lstStyle/>
          <a:p>
            <a:pPr marL="101600" lvl="0">
              <a:buClr>
                <a:srgbClr val="ED8945"/>
              </a:buClr>
              <a:buSzPts val="2000"/>
            </a:pPr>
            <a:r>
              <a:rPr lang="fr-FR" sz="2000" b="1" dirty="0">
                <a:solidFill>
                  <a:schemeClr val="accent6">
                    <a:lumMod val="60000"/>
                    <a:lumOff val="40000"/>
                  </a:schemeClr>
                </a:solidFill>
              </a:rPr>
              <a:t>Environnement logiciel  </a:t>
            </a:r>
          </a:p>
        </p:txBody>
      </p:sp>
      <p:grpSp>
        <p:nvGrpSpPr>
          <p:cNvPr id="51" name="Google Shape;248;p19"/>
          <p:cNvGrpSpPr/>
          <p:nvPr/>
        </p:nvGrpSpPr>
        <p:grpSpPr>
          <a:xfrm>
            <a:off x="84480" y="275587"/>
            <a:ext cx="10365904" cy="650938"/>
            <a:chOff x="-43152" y="-19950"/>
            <a:chExt cx="10076703" cy="650938"/>
          </a:xfrm>
        </p:grpSpPr>
        <p:sp>
          <p:nvSpPr>
            <p:cNvPr id="52" name="Google Shape;250;p19"/>
            <p:cNvSpPr txBox="1"/>
            <p:nvPr/>
          </p:nvSpPr>
          <p:spPr>
            <a:xfrm>
              <a:off x="-43152" y="6652"/>
              <a:ext cx="2167800" cy="584700"/>
            </a:xfrm>
            <a:prstGeom prst="rect">
              <a:avLst/>
            </a:prstGeom>
            <a:solidFill>
              <a:schemeClr val="accent3"/>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53" name="Google Shape;251;p19"/>
            <p:cNvSpPr/>
            <p:nvPr/>
          </p:nvSpPr>
          <p:spPr>
            <a:xfrm>
              <a:off x="1778963" y="0"/>
              <a:ext cx="2638200" cy="584700"/>
            </a:xfrm>
            <a:prstGeom prst="chevron">
              <a:avLst>
                <a:gd name="adj" fmla="val 50000"/>
              </a:avLst>
            </a:prstGeom>
            <a:solidFill>
              <a:schemeClr val="accent3"/>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54" name="Google Shape;252;p19"/>
            <p:cNvSpPr txBox="1"/>
            <p:nvPr/>
          </p:nvSpPr>
          <p:spPr>
            <a:xfrm>
              <a:off x="2071350" y="0"/>
              <a:ext cx="2053500" cy="584700"/>
            </a:xfrm>
            <a:prstGeom prst="rect">
              <a:avLst/>
            </a:prstGeom>
            <a:solidFill>
              <a:schemeClr val="accent3"/>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55" name="Google Shape;253;p19"/>
            <p:cNvSpPr/>
            <p:nvPr/>
          </p:nvSpPr>
          <p:spPr>
            <a:xfrm>
              <a:off x="4023490" y="0"/>
              <a:ext cx="1968000" cy="584700"/>
            </a:xfrm>
            <a:prstGeom prst="chevron">
              <a:avLst>
                <a:gd name="adj" fmla="val 50000"/>
              </a:avLst>
            </a:prstGeom>
            <a:solidFill>
              <a:schemeClr val="accent3"/>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56" name="Google Shape;254;p19"/>
            <p:cNvSpPr txBox="1"/>
            <p:nvPr/>
          </p:nvSpPr>
          <p:spPr>
            <a:xfrm>
              <a:off x="4261955" y="0"/>
              <a:ext cx="1437300" cy="584700"/>
            </a:xfrm>
            <a:prstGeom prst="rect">
              <a:avLst/>
            </a:prstGeom>
            <a:solidFill>
              <a:schemeClr val="accent3"/>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57" name="Google Shape;255;p19"/>
            <p:cNvSpPr/>
            <p:nvPr/>
          </p:nvSpPr>
          <p:spPr>
            <a:xfrm>
              <a:off x="5597962" y="0"/>
              <a:ext cx="2467500" cy="584700"/>
            </a:xfrm>
            <a:prstGeom prst="chevron">
              <a:avLst>
                <a:gd name="adj" fmla="val 50000"/>
              </a:avLst>
            </a:prstGeom>
            <a:solidFill>
              <a:schemeClr val="accent6">
                <a:lumMod val="60000"/>
                <a:lumOff val="40000"/>
              </a:schemeClr>
            </a:solidFill>
            <a:ln>
              <a:solidFill>
                <a:schemeClr val="accent6">
                  <a:lumMod val="60000"/>
                  <a:lumOff val="40000"/>
                </a:schemeClr>
              </a:solid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58" name="Google Shape;256;p19"/>
            <p:cNvSpPr txBox="1"/>
            <p:nvPr/>
          </p:nvSpPr>
          <p:spPr>
            <a:xfrm>
              <a:off x="5872496" y="-19950"/>
              <a:ext cx="18417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59"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60"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5</a:t>
              </a:r>
              <a:r>
                <a:rPr lang="fr-FR" sz="1700" b="1" i="0" u="none" strike="noStrike" cap="none">
                  <a:solidFill>
                    <a:schemeClr val="lt1"/>
                  </a:solidFill>
                </a:rPr>
                <a:t>.Conclusion et Perspectives</a:t>
              </a:r>
              <a:endParaRPr sz="1400" b="1" i="0" u="none" strike="noStrike" cap="none">
                <a:solidFill>
                  <a:schemeClr val="lt1"/>
                </a:solidFill>
              </a:endParaRPr>
            </a:p>
          </p:txBody>
        </p:sp>
      </p:grpSp>
      <p:sp>
        <p:nvSpPr>
          <p:cNvPr id="61" name="object 5"/>
          <p:cNvSpPr/>
          <p:nvPr/>
        </p:nvSpPr>
        <p:spPr>
          <a:xfrm>
            <a:off x="78107"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pic>
        <p:nvPicPr>
          <p:cNvPr id="4" name="Image 3">
            <a:extLst>
              <a:ext uri="{FF2B5EF4-FFF2-40B4-BE49-F238E27FC236}">
                <a16:creationId xmlns:a16="http://schemas.microsoft.com/office/drawing/2014/main" id="{A9AC7777-D14C-44B6-960A-05F317795EA8}"/>
              </a:ext>
            </a:extLst>
          </p:cNvPr>
          <p:cNvPicPr>
            <a:picLocks noChangeAspect="1"/>
          </p:cNvPicPr>
          <p:nvPr/>
        </p:nvPicPr>
        <p:blipFill>
          <a:blip r:embed="rId3"/>
          <a:stretch>
            <a:fillRect/>
          </a:stretch>
        </p:blipFill>
        <p:spPr>
          <a:xfrm>
            <a:off x="1221135" y="3258644"/>
            <a:ext cx="1236410" cy="891594"/>
          </a:xfrm>
          <a:prstGeom prst="rect">
            <a:avLst/>
          </a:prstGeom>
        </p:spPr>
      </p:pic>
      <p:pic>
        <p:nvPicPr>
          <p:cNvPr id="12" name="Image 11">
            <a:extLst>
              <a:ext uri="{FF2B5EF4-FFF2-40B4-BE49-F238E27FC236}">
                <a16:creationId xmlns:a16="http://schemas.microsoft.com/office/drawing/2014/main" id="{F9D5E6BC-56F1-499A-A32E-18A478C5CDD5}"/>
              </a:ext>
            </a:extLst>
          </p:cNvPr>
          <p:cNvPicPr>
            <a:picLocks noChangeAspect="1"/>
          </p:cNvPicPr>
          <p:nvPr/>
        </p:nvPicPr>
        <p:blipFill>
          <a:blip r:embed="rId4"/>
          <a:stretch>
            <a:fillRect/>
          </a:stretch>
        </p:blipFill>
        <p:spPr>
          <a:xfrm>
            <a:off x="3601568" y="3329484"/>
            <a:ext cx="839661" cy="839661"/>
          </a:xfrm>
          <a:prstGeom prst="rect">
            <a:avLst/>
          </a:prstGeom>
        </p:spPr>
      </p:pic>
      <p:pic>
        <p:nvPicPr>
          <p:cNvPr id="16" name="Image 15">
            <a:extLst>
              <a:ext uri="{FF2B5EF4-FFF2-40B4-BE49-F238E27FC236}">
                <a16:creationId xmlns:a16="http://schemas.microsoft.com/office/drawing/2014/main" id="{84ED3E4B-047C-4EC7-BE15-4C613344B2D5}"/>
              </a:ext>
            </a:extLst>
          </p:cNvPr>
          <p:cNvPicPr>
            <a:picLocks noChangeAspect="1"/>
          </p:cNvPicPr>
          <p:nvPr/>
        </p:nvPicPr>
        <p:blipFill>
          <a:blip r:embed="rId5"/>
          <a:stretch>
            <a:fillRect/>
          </a:stretch>
        </p:blipFill>
        <p:spPr>
          <a:xfrm>
            <a:off x="5320384" y="3323754"/>
            <a:ext cx="851120" cy="851120"/>
          </a:xfrm>
          <a:prstGeom prst="rect">
            <a:avLst/>
          </a:prstGeom>
        </p:spPr>
      </p:pic>
      <p:pic>
        <p:nvPicPr>
          <p:cNvPr id="18" name="Image 17">
            <a:extLst>
              <a:ext uri="{FF2B5EF4-FFF2-40B4-BE49-F238E27FC236}">
                <a16:creationId xmlns:a16="http://schemas.microsoft.com/office/drawing/2014/main" id="{9937C43E-4719-4FA2-AE25-E15169671C86}"/>
              </a:ext>
            </a:extLst>
          </p:cNvPr>
          <p:cNvPicPr>
            <a:picLocks noChangeAspect="1"/>
          </p:cNvPicPr>
          <p:nvPr/>
        </p:nvPicPr>
        <p:blipFill>
          <a:blip r:embed="rId6"/>
          <a:stretch>
            <a:fillRect/>
          </a:stretch>
        </p:blipFill>
        <p:spPr>
          <a:xfrm>
            <a:off x="9521553" y="3557226"/>
            <a:ext cx="2105319" cy="495369"/>
          </a:xfrm>
          <a:prstGeom prst="rect">
            <a:avLst/>
          </a:prstGeom>
        </p:spPr>
      </p:pic>
      <p:sp>
        <p:nvSpPr>
          <p:cNvPr id="21" name="ZoneTexte 20">
            <a:extLst>
              <a:ext uri="{FF2B5EF4-FFF2-40B4-BE49-F238E27FC236}">
                <a16:creationId xmlns:a16="http://schemas.microsoft.com/office/drawing/2014/main" id="{31931E34-E080-4D2B-A38D-C956CB9BEACE}"/>
              </a:ext>
            </a:extLst>
          </p:cNvPr>
          <p:cNvSpPr txBox="1"/>
          <p:nvPr/>
        </p:nvSpPr>
        <p:spPr>
          <a:xfrm>
            <a:off x="1112502" y="4344885"/>
            <a:ext cx="1905000" cy="307777"/>
          </a:xfrm>
          <a:prstGeom prst="rect">
            <a:avLst/>
          </a:prstGeom>
          <a:noFill/>
        </p:spPr>
        <p:txBody>
          <a:bodyPr wrap="square" rtlCol="0">
            <a:spAutoFit/>
          </a:bodyPr>
          <a:lstStyle/>
          <a:p>
            <a:r>
              <a:rPr lang="fr-FR" b="1" dirty="0">
                <a:solidFill>
                  <a:schemeClr val="accent1"/>
                </a:solidFill>
              </a:rPr>
              <a:t>Visual Studio Code</a:t>
            </a:r>
          </a:p>
        </p:txBody>
      </p:sp>
      <p:sp>
        <p:nvSpPr>
          <p:cNvPr id="22" name="ZoneTexte 21">
            <a:extLst>
              <a:ext uri="{FF2B5EF4-FFF2-40B4-BE49-F238E27FC236}">
                <a16:creationId xmlns:a16="http://schemas.microsoft.com/office/drawing/2014/main" id="{B1D583E7-0264-462F-B175-7EC56C79F5B2}"/>
              </a:ext>
            </a:extLst>
          </p:cNvPr>
          <p:cNvSpPr txBox="1"/>
          <p:nvPr/>
        </p:nvSpPr>
        <p:spPr>
          <a:xfrm>
            <a:off x="3535567" y="4344887"/>
            <a:ext cx="1811323" cy="307777"/>
          </a:xfrm>
          <a:prstGeom prst="rect">
            <a:avLst/>
          </a:prstGeom>
          <a:noFill/>
        </p:spPr>
        <p:txBody>
          <a:bodyPr wrap="square" rtlCol="0">
            <a:spAutoFit/>
          </a:bodyPr>
          <a:lstStyle/>
          <a:p>
            <a:r>
              <a:rPr lang="fr-FR" b="1" dirty="0">
                <a:solidFill>
                  <a:schemeClr val="accent6"/>
                </a:solidFill>
              </a:rPr>
              <a:t>Node.js</a:t>
            </a:r>
          </a:p>
        </p:txBody>
      </p:sp>
      <p:sp>
        <p:nvSpPr>
          <p:cNvPr id="23" name="ZoneTexte 22">
            <a:extLst>
              <a:ext uri="{FF2B5EF4-FFF2-40B4-BE49-F238E27FC236}">
                <a16:creationId xmlns:a16="http://schemas.microsoft.com/office/drawing/2014/main" id="{1F91DF59-35D3-4293-9D20-0303851056C8}"/>
              </a:ext>
            </a:extLst>
          </p:cNvPr>
          <p:cNvSpPr txBox="1"/>
          <p:nvPr/>
        </p:nvSpPr>
        <p:spPr>
          <a:xfrm>
            <a:off x="5252418" y="4344886"/>
            <a:ext cx="1565037" cy="307777"/>
          </a:xfrm>
          <a:prstGeom prst="rect">
            <a:avLst/>
          </a:prstGeom>
          <a:noFill/>
        </p:spPr>
        <p:txBody>
          <a:bodyPr wrap="square" rtlCol="0">
            <a:spAutoFit/>
          </a:bodyPr>
          <a:lstStyle/>
          <a:p>
            <a:r>
              <a:rPr lang="fr-FR" b="1" dirty="0"/>
              <a:t>Express.js</a:t>
            </a:r>
          </a:p>
        </p:txBody>
      </p:sp>
      <p:sp>
        <p:nvSpPr>
          <p:cNvPr id="24" name="ZoneTexte 23">
            <a:extLst>
              <a:ext uri="{FF2B5EF4-FFF2-40B4-BE49-F238E27FC236}">
                <a16:creationId xmlns:a16="http://schemas.microsoft.com/office/drawing/2014/main" id="{E63B21C9-CC73-490E-85B7-8339E203A643}"/>
              </a:ext>
            </a:extLst>
          </p:cNvPr>
          <p:cNvSpPr txBox="1"/>
          <p:nvPr/>
        </p:nvSpPr>
        <p:spPr>
          <a:xfrm>
            <a:off x="9885870" y="4344884"/>
            <a:ext cx="2387255" cy="307777"/>
          </a:xfrm>
          <a:prstGeom prst="rect">
            <a:avLst/>
          </a:prstGeom>
          <a:noFill/>
        </p:spPr>
        <p:txBody>
          <a:bodyPr wrap="square" rtlCol="0">
            <a:spAutoFit/>
          </a:bodyPr>
          <a:lstStyle/>
          <a:p>
            <a:r>
              <a:rPr lang="fr-FR" b="1" dirty="0">
                <a:solidFill>
                  <a:schemeClr val="accent6">
                    <a:lumMod val="75000"/>
                  </a:schemeClr>
                </a:solidFill>
              </a:rPr>
              <a:t>MongoDB Atlas</a:t>
            </a:r>
          </a:p>
        </p:txBody>
      </p:sp>
      <p:sp>
        <p:nvSpPr>
          <p:cNvPr id="25" name="Espace réservé du numéro de diapositive 1">
            <a:extLst>
              <a:ext uri="{FF2B5EF4-FFF2-40B4-BE49-F238E27FC236}">
                <a16:creationId xmlns:a16="http://schemas.microsoft.com/office/drawing/2014/main" id="{0F4BBA14-ABCE-4ADA-BDA0-CB8CCD9685D2}"/>
              </a:ext>
            </a:extLst>
          </p:cNvPr>
          <p:cNvSpPr>
            <a:spLocks noGrp="1"/>
          </p:cNvSpPr>
          <p:nvPr>
            <p:ph type="sldNum" idx="12"/>
          </p:nvPr>
        </p:nvSpPr>
        <p:spPr>
          <a:xfrm>
            <a:off x="11633200" y="6336030"/>
            <a:ext cx="401320" cy="365125"/>
          </a:xfrm>
        </p:spPr>
        <p:txBody>
          <a:bodyPr/>
          <a:lstStyle/>
          <a:p>
            <a:pPr marL="0" lvl="0" indent="0" algn="r" rtl="0">
              <a:spcBef>
                <a:spcPts val="0"/>
              </a:spcBef>
              <a:spcAft>
                <a:spcPts val="0"/>
              </a:spcAft>
              <a:buNone/>
            </a:pPr>
            <a:r>
              <a:rPr lang="fr-FR" dirty="0"/>
              <a:t>28</a:t>
            </a:r>
          </a:p>
        </p:txBody>
      </p:sp>
      <p:pic>
        <p:nvPicPr>
          <p:cNvPr id="3" name="Image 2">
            <a:extLst>
              <a:ext uri="{FF2B5EF4-FFF2-40B4-BE49-F238E27FC236}">
                <a16:creationId xmlns:a16="http://schemas.microsoft.com/office/drawing/2014/main" id="{A0732B59-A6FD-440D-9883-3F8B719F32CC}"/>
              </a:ext>
            </a:extLst>
          </p:cNvPr>
          <p:cNvPicPr>
            <a:picLocks noChangeAspect="1"/>
          </p:cNvPicPr>
          <p:nvPr/>
        </p:nvPicPr>
        <p:blipFill>
          <a:blip r:embed="rId7"/>
          <a:stretch>
            <a:fillRect/>
          </a:stretch>
        </p:blipFill>
        <p:spPr>
          <a:xfrm>
            <a:off x="7195101" y="3428999"/>
            <a:ext cx="1230710" cy="774094"/>
          </a:xfrm>
          <a:prstGeom prst="rect">
            <a:avLst/>
          </a:prstGeom>
        </p:spPr>
      </p:pic>
      <p:sp>
        <p:nvSpPr>
          <p:cNvPr id="5" name="ZoneTexte 4">
            <a:extLst>
              <a:ext uri="{FF2B5EF4-FFF2-40B4-BE49-F238E27FC236}">
                <a16:creationId xmlns:a16="http://schemas.microsoft.com/office/drawing/2014/main" id="{B55DAD7F-4DE0-4A02-98AD-E7221EA7CA2C}"/>
              </a:ext>
            </a:extLst>
          </p:cNvPr>
          <p:cNvSpPr txBox="1"/>
          <p:nvPr/>
        </p:nvSpPr>
        <p:spPr>
          <a:xfrm>
            <a:off x="7327596" y="4344884"/>
            <a:ext cx="1469571" cy="315686"/>
          </a:xfrm>
          <a:prstGeom prst="rect">
            <a:avLst/>
          </a:prstGeom>
          <a:noFill/>
        </p:spPr>
        <p:txBody>
          <a:bodyPr wrap="square" rtlCol="0">
            <a:spAutoFit/>
          </a:bodyPr>
          <a:lstStyle/>
          <a:p>
            <a:r>
              <a:rPr lang="fr-FR" b="1" dirty="0">
                <a:solidFill>
                  <a:srgbClr val="61D6FF"/>
                </a:solidFill>
              </a:rPr>
              <a:t>React.js</a:t>
            </a:r>
          </a:p>
        </p:txBody>
      </p:sp>
    </p:spTree>
    <p:extLst>
      <p:ext uri="{BB962C8B-B14F-4D97-AF65-F5344CB8AC3E}">
        <p14:creationId xmlns:p14="http://schemas.microsoft.com/office/powerpoint/2010/main" val="3803163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anim calcmode="lin" valueType="num">
                                      <p:cBhvr>
                                        <p:cTn id="13" dur="1000" fill="hold"/>
                                        <p:tgtEl>
                                          <p:spTgt spid="21"/>
                                        </p:tgtEl>
                                        <p:attrNameLst>
                                          <p:attrName>ppt_x</p:attrName>
                                        </p:attrNameLst>
                                      </p:cBhvr>
                                      <p:tavLst>
                                        <p:tav tm="0">
                                          <p:val>
                                            <p:strVal val="#ppt_x"/>
                                          </p:val>
                                        </p:tav>
                                        <p:tav tm="100000">
                                          <p:val>
                                            <p:strVal val="#ppt_x"/>
                                          </p:val>
                                        </p:tav>
                                      </p:tavLst>
                                    </p:anim>
                                    <p:anim calcmode="lin" valueType="num">
                                      <p:cBhvr>
                                        <p:cTn id="1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1000"/>
                                        <p:tgtEl>
                                          <p:spTgt spid="22"/>
                                        </p:tgtEl>
                                      </p:cBhvr>
                                    </p:animEffect>
                                    <p:anim calcmode="lin" valueType="num">
                                      <p:cBhvr>
                                        <p:cTn id="25" dur="1000" fill="hold"/>
                                        <p:tgtEl>
                                          <p:spTgt spid="22"/>
                                        </p:tgtEl>
                                        <p:attrNameLst>
                                          <p:attrName>ppt_x</p:attrName>
                                        </p:attrNameLst>
                                      </p:cBhvr>
                                      <p:tavLst>
                                        <p:tav tm="0">
                                          <p:val>
                                            <p:strVal val="#ppt_x"/>
                                          </p:val>
                                        </p:tav>
                                        <p:tav tm="100000">
                                          <p:val>
                                            <p:strVal val="#ppt_x"/>
                                          </p:val>
                                        </p:tav>
                                      </p:tavLst>
                                    </p:anim>
                                    <p:anim calcmode="lin" valueType="num">
                                      <p:cBhvr>
                                        <p:cTn id="2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1000"/>
                                        <p:tgtEl>
                                          <p:spTgt spid="16"/>
                                        </p:tgtEl>
                                      </p:cBhvr>
                                    </p:animEffect>
                                    <p:anim calcmode="lin" valueType="num">
                                      <p:cBhvr>
                                        <p:cTn id="32" dur="1000" fill="hold"/>
                                        <p:tgtEl>
                                          <p:spTgt spid="16"/>
                                        </p:tgtEl>
                                        <p:attrNameLst>
                                          <p:attrName>ppt_x</p:attrName>
                                        </p:attrNameLst>
                                      </p:cBhvr>
                                      <p:tavLst>
                                        <p:tav tm="0">
                                          <p:val>
                                            <p:strVal val="#ppt_x"/>
                                          </p:val>
                                        </p:tav>
                                        <p:tav tm="100000">
                                          <p:val>
                                            <p:strVal val="#ppt_x"/>
                                          </p:val>
                                        </p:tav>
                                      </p:tavLst>
                                    </p:anim>
                                    <p:anim calcmode="lin" valueType="num">
                                      <p:cBhvr>
                                        <p:cTn id="33" dur="1000" fill="hold"/>
                                        <p:tgtEl>
                                          <p:spTgt spid="16"/>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1000"/>
                                        <p:tgtEl>
                                          <p:spTgt spid="23"/>
                                        </p:tgtEl>
                                      </p:cBhvr>
                                    </p:animEffect>
                                    <p:anim calcmode="lin" valueType="num">
                                      <p:cBhvr>
                                        <p:cTn id="37" dur="1000" fill="hold"/>
                                        <p:tgtEl>
                                          <p:spTgt spid="23"/>
                                        </p:tgtEl>
                                        <p:attrNameLst>
                                          <p:attrName>ppt_x</p:attrName>
                                        </p:attrNameLst>
                                      </p:cBhvr>
                                      <p:tavLst>
                                        <p:tav tm="0">
                                          <p:val>
                                            <p:strVal val="#ppt_x"/>
                                          </p:val>
                                        </p:tav>
                                        <p:tav tm="100000">
                                          <p:val>
                                            <p:strVal val="#ppt_x"/>
                                          </p:val>
                                        </p:tav>
                                      </p:tavLst>
                                    </p:anim>
                                    <p:anim calcmode="lin" valueType="num">
                                      <p:cBhvr>
                                        <p:cTn id="38"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1000"/>
                                        <p:tgtEl>
                                          <p:spTgt spid="3"/>
                                        </p:tgtEl>
                                      </p:cBhvr>
                                    </p:animEffect>
                                    <p:anim calcmode="lin" valueType="num">
                                      <p:cBhvr>
                                        <p:cTn id="44" dur="1000" fill="hold"/>
                                        <p:tgtEl>
                                          <p:spTgt spid="3"/>
                                        </p:tgtEl>
                                        <p:attrNameLst>
                                          <p:attrName>ppt_x</p:attrName>
                                        </p:attrNameLst>
                                      </p:cBhvr>
                                      <p:tavLst>
                                        <p:tav tm="0">
                                          <p:val>
                                            <p:strVal val="#ppt_x"/>
                                          </p:val>
                                        </p:tav>
                                        <p:tav tm="100000">
                                          <p:val>
                                            <p:strVal val="#ppt_x"/>
                                          </p:val>
                                        </p:tav>
                                      </p:tavLst>
                                    </p:anim>
                                    <p:anim calcmode="lin" valueType="num">
                                      <p:cBhvr>
                                        <p:cTn id="45" dur="1000" fill="hold"/>
                                        <p:tgtEl>
                                          <p:spTgt spid="3"/>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1000"/>
                                        <p:tgtEl>
                                          <p:spTgt spid="5"/>
                                        </p:tgtEl>
                                      </p:cBhvr>
                                    </p:animEffect>
                                    <p:anim calcmode="lin" valueType="num">
                                      <p:cBhvr>
                                        <p:cTn id="49" dur="1000" fill="hold"/>
                                        <p:tgtEl>
                                          <p:spTgt spid="5"/>
                                        </p:tgtEl>
                                        <p:attrNameLst>
                                          <p:attrName>ppt_x</p:attrName>
                                        </p:attrNameLst>
                                      </p:cBhvr>
                                      <p:tavLst>
                                        <p:tav tm="0">
                                          <p:val>
                                            <p:strVal val="#ppt_x"/>
                                          </p:val>
                                        </p:tav>
                                        <p:tav tm="100000">
                                          <p:val>
                                            <p:strVal val="#ppt_x"/>
                                          </p:val>
                                        </p:tav>
                                      </p:tavLst>
                                    </p:anim>
                                    <p:anim calcmode="lin" valueType="num">
                                      <p:cBhvr>
                                        <p:cTn id="5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1000"/>
                                        <p:tgtEl>
                                          <p:spTgt spid="18"/>
                                        </p:tgtEl>
                                      </p:cBhvr>
                                    </p:animEffect>
                                    <p:anim calcmode="lin" valueType="num">
                                      <p:cBhvr>
                                        <p:cTn id="56" dur="1000" fill="hold"/>
                                        <p:tgtEl>
                                          <p:spTgt spid="18"/>
                                        </p:tgtEl>
                                        <p:attrNameLst>
                                          <p:attrName>ppt_x</p:attrName>
                                        </p:attrNameLst>
                                      </p:cBhvr>
                                      <p:tavLst>
                                        <p:tav tm="0">
                                          <p:val>
                                            <p:strVal val="#ppt_x"/>
                                          </p:val>
                                        </p:tav>
                                        <p:tav tm="100000">
                                          <p:val>
                                            <p:strVal val="#ppt_x"/>
                                          </p:val>
                                        </p:tav>
                                      </p:tavLst>
                                    </p:anim>
                                    <p:anim calcmode="lin" valueType="num">
                                      <p:cBhvr>
                                        <p:cTn id="57" dur="1000" fill="hold"/>
                                        <p:tgtEl>
                                          <p:spTgt spid="18"/>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1000"/>
                                        <p:tgtEl>
                                          <p:spTgt spid="24"/>
                                        </p:tgtEl>
                                      </p:cBhvr>
                                    </p:animEffect>
                                    <p:anim calcmode="lin" valueType="num">
                                      <p:cBhvr>
                                        <p:cTn id="61" dur="1000" fill="hold"/>
                                        <p:tgtEl>
                                          <p:spTgt spid="24"/>
                                        </p:tgtEl>
                                        <p:attrNameLst>
                                          <p:attrName>ppt_x</p:attrName>
                                        </p:attrNameLst>
                                      </p:cBhvr>
                                      <p:tavLst>
                                        <p:tav tm="0">
                                          <p:val>
                                            <p:strVal val="#ppt_x"/>
                                          </p:val>
                                        </p:tav>
                                        <p:tav tm="100000">
                                          <p:val>
                                            <p:strVal val="#ppt_x"/>
                                          </p:val>
                                        </p:tav>
                                      </p:tavLst>
                                    </p:anim>
                                    <p:anim calcmode="lin" valueType="num">
                                      <p:cBhvr>
                                        <p:cTn id="62"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grpSp>
        <p:nvGrpSpPr>
          <p:cNvPr id="15" name="Google Shape;248;p19"/>
          <p:cNvGrpSpPr/>
          <p:nvPr/>
        </p:nvGrpSpPr>
        <p:grpSpPr>
          <a:xfrm>
            <a:off x="94328" y="269603"/>
            <a:ext cx="10365904" cy="650938"/>
            <a:chOff x="-43152" y="-19950"/>
            <a:chExt cx="10076703" cy="650938"/>
          </a:xfrm>
        </p:grpSpPr>
        <p:sp>
          <p:nvSpPr>
            <p:cNvPr id="16" name="Google Shape;250;p19"/>
            <p:cNvSpPr txBox="1"/>
            <p:nvPr/>
          </p:nvSpPr>
          <p:spPr>
            <a:xfrm>
              <a:off x="-43152" y="6652"/>
              <a:ext cx="2167800" cy="584700"/>
            </a:xfrm>
            <a:prstGeom prst="rect">
              <a:avLst/>
            </a:prstGeom>
            <a:solidFill>
              <a:schemeClr val="accent3"/>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17" name="Google Shape;251;p19"/>
            <p:cNvSpPr/>
            <p:nvPr/>
          </p:nvSpPr>
          <p:spPr>
            <a:xfrm>
              <a:off x="1778963" y="0"/>
              <a:ext cx="2638200" cy="584700"/>
            </a:xfrm>
            <a:prstGeom prst="chevron">
              <a:avLst>
                <a:gd name="adj" fmla="val 50000"/>
              </a:avLst>
            </a:prstGeom>
            <a:solidFill>
              <a:schemeClr val="accent3"/>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18" name="Google Shape;252;p19"/>
            <p:cNvSpPr txBox="1"/>
            <p:nvPr/>
          </p:nvSpPr>
          <p:spPr>
            <a:xfrm>
              <a:off x="2071350" y="0"/>
              <a:ext cx="2053500" cy="584700"/>
            </a:xfrm>
            <a:prstGeom prst="rect">
              <a:avLst/>
            </a:prstGeom>
            <a:solidFill>
              <a:schemeClr val="accent3"/>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19" name="Google Shape;253;p19"/>
            <p:cNvSpPr/>
            <p:nvPr/>
          </p:nvSpPr>
          <p:spPr>
            <a:xfrm>
              <a:off x="4023490" y="0"/>
              <a:ext cx="1968000" cy="584700"/>
            </a:xfrm>
            <a:prstGeom prst="chevron">
              <a:avLst>
                <a:gd name="adj" fmla="val 50000"/>
              </a:avLst>
            </a:prstGeom>
            <a:solidFill>
              <a:schemeClr val="accent3"/>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0" name="Google Shape;254;p19"/>
            <p:cNvSpPr txBox="1"/>
            <p:nvPr/>
          </p:nvSpPr>
          <p:spPr>
            <a:xfrm>
              <a:off x="4261955" y="0"/>
              <a:ext cx="1437300" cy="584700"/>
            </a:xfrm>
            <a:prstGeom prst="rect">
              <a:avLst/>
            </a:prstGeom>
            <a:solidFill>
              <a:schemeClr val="accent3"/>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21" name="Google Shape;255;p19"/>
            <p:cNvSpPr/>
            <p:nvPr/>
          </p:nvSpPr>
          <p:spPr>
            <a:xfrm>
              <a:off x="5597962" y="0"/>
              <a:ext cx="24675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2" name="Google Shape;256;p19"/>
            <p:cNvSpPr txBox="1"/>
            <p:nvPr/>
          </p:nvSpPr>
          <p:spPr>
            <a:xfrm>
              <a:off x="5872496" y="-19950"/>
              <a:ext cx="1841700" cy="584700"/>
            </a:xfrm>
            <a:prstGeom prst="rect">
              <a:avLst/>
            </a:prstGeom>
            <a:solidFill>
              <a:schemeClr val="accent6">
                <a:lumMod val="60000"/>
                <a:lumOff val="40000"/>
              </a:schemeClr>
            </a:solidFill>
            <a:ln>
              <a:solidFill>
                <a:schemeClr val="accent6">
                  <a:lumMod val="60000"/>
                  <a:lumOff val="40000"/>
                </a:schemeClr>
              </a:solid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23" name="Google Shape;257;p19"/>
            <p:cNvSpPr/>
            <p:nvPr/>
          </p:nvSpPr>
          <p:spPr>
            <a:xfrm>
              <a:off x="7566051" y="0"/>
              <a:ext cx="2467500" cy="584700"/>
            </a:xfrm>
            <a:prstGeom prst="chevron">
              <a:avLst>
                <a:gd name="adj" fmla="val 50000"/>
              </a:avLst>
            </a:prstGeom>
            <a:solidFill>
              <a:srgbClr val="AEABAB"/>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4" name="Google Shape;258;p19"/>
            <p:cNvSpPr txBox="1"/>
            <p:nvPr/>
          </p:nvSpPr>
          <p:spPr>
            <a:xfrm>
              <a:off x="7788275" y="46288"/>
              <a:ext cx="1911000" cy="584700"/>
            </a:xfrm>
            <a:prstGeom prst="rect">
              <a:avLst/>
            </a:prstGeom>
            <a:no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a:solidFill>
                    <a:schemeClr val="lt1"/>
                  </a:solidFill>
                </a:rPr>
                <a:t>5</a:t>
              </a:r>
              <a:r>
                <a:rPr lang="fr-FR" sz="1700" b="1" i="0" u="none" strike="noStrike" cap="none">
                  <a:solidFill>
                    <a:schemeClr val="lt1"/>
                  </a:solidFill>
                </a:rPr>
                <a:t>.Conclusion et Perspectives</a:t>
              </a:r>
              <a:endParaRPr sz="1400" b="1" i="0" u="none" strike="noStrike" cap="none">
                <a:solidFill>
                  <a:schemeClr val="lt1"/>
                </a:solidFill>
              </a:endParaRPr>
            </a:p>
          </p:txBody>
        </p:sp>
      </p:grpSp>
      <p:sp>
        <p:nvSpPr>
          <p:cNvPr id="25" name="object 5"/>
          <p:cNvSpPr/>
          <p:nvPr/>
        </p:nvSpPr>
        <p:spPr>
          <a:xfrm>
            <a:off x="68259"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pic>
        <p:nvPicPr>
          <p:cNvPr id="9" name="Image 8">
            <a:extLst>
              <a:ext uri="{FF2B5EF4-FFF2-40B4-BE49-F238E27FC236}">
                <a16:creationId xmlns:a16="http://schemas.microsoft.com/office/drawing/2014/main" id="{50761189-7EB6-4D4F-8294-1E281EDF29FF}"/>
              </a:ext>
            </a:extLst>
          </p:cNvPr>
          <p:cNvPicPr>
            <a:picLocks noChangeAspect="1"/>
          </p:cNvPicPr>
          <p:nvPr/>
        </p:nvPicPr>
        <p:blipFill>
          <a:blip r:embed="rId3"/>
          <a:stretch>
            <a:fillRect/>
          </a:stretch>
        </p:blipFill>
        <p:spPr>
          <a:xfrm>
            <a:off x="1747521" y="1538023"/>
            <a:ext cx="8368842" cy="4375097"/>
          </a:xfrm>
          <a:prstGeom prst="rect">
            <a:avLst/>
          </a:prstGeom>
        </p:spPr>
      </p:pic>
      <p:sp>
        <p:nvSpPr>
          <p:cNvPr id="26" name="Espace réservé du numéro de diapositive 1">
            <a:extLst>
              <a:ext uri="{FF2B5EF4-FFF2-40B4-BE49-F238E27FC236}">
                <a16:creationId xmlns:a16="http://schemas.microsoft.com/office/drawing/2014/main" id="{52479CAE-88BA-411C-B714-7E853BA615E7}"/>
              </a:ext>
            </a:extLst>
          </p:cNvPr>
          <p:cNvSpPr>
            <a:spLocks noGrp="1"/>
          </p:cNvSpPr>
          <p:nvPr>
            <p:ph type="sldNum" idx="12"/>
          </p:nvPr>
        </p:nvSpPr>
        <p:spPr>
          <a:xfrm>
            <a:off x="11633200" y="6336030"/>
            <a:ext cx="401320" cy="365125"/>
          </a:xfrm>
        </p:spPr>
        <p:txBody>
          <a:bodyPr/>
          <a:lstStyle/>
          <a:p>
            <a:pPr marL="0" lvl="0" indent="0" algn="r" rtl="0">
              <a:spcBef>
                <a:spcPts val="0"/>
              </a:spcBef>
              <a:spcAft>
                <a:spcPts val="0"/>
              </a:spcAft>
              <a:buNone/>
            </a:pPr>
            <a:r>
              <a:rPr lang="fr-FR" dirty="0"/>
              <a:t>29</a:t>
            </a:r>
          </a:p>
        </p:txBody>
      </p:sp>
    </p:spTree>
    <p:extLst>
      <p:ext uri="{BB962C8B-B14F-4D97-AF65-F5344CB8AC3E}">
        <p14:creationId xmlns:p14="http://schemas.microsoft.com/office/powerpoint/2010/main" val="3311892178"/>
      </p:ext>
    </p:extLst>
  </p:cSld>
  <p:clrMapOvr>
    <a:masterClrMapping/>
  </p:clrMapOvr>
  <mc:AlternateContent xmlns:mc="http://schemas.openxmlformats.org/markup-compatibility/2006" xmlns:p14="http://schemas.microsoft.com/office/powerpoint/2010/main">
    <mc:Choice Requires="p14">
      <p:transition spd="med">
        <p14:reveal/>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2"/>
          <p:cNvSpPr/>
          <p:nvPr/>
        </p:nvSpPr>
        <p:spPr>
          <a:xfrm>
            <a:off x="1909996" y="2725841"/>
            <a:ext cx="10190565" cy="1152313"/>
          </a:xfrm>
          <a:custGeom>
            <a:avLst/>
            <a:gdLst/>
            <a:ahLst/>
            <a:cxnLst/>
            <a:rect l="l" t="t" r="r" b="b"/>
            <a:pathLst>
              <a:path w="8507095" h="864235">
                <a:moveTo>
                  <a:pt x="8506968" y="0"/>
                </a:moveTo>
                <a:lnTo>
                  <a:pt x="0" y="0"/>
                </a:lnTo>
                <a:lnTo>
                  <a:pt x="0" y="864107"/>
                </a:lnTo>
                <a:lnTo>
                  <a:pt x="8506968" y="864107"/>
                </a:lnTo>
                <a:lnTo>
                  <a:pt x="8506968" y="0"/>
                </a:lnTo>
                <a:close/>
              </a:path>
            </a:pathLst>
          </a:custGeom>
          <a:solidFill>
            <a:schemeClr val="accent6">
              <a:lumMod val="60000"/>
              <a:lumOff val="40000"/>
            </a:schemeClr>
          </a:solidFill>
        </p:spPr>
        <p:txBody>
          <a:bodyPr wrap="square" lIns="0" tIns="0" rIns="0" bIns="0" rtlCol="0"/>
          <a:lstStyle/>
          <a:p>
            <a:endParaRPr sz="1867"/>
          </a:p>
        </p:txBody>
      </p:sp>
      <p:sp>
        <p:nvSpPr>
          <p:cNvPr id="10" name="object 5"/>
          <p:cNvSpPr/>
          <p:nvPr/>
        </p:nvSpPr>
        <p:spPr>
          <a:xfrm>
            <a:off x="143933" y="111758"/>
            <a:ext cx="11956628" cy="6664961"/>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endParaRPr sz="1867"/>
          </a:p>
        </p:txBody>
      </p:sp>
      <p:sp>
        <p:nvSpPr>
          <p:cNvPr id="13" name="object 3"/>
          <p:cNvSpPr txBox="1">
            <a:spLocks noGrp="1"/>
          </p:cNvSpPr>
          <p:nvPr>
            <p:ph type="title"/>
          </p:nvPr>
        </p:nvSpPr>
        <p:spPr>
          <a:xfrm>
            <a:off x="3456020" y="3077910"/>
            <a:ext cx="5616860" cy="878873"/>
          </a:xfrm>
          <a:prstGeom prst="rect">
            <a:avLst/>
          </a:prstGeom>
        </p:spPr>
        <p:txBody>
          <a:bodyPr vert="horz" wrap="square" lIns="0" tIns="16933" rIns="0" bIns="0" rtlCol="0">
            <a:spAutoFit/>
          </a:bodyPr>
          <a:lstStyle/>
          <a:p>
            <a:pPr>
              <a:lnSpc>
                <a:spcPct val="100000"/>
              </a:lnSpc>
              <a:buClr>
                <a:srgbClr val="000000"/>
              </a:buClr>
              <a:buSzPts val="2500"/>
            </a:pPr>
            <a:r>
              <a:rPr lang="fr-FR" sz="2800" b="1" dirty="0">
                <a:solidFill>
                  <a:schemeClr val="bg1"/>
                </a:solidFill>
                <a:latin typeface="+mj-lt"/>
              </a:rPr>
              <a:t>Conclusion et perspectives</a:t>
            </a:r>
            <a:br>
              <a:rPr lang="fr-FR" sz="2800" b="1" dirty="0">
                <a:solidFill>
                  <a:schemeClr val="bg1"/>
                </a:solidFill>
                <a:latin typeface="+mj-lt"/>
              </a:rPr>
            </a:br>
            <a:endParaRPr lang="fr-FR" sz="2800" b="1" dirty="0">
              <a:solidFill>
                <a:schemeClr val="bg1"/>
              </a:solidFill>
              <a:latin typeface="+mj-lt"/>
            </a:endParaRPr>
          </a:p>
        </p:txBody>
      </p:sp>
      <p:sp>
        <p:nvSpPr>
          <p:cNvPr id="8" name="Espace réservé du numéro de diapositive 1">
            <a:extLst>
              <a:ext uri="{FF2B5EF4-FFF2-40B4-BE49-F238E27FC236}">
                <a16:creationId xmlns:a16="http://schemas.microsoft.com/office/drawing/2014/main" id="{A54A2BA7-3C50-424A-A17F-7CF3F331BE17}"/>
              </a:ext>
            </a:extLst>
          </p:cNvPr>
          <p:cNvSpPr>
            <a:spLocks noGrp="1"/>
          </p:cNvSpPr>
          <p:nvPr>
            <p:ph type="sldNum" idx="12"/>
          </p:nvPr>
        </p:nvSpPr>
        <p:spPr>
          <a:xfrm>
            <a:off x="11536765" y="6300893"/>
            <a:ext cx="401320" cy="365125"/>
          </a:xfrm>
        </p:spPr>
        <p:txBody>
          <a:bodyPr/>
          <a:lstStyle/>
          <a:p>
            <a:pPr marL="0" lvl="0" indent="0" algn="r" rtl="0">
              <a:spcBef>
                <a:spcPts val="0"/>
              </a:spcBef>
              <a:spcAft>
                <a:spcPts val="0"/>
              </a:spcAft>
              <a:buNone/>
            </a:pPr>
            <a:r>
              <a:rPr lang="fr-FR" dirty="0"/>
              <a:t>30</a:t>
            </a:r>
          </a:p>
        </p:txBody>
      </p:sp>
    </p:spTree>
    <p:extLst>
      <p:ext uri="{BB962C8B-B14F-4D97-AF65-F5344CB8AC3E}">
        <p14:creationId xmlns:p14="http://schemas.microsoft.com/office/powerpoint/2010/main" val="2931611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oogle Shape;248;p19">
            <a:extLst>
              <a:ext uri="{FF2B5EF4-FFF2-40B4-BE49-F238E27FC236}">
                <a16:creationId xmlns:a16="http://schemas.microsoft.com/office/drawing/2014/main" id="{452799EA-4F12-4204-A528-ADCCECE75E9D}"/>
              </a:ext>
            </a:extLst>
          </p:cNvPr>
          <p:cNvGrpSpPr/>
          <p:nvPr/>
        </p:nvGrpSpPr>
        <p:grpSpPr>
          <a:xfrm>
            <a:off x="56826" y="189398"/>
            <a:ext cx="10365904" cy="611302"/>
            <a:chOff x="-43152" y="-19950"/>
            <a:chExt cx="10076703" cy="611302"/>
          </a:xfrm>
        </p:grpSpPr>
        <p:sp>
          <p:nvSpPr>
            <p:cNvPr id="7" name="Google Shape;250;p19">
              <a:extLst>
                <a:ext uri="{FF2B5EF4-FFF2-40B4-BE49-F238E27FC236}">
                  <a16:creationId xmlns:a16="http://schemas.microsoft.com/office/drawing/2014/main" id="{E66544FF-5305-4B73-B03B-7F2B6580B004}"/>
                </a:ext>
              </a:extLst>
            </p:cNvPr>
            <p:cNvSpPr txBox="1"/>
            <p:nvPr/>
          </p:nvSpPr>
          <p:spPr>
            <a:xfrm>
              <a:off x="-43152" y="6652"/>
              <a:ext cx="2167800" cy="584700"/>
            </a:xfrm>
            <a:prstGeom prst="rect">
              <a:avLst/>
            </a:prstGeom>
            <a:solidFill>
              <a:schemeClr val="accent3"/>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8" name="Google Shape;251;p19">
              <a:extLst>
                <a:ext uri="{FF2B5EF4-FFF2-40B4-BE49-F238E27FC236}">
                  <a16:creationId xmlns:a16="http://schemas.microsoft.com/office/drawing/2014/main" id="{10E2278C-BFBC-4DF7-BEA3-0192A7F0F8C9}"/>
                </a:ext>
              </a:extLst>
            </p:cNvPr>
            <p:cNvSpPr/>
            <p:nvPr/>
          </p:nvSpPr>
          <p:spPr>
            <a:xfrm>
              <a:off x="1778963" y="0"/>
              <a:ext cx="2638200" cy="584700"/>
            </a:xfrm>
            <a:prstGeom prst="chevron">
              <a:avLst>
                <a:gd name="adj" fmla="val 50000"/>
              </a:avLst>
            </a:prstGeom>
            <a:solidFill>
              <a:schemeClr val="accent3"/>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9" name="Google Shape;252;p19">
              <a:extLst>
                <a:ext uri="{FF2B5EF4-FFF2-40B4-BE49-F238E27FC236}">
                  <a16:creationId xmlns:a16="http://schemas.microsoft.com/office/drawing/2014/main" id="{8F4EA61C-1F5E-4098-A2C2-F4ABAB97685C}"/>
                </a:ext>
              </a:extLst>
            </p:cNvPr>
            <p:cNvSpPr txBox="1"/>
            <p:nvPr/>
          </p:nvSpPr>
          <p:spPr>
            <a:xfrm>
              <a:off x="2071350" y="0"/>
              <a:ext cx="2053500" cy="584700"/>
            </a:xfrm>
            <a:prstGeom prst="rect">
              <a:avLst/>
            </a:prstGeom>
            <a:solidFill>
              <a:schemeClr val="accent3"/>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10" name="Google Shape;253;p19">
              <a:extLst>
                <a:ext uri="{FF2B5EF4-FFF2-40B4-BE49-F238E27FC236}">
                  <a16:creationId xmlns:a16="http://schemas.microsoft.com/office/drawing/2014/main" id="{B5F7B5BF-D808-4905-AE13-0E594A085D8F}"/>
                </a:ext>
              </a:extLst>
            </p:cNvPr>
            <p:cNvSpPr/>
            <p:nvPr/>
          </p:nvSpPr>
          <p:spPr>
            <a:xfrm>
              <a:off x="4023490" y="0"/>
              <a:ext cx="1968000" cy="584700"/>
            </a:xfrm>
            <a:prstGeom prst="chevron">
              <a:avLst>
                <a:gd name="adj" fmla="val 50000"/>
              </a:avLst>
            </a:prstGeom>
            <a:solidFill>
              <a:schemeClr val="accent3"/>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11" name="Google Shape;254;p19">
              <a:extLst>
                <a:ext uri="{FF2B5EF4-FFF2-40B4-BE49-F238E27FC236}">
                  <a16:creationId xmlns:a16="http://schemas.microsoft.com/office/drawing/2014/main" id="{4E2DA940-12B5-4623-94BC-AB09B06136AC}"/>
                </a:ext>
              </a:extLst>
            </p:cNvPr>
            <p:cNvSpPr txBox="1"/>
            <p:nvPr/>
          </p:nvSpPr>
          <p:spPr>
            <a:xfrm>
              <a:off x="4261955" y="0"/>
              <a:ext cx="1437300" cy="584700"/>
            </a:xfrm>
            <a:prstGeom prst="rect">
              <a:avLst/>
            </a:prstGeom>
            <a:solidFill>
              <a:schemeClr val="accent3"/>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12" name="Google Shape;255;p19">
              <a:extLst>
                <a:ext uri="{FF2B5EF4-FFF2-40B4-BE49-F238E27FC236}">
                  <a16:creationId xmlns:a16="http://schemas.microsoft.com/office/drawing/2014/main" id="{38A6881C-E9FD-4D69-A637-A133E2B2159B}"/>
                </a:ext>
              </a:extLst>
            </p:cNvPr>
            <p:cNvSpPr/>
            <p:nvPr/>
          </p:nvSpPr>
          <p:spPr>
            <a:xfrm>
              <a:off x="5597962" y="0"/>
              <a:ext cx="2467500" cy="584700"/>
            </a:xfrm>
            <a:prstGeom prst="chevron">
              <a:avLst>
                <a:gd name="adj" fmla="val 50000"/>
              </a:avLst>
            </a:prstGeom>
            <a:solidFill>
              <a:schemeClr val="accent3"/>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13" name="Google Shape;256;p19">
              <a:extLst>
                <a:ext uri="{FF2B5EF4-FFF2-40B4-BE49-F238E27FC236}">
                  <a16:creationId xmlns:a16="http://schemas.microsoft.com/office/drawing/2014/main" id="{8A4EF790-7FD7-405F-831D-CBF692EACADD}"/>
                </a:ext>
              </a:extLst>
            </p:cNvPr>
            <p:cNvSpPr txBox="1"/>
            <p:nvPr/>
          </p:nvSpPr>
          <p:spPr>
            <a:xfrm>
              <a:off x="5872496" y="-19950"/>
              <a:ext cx="1841700" cy="584700"/>
            </a:xfrm>
            <a:prstGeom prst="rect">
              <a:avLst/>
            </a:prstGeom>
            <a:solidFill>
              <a:schemeClr val="accent3"/>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14" name="Google Shape;257;p19">
              <a:extLst>
                <a:ext uri="{FF2B5EF4-FFF2-40B4-BE49-F238E27FC236}">
                  <a16:creationId xmlns:a16="http://schemas.microsoft.com/office/drawing/2014/main" id="{DA4B9F81-FED1-4B5B-B1AF-9395A32FDD7C}"/>
                </a:ext>
              </a:extLst>
            </p:cNvPr>
            <p:cNvSpPr/>
            <p:nvPr/>
          </p:nvSpPr>
          <p:spPr>
            <a:xfrm>
              <a:off x="7566051" y="0"/>
              <a:ext cx="2467500" cy="584700"/>
            </a:xfrm>
            <a:prstGeom prst="chevron">
              <a:avLst>
                <a:gd name="adj" fmla="val 50000"/>
              </a:avLst>
            </a:prstGeom>
            <a:solidFill>
              <a:schemeClr val="accent6">
                <a:lumMod val="60000"/>
                <a:lumOff val="40000"/>
              </a:schemeClr>
            </a:solidFill>
            <a:ln>
              <a:solidFill>
                <a:schemeClr val="accent6">
                  <a:lumMod val="60000"/>
                  <a:lumOff val="40000"/>
                </a:schemeClr>
              </a:solid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15" name="Google Shape;258;p19">
              <a:extLst>
                <a:ext uri="{FF2B5EF4-FFF2-40B4-BE49-F238E27FC236}">
                  <a16:creationId xmlns:a16="http://schemas.microsoft.com/office/drawing/2014/main" id="{4959E611-C3E5-4A7D-84F4-55218F5B28A3}"/>
                </a:ext>
              </a:extLst>
            </p:cNvPr>
            <p:cNvSpPr txBox="1"/>
            <p:nvPr/>
          </p:nvSpPr>
          <p:spPr>
            <a:xfrm>
              <a:off x="7818386" y="6652"/>
              <a:ext cx="19110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5</a:t>
              </a:r>
              <a:r>
                <a:rPr lang="fr-FR" sz="1700" b="1" i="0" u="none" strike="noStrike" cap="none" dirty="0">
                  <a:solidFill>
                    <a:schemeClr val="lt1"/>
                  </a:solidFill>
                </a:rPr>
                <a:t>.Conclusion et Perspectives</a:t>
              </a:r>
              <a:endParaRPr sz="1400" b="1" i="0" u="none" strike="noStrike" cap="none" dirty="0">
                <a:solidFill>
                  <a:schemeClr val="lt1"/>
                </a:solidFill>
              </a:endParaRPr>
            </a:p>
          </p:txBody>
        </p:sp>
      </p:grpSp>
      <p:sp>
        <p:nvSpPr>
          <p:cNvPr id="18" name="object 5">
            <a:extLst>
              <a:ext uri="{FF2B5EF4-FFF2-40B4-BE49-F238E27FC236}">
                <a16:creationId xmlns:a16="http://schemas.microsoft.com/office/drawing/2014/main" id="{0B81F4C6-B6F5-49E2-9FB0-58B74614532F}"/>
              </a:ext>
            </a:extLst>
          </p:cNvPr>
          <p:cNvSpPr/>
          <p:nvPr/>
        </p:nvSpPr>
        <p:spPr>
          <a:xfrm>
            <a:off x="81293" y="91268"/>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
        <p:nvSpPr>
          <p:cNvPr id="19" name="Google Shape;794;p42">
            <a:extLst>
              <a:ext uri="{FF2B5EF4-FFF2-40B4-BE49-F238E27FC236}">
                <a16:creationId xmlns:a16="http://schemas.microsoft.com/office/drawing/2014/main" id="{7DE607E3-0317-45BB-8A55-232879D33D91}"/>
              </a:ext>
            </a:extLst>
          </p:cNvPr>
          <p:cNvSpPr txBox="1"/>
          <p:nvPr/>
        </p:nvSpPr>
        <p:spPr>
          <a:xfrm>
            <a:off x="-39459" y="1044260"/>
            <a:ext cx="2422586" cy="400069"/>
          </a:xfrm>
          <a:prstGeom prst="rect">
            <a:avLst/>
          </a:prstGeom>
          <a:noFill/>
          <a:ln>
            <a:noFill/>
          </a:ln>
        </p:spPr>
        <p:txBody>
          <a:bodyPr spcFirstLastPara="1" wrap="square" lIns="91425" tIns="45700" rIns="91425" bIns="45700" anchor="t" anchorCtr="0">
            <a:spAutoFit/>
          </a:bodyPr>
          <a:lstStyle/>
          <a:p>
            <a:pPr marL="558800" marR="0" lvl="0" algn="just" rtl="0">
              <a:lnSpc>
                <a:spcPct val="100000"/>
              </a:lnSpc>
              <a:spcBef>
                <a:spcPts val="0"/>
              </a:spcBef>
              <a:spcAft>
                <a:spcPts val="0"/>
              </a:spcAft>
              <a:buClr>
                <a:srgbClr val="833C0B"/>
              </a:buClr>
              <a:buSzPts val="2000"/>
            </a:pPr>
            <a:r>
              <a:rPr lang="fr-FR" sz="2000" b="1" i="0" u="none" strike="noStrike" cap="none" dirty="0">
                <a:solidFill>
                  <a:schemeClr val="accent6">
                    <a:lumMod val="60000"/>
                    <a:lumOff val="40000"/>
                  </a:schemeClr>
                </a:solidFill>
              </a:rPr>
              <a:t>Conclusion</a:t>
            </a:r>
            <a:endParaRPr sz="2000" b="1" i="0" u="none" strike="noStrike" cap="none" dirty="0">
              <a:solidFill>
                <a:schemeClr val="accent6">
                  <a:lumMod val="60000"/>
                  <a:lumOff val="40000"/>
                </a:schemeClr>
              </a:solidFill>
            </a:endParaRPr>
          </a:p>
        </p:txBody>
      </p:sp>
      <p:grpSp>
        <p:nvGrpSpPr>
          <p:cNvPr id="20" name="Groupe 19">
            <a:extLst>
              <a:ext uri="{FF2B5EF4-FFF2-40B4-BE49-F238E27FC236}">
                <a16:creationId xmlns:a16="http://schemas.microsoft.com/office/drawing/2014/main" id="{340249CE-CFE6-4E22-8E1E-0EE27C0C024C}"/>
              </a:ext>
            </a:extLst>
          </p:cNvPr>
          <p:cNvGrpSpPr/>
          <p:nvPr/>
        </p:nvGrpSpPr>
        <p:grpSpPr>
          <a:xfrm>
            <a:off x="1340484" y="1925528"/>
            <a:ext cx="5749047" cy="2602920"/>
            <a:chOff x="1264596" y="1282057"/>
            <a:chExt cx="5749047" cy="2602920"/>
          </a:xfrm>
        </p:grpSpPr>
        <p:sp>
          <p:nvSpPr>
            <p:cNvPr id="21" name="Ellipse 20">
              <a:extLst>
                <a:ext uri="{FF2B5EF4-FFF2-40B4-BE49-F238E27FC236}">
                  <a16:creationId xmlns:a16="http://schemas.microsoft.com/office/drawing/2014/main" id="{2E13DA57-5839-4633-B3F0-3EB4A6B85743}"/>
                </a:ext>
              </a:extLst>
            </p:cNvPr>
            <p:cNvSpPr/>
            <p:nvPr/>
          </p:nvSpPr>
          <p:spPr>
            <a:xfrm>
              <a:off x="5389235" y="2664113"/>
              <a:ext cx="1624408" cy="1220864"/>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Graphique 21" descr="Programmatrice avec un remplissage uni">
              <a:extLst>
                <a:ext uri="{FF2B5EF4-FFF2-40B4-BE49-F238E27FC236}">
                  <a16:creationId xmlns:a16="http://schemas.microsoft.com/office/drawing/2014/main" id="{CA1AC651-9D9F-4ACE-9BB2-404E37A8A18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44239" y="2859021"/>
              <a:ext cx="914400" cy="677622"/>
            </a:xfrm>
            <a:prstGeom prst="rect">
              <a:avLst/>
            </a:prstGeom>
          </p:spPr>
        </p:pic>
        <p:cxnSp>
          <p:nvCxnSpPr>
            <p:cNvPr id="23" name="Connecteur droit 22">
              <a:extLst>
                <a:ext uri="{FF2B5EF4-FFF2-40B4-BE49-F238E27FC236}">
                  <a16:creationId xmlns:a16="http://schemas.microsoft.com/office/drawing/2014/main" id="{208B0EBF-EB17-4CFC-B133-5185943D2C0A}"/>
                </a:ext>
              </a:extLst>
            </p:cNvPr>
            <p:cNvCxnSpPr/>
            <p:nvPr/>
          </p:nvCxnSpPr>
          <p:spPr>
            <a:xfrm>
              <a:off x="6201439" y="1789889"/>
              <a:ext cx="2511" cy="98249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081CDE4B-C827-48B0-86DE-4BB0F2735FB5}"/>
                </a:ext>
              </a:extLst>
            </p:cNvPr>
            <p:cNvCxnSpPr>
              <a:cxnSpLocks/>
            </p:cNvCxnSpPr>
            <p:nvPr/>
          </p:nvCxnSpPr>
          <p:spPr>
            <a:xfrm>
              <a:off x="4990289" y="1789889"/>
              <a:ext cx="1213661"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6" name="ZoneTexte 25">
              <a:extLst>
                <a:ext uri="{FF2B5EF4-FFF2-40B4-BE49-F238E27FC236}">
                  <a16:creationId xmlns:a16="http://schemas.microsoft.com/office/drawing/2014/main" id="{CDF1D19D-3513-43C9-B1E7-B9F5D3ADBF83}"/>
                </a:ext>
              </a:extLst>
            </p:cNvPr>
            <p:cNvSpPr txBox="1"/>
            <p:nvPr/>
          </p:nvSpPr>
          <p:spPr>
            <a:xfrm>
              <a:off x="1264596" y="1282057"/>
              <a:ext cx="3725693" cy="923330"/>
            </a:xfrm>
            <a:prstGeom prst="rect">
              <a:avLst/>
            </a:prstGeom>
            <a:noFill/>
            <a:ln>
              <a:solidFill>
                <a:schemeClr val="accent1"/>
              </a:solidFill>
            </a:ln>
          </p:spPr>
          <p:txBody>
            <a:bodyPr wrap="square" rtlCol="0">
              <a:spAutoFit/>
            </a:bodyPr>
            <a:lstStyle/>
            <a:p>
              <a:r>
                <a:rPr lang="fr-FR" sz="1800" dirty="0">
                  <a:latin typeface="+mj-lt"/>
                  <a:cs typeface="Times New Roman" panose="02020603050405020304" pitchFamily="18" charset="0"/>
                </a:rPr>
                <a:t>Réalisation et développement d’une plateforme de gestion et de suivi des plantes. </a:t>
              </a:r>
            </a:p>
          </p:txBody>
        </p:sp>
      </p:grpSp>
      <p:grpSp>
        <p:nvGrpSpPr>
          <p:cNvPr id="27" name="Groupe 26">
            <a:extLst>
              <a:ext uri="{FF2B5EF4-FFF2-40B4-BE49-F238E27FC236}">
                <a16:creationId xmlns:a16="http://schemas.microsoft.com/office/drawing/2014/main" id="{5C59BF56-B983-43FF-B812-DCD88D30532E}"/>
              </a:ext>
            </a:extLst>
          </p:cNvPr>
          <p:cNvGrpSpPr/>
          <p:nvPr/>
        </p:nvGrpSpPr>
        <p:grpSpPr>
          <a:xfrm>
            <a:off x="8046155" y="2154895"/>
            <a:ext cx="2699420" cy="2329974"/>
            <a:chOff x="8693787" y="1634047"/>
            <a:chExt cx="2699420" cy="2329974"/>
          </a:xfrm>
        </p:grpSpPr>
        <p:sp>
          <p:nvSpPr>
            <p:cNvPr id="28" name="Ellipse 27">
              <a:extLst>
                <a:ext uri="{FF2B5EF4-FFF2-40B4-BE49-F238E27FC236}">
                  <a16:creationId xmlns:a16="http://schemas.microsoft.com/office/drawing/2014/main" id="{4C8DB014-C372-4E14-9771-ED2EEC81350E}"/>
                </a:ext>
              </a:extLst>
            </p:cNvPr>
            <p:cNvSpPr/>
            <p:nvPr/>
          </p:nvSpPr>
          <p:spPr>
            <a:xfrm>
              <a:off x="9253185" y="1634047"/>
              <a:ext cx="1389929" cy="1070242"/>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9" name="Graphique 28" descr="Employée de bureau avec un remplissage uni">
              <a:extLst>
                <a:ext uri="{FF2B5EF4-FFF2-40B4-BE49-F238E27FC236}">
                  <a16:creationId xmlns:a16="http://schemas.microsoft.com/office/drawing/2014/main" id="{31C6F1B7-120F-4375-8E61-A87285745B9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72443" y="1789887"/>
              <a:ext cx="914400" cy="682835"/>
            </a:xfrm>
            <a:prstGeom prst="rect">
              <a:avLst/>
            </a:prstGeom>
          </p:spPr>
        </p:pic>
        <p:cxnSp>
          <p:nvCxnSpPr>
            <p:cNvPr id="30" name="Connecteur droit 29">
              <a:extLst>
                <a:ext uri="{FF2B5EF4-FFF2-40B4-BE49-F238E27FC236}">
                  <a16:creationId xmlns:a16="http://schemas.microsoft.com/office/drawing/2014/main" id="{BFDACB7E-070F-4D44-9F0A-F8291600E69B}"/>
                </a:ext>
              </a:extLst>
            </p:cNvPr>
            <p:cNvCxnSpPr>
              <a:cxnSpLocks/>
              <a:stCxn id="28" idx="4"/>
            </p:cNvCxnSpPr>
            <p:nvPr/>
          </p:nvCxnSpPr>
          <p:spPr>
            <a:xfrm flipH="1">
              <a:off x="9929643" y="2704289"/>
              <a:ext cx="18507" cy="639294"/>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1" name="ZoneTexte 30">
              <a:extLst>
                <a:ext uri="{FF2B5EF4-FFF2-40B4-BE49-F238E27FC236}">
                  <a16:creationId xmlns:a16="http://schemas.microsoft.com/office/drawing/2014/main" id="{11E82938-DA2E-4784-9FDB-B55488729123}"/>
                </a:ext>
              </a:extLst>
            </p:cNvPr>
            <p:cNvSpPr txBox="1"/>
            <p:nvPr/>
          </p:nvSpPr>
          <p:spPr>
            <a:xfrm>
              <a:off x="8693787" y="3286913"/>
              <a:ext cx="2699420" cy="677108"/>
            </a:xfrm>
            <a:prstGeom prst="rect">
              <a:avLst/>
            </a:prstGeom>
            <a:noFill/>
            <a:ln>
              <a:solidFill>
                <a:schemeClr val="accent6">
                  <a:lumMod val="60000"/>
                  <a:lumOff val="40000"/>
                </a:schemeClr>
              </a:solidFill>
            </a:ln>
          </p:spPr>
          <p:txBody>
            <a:bodyPr wrap="square" rtlCol="0">
              <a:spAutoFit/>
            </a:bodyPr>
            <a:lstStyle/>
            <a:p>
              <a:r>
                <a:rPr lang="fr-FR" sz="1800" dirty="0">
                  <a:latin typeface="+mj-lt"/>
                  <a:cs typeface="Times New Roman" panose="02020603050405020304" pitchFamily="18" charset="0"/>
                </a:rPr>
                <a:t>S’intégrer dans le monde professionnel</a:t>
              </a:r>
              <a:r>
                <a:rPr lang="fr-FR" sz="2000" dirty="0">
                  <a:latin typeface="Times New Roman" panose="02020603050405020304" pitchFamily="18" charset="0"/>
                  <a:cs typeface="Times New Roman" panose="02020603050405020304" pitchFamily="18" charset="0"/>
                </a:rPr>
                <a:t>.</a:t>
              </a:r>
            </a:p>
          </p:txBody>
        </p:sp>
      </p:grpSp>
      <p:grpSp>
        <p:nvGrpSpPr>
          <p:cNvPr id="32" name="Groupe 31">
            <a:extLst>
              <a:ext uri="{FF2B5EF4-FFF2-40B4-BE49-F238E27FC236}">
                <a16:creationId xmlns:a16="http://schemas.microsoft.com/office/drawing/2014/main" id="{F8B6A304-46D3-4CA6-9420-C8DAB3FF6A64}"/>
              </a:ext>
            </a:extLst>
          </p:cNvPr>
          <p:cNvGrpSpPr/>
          <p:nvPr/>
        </p:nvGrpSpPr>
        <p:grpSpPr>
          <a:xfrm>
            <a:off x="1446426" y="3977737"/>
            <a:ext cx="5013331" cy="2156344"/>
            <a:chOff x="2062265" y="3473274"/>
            <a:chExt cx="5013331" cy="2156344"/>
          </a:xfrm>
        </p:grpSpPr>
        <p:sp>
          <p:nvSpPr>
            <p:cNvPr id="33" name="Ellipse 32">
              <a:extLst>
                <a:ext uri="{FF2B5EF4-FFF2-40B4-BE49-F238E27FC236}">
                  <a16:creationId xmlns:a16="http://schemas.microsoft.com/office/drawing/2014/main" id="{2991C8F9-5057-4CE4-9A3B-504586CE1738}"/>
                </a:ext>
              </a:extLst>
            </p:cNvPr>
            <p:cNvSpPr/>
            <p:nvPr/>
          </p:nvSpPr>
          <p:spPr>
            <a:xfrm>
              <a:off x="2062265" y="3473274"/>
              <a:ext cx="1405632" cy="923330"/>
            </a:xfrm>
            <a:prstGeom prst="ellipse">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4" name="Connecteur droit 33">
              <a:extLst>
                <a:ext uri="{FF2B5EF4-FFF2-40B4-BE49-F238E27FC236}">
                  <a16:creationId xmlns:a16="http://schemas.microsoft.com/office/drawing/2014/main" id="{6BF3DB50-03D5-442F-BC92-5A32E193BE9E}"/>
                </a:ext>
              </a:extLst>
            </p:cNvPr>
            <p:cNvCxnSpPr>
              <a:cxnSpLocks/>
            </p:cNvCxnSpPr>
            <p:nvPr/>
          </p:nvCxnSpPr>
          <p:spPr>
            <a:xfrm>
              <a:off x="2637230" y="4335767"/>
              <a:ext cx="44537" cy="74207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1982CC16-E53F-4D01-88F5-68C9310A62D0}"/>
                </a:ext>
              </a:extLst>
            </p:cNvPr>
            <p:cNvCxnSpPr>
              <a:cxnSpLocks/>
            </p:cNvCxnSpPr>
            <p:nvPr/>
          </p:nvCxnSpPr>
          <p:spPr>
            <a:xfrm>
              <a:off x="2681766" y="5077837"/>
              <a:ext cx="945117" cy="0"/>
            </a:xfrm>
            <a:prstGeom prst="line">
              <a:avLst/>
            </a:prstGeom>
            <a:ln w="190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6" name="ZoneTexte 35">
              <a:extLst>
                <a:ext uri="{FF2B5EF4-FFF2-40B4-BE49-F238E27FC236}">
                  <a16:creationId xmlns:a16="http://schemas.microsoft.com/office/drawing/2014/main" id="{CC5C9425-BB2E-4E1B-9887-EC1475588C77}"/>
                </a:ext>
              </a:extLst>
            </p:cNvPr>
            <p:cNvSpPr txBox="1"/>
            <p:nvPr/>
          </p:nvSpPr>
          <p:spPr>
            <a:xfrm>
              <a:off x="3626883" y="4706288"/>
              <a:ext cx="3448713" cy="923330"/>
            </a:xfrm>
            <a:prstGeom prst="rect">
              <a:avLst/>
            </a:prstGeom>
            <a:noFill/>
            <a:ln>
              <a:solidFill>
                <a:schemeClr val="accent4">
                  <a:lumMod val="60000"/>
                  <a:lumOff val="40000"/>
                </a:schemeClr>
              </a:solidFill>
            </a:ln>
          </p:spPr>
          <p:txBody>
            <a:bodyPr wrap="square" rtlCol="0">
              <a:spAutoFit/>
            </a:bodyPr>
            <a:lstStyle/>
            <a:p>
              <a:pPr algn="just"/>
              <a:r>
                <a:rPr lang="fr-FR" sz="1800" dirty="0">
                  <a:latin typeface="+mj-lt"/>
                  <a:cs typeface="Times New Roman" panose="02020603050405020304" pitchFamily="18" charset="0"/>
                </a:rPr>
                <a:t>Bonne occasion pour recueillir des nouvelles technologies et</a:t>
              </a:r>
            </a:p>
            <a:p>
              <a:pPr algn="just"/>
              <a:r>
                <a:rPr lang="fr-FR" sz="1800" dirty="0">
                  <a:latin typeface="+mj-lt"/>
                  <a:cs typeface="Times New Roman" panose="02020603050405020304" pitchFamily="18" charset="0"/>
                </a:rPr>
                <a:t>d’assimiler les outils acquis.</a:t>
              </a:r>
            </a:p>
          </p:txBody>
        </p:sp>
        <p:pic>
          <p:nvPicPr>
            <p:cNvPr id="37" name="Graphique 36" descr="Conception web avec un remplissage uni">
              <a:extLst>
                <a:ext uri="{FF2B5EF4-FFF2-40B4-BE49-F238E27FC236}">
                  <a16:creationId xmlns:a16="http://schemas.microsoft.com/office/drawing/2014/main" id="{18CB5154-C5AD-4ECE-9E7F-934B31C4B79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338421" y="3496569"/>
              <a:ext cx="815903" cy="815903"/>
            </a:xfrm>
            <a:prstGeom prst="rect">
              <a:avLst/>
            </a:prstGeom>
          </p:spPr>
        </p:pic>
      </p:grpSp>
      <p:sp>
        <p:nvSpPr>
          <p:cNvPr id="38" name="Espace réservé du numéro de diapositive 1">
            <a:extLst>
              <a:ext uri="{FF2B5EF4-FFF2-40B4-BE49-F238E27FC236}">
                <a16:creationId xmlns:a16="http://schemas.microsoft.com/office/drawing/2014/main" id="{8EF43FB8-A3C7-4806-9590-554A62D86731}"/>
              </a:ext>
            </a:extLst>
          </p:cNvPr>
          <p:cNvSpPr>
            <a:spLocks noGrp="1"/>
          </p:cNvSpPr>
          <p:nvPr>
            <p:ph type="sldNum" idx="12"/>
          </p:nvPr>
        </p:nvSpPr>
        <p:spPr>
          <a:xfrm>
            <a:off x="11633200" y="6336030"/>
            <a:ext cx="401320" cy="365125"/>
          </a:xfrm>
        </p:spPr>
        <p:txBody>
          <a:bodyPr/>
          <a:lstStyle/>
          <a:p>
            <a:pPr marL="0" lvl="0" indent="0" algn="r" rtl="0">
              <a:spcBef>
                <a:spcPts val="0"/>
              </a:spcBef>
              <a:spcAft>
                <a:spcPts val="0"/>
              </a:spcAft>
              <a:buNone/>
            </a:pPr>
            <a:r>
              <a:rPr lang="fr-FR" dirty="0"/>
              <a:t>31</a:t>
            </a:r>
          </a:p>
        </p:txBody>
      </p:sp>
    </p:spTree>
    <p:extLst>
      <p:ext uri="{BB962C8B-B14F-4D97-AF65-F5344CB8AC3E}">
        <p14:creationId xmlns:p14="http://schemas.microsoft.com/office/powerpoint/2010/main" val="2561206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800" decel="100000"/>
                                        <p:tgtEl>
                                          <p:spTgt spid="20"/>
                                        </p:tgtEl>
                                      </p:cBhvr>
                                    </p:animEffect>
                                    <p:anim calcmode="lin" valueType="num">
                                      <p:cBhvr>
                                        <p:cTn id="8" dur="800" decel="100000" fill="hold"/>
                                        <p:tgtEl>
                                          <p:spTgt spid="20"/>
                                        </p:tgtEl>
                                        <p:attrNameLst>
                                          <p:attrName>style.rotation</p:attrName>
                                        </p:attrNameLst>
                                      </p:cBhvr>
                                      <p:tavLst>
                                        <p:tav tm="0">
                                          <p:val>
                                            <p:fltVal val="-90"/>
                                          </p:val>
                                        </p:tav>
                                        <p:tav tm="100000">
                                          <p:val>
                                            <p:fltVal val="0"/>
                                          </p:val>
                                        </p:tav>
                                      </p:tavLst>
                                    </p:anim>
                                    <p:anim calcmode="lin" valueType="num">
                                      <p:cBhvr>
                                        <p:cTn id="9" dur="800" decel="100000" fill="hold"/>
                                        <p:tgtEl>
                                          <p:spTgt spid="20"/>
                                        </p:tgtEl>
                                        <p:attrNameLst>
                                          <p:attrName>ppt_x</p:attrName>
                                        </p:attrNameLst>
                                      </p:cBhvr>
                                      <p:tavLst>
                                        <p:tav tm="0">
                                          <p:val>
                                            <p:strVal val="#ppt_x+0.4"/>
                                          </p:val>
                                        </p:tav>
                                        <p:tav tm="100000">
                                          <p:val>
                                            <p:strVal val="#ppt_x-0.05"/>
                                          </p:val>
                                        </p:tav>
                                      </p:tavLst>
                                    </p:anim>
                                    <p:anim calcmode="lin" valueType="num">
                                      <p:cBhvr>
                                        <p:cTn id="10" dur="800" decel="100000" fill="hold"/>
                                        <p:tgtEl>
                                          <p:spTgt spid="20"/>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20"/>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20"/>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p:cTn id="17" dur="500" fill="hold"/>
                                        <p:tgtEl>
                                          <p:spTgt spid="27"/>
                                        </p:tgtEl>
                                        <p:attrNameLst>
                                          <p:attrName>ppt_w</p:attrName>
                                        </p:attrNameLst>
                                      </p:cBhvr>
                                      <p:tavLst>
                                        <p:tav tm="0">
                                          <p:val>
                                            <p:fltVal val="0"/>
                                          </p:val>
                                        </p:tav>
                                        <p:tav tm="100000">
                                          <p:val>
                                            <p:strVal val="#ppt_w"/>
                                          </p:val>
                                        </p:tav>
                                      </p:tavLst>
                                    </p:anim>
                                    <p:anim calcmode="lin" valueType="num">
                                      <p:cBhvr>
                                        <p:cTn id="18" dur="500" fill="hold"/>
                                        <p:tgtEl>
                                          <p:spTgt spid="27"/>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anim calcmode="lin" valueType="num">
                                      <p:cBhvr>
                                        <p:cTn id="23" dur="500" fill="hold"/>
                                        <p:tgtEl>
                                          <p:spTgt spid="32"/>
                                        </p:tgtEl>
                                        <p:attrNameLst>
                                          <p:attrName>ppt_w</p:attrName>
                                        </p:attrNameLst>
                                      </p:cBhvr>
                                      <p:tavLst>
                                        <p:tav tm="0">
                                          <p:val>
                                            <p:fltVal val="0"/>
                                          </p:val>
                                        </p:tav>
                                        <p:tav tm="100000">
                                          <p:val>
                                            <p:strVal val="#ppt_w"/>
                                          </p:val>
                                        </p:tav>
                                      </p:tavLst>
                                    </p:anim>
                                    <p:anim calcmode="lin" valueType="num">
                                      <p:cBhvr>
                                        <p:cTn id="24" dur="500" fill="hold"/>
                                        <p:tgtEl>
                                          <p:spTgt spid="32"/>
                                        </p:tgtEl>
                                        <p:attrNameLst>
                                          <p:attrName>ppt_h</p:attrName>
                                        </p:attrNameLst>
                                      </p:cBhvr>
                                      <p:tavLst>
                                        <p:tav tm="0">
                                          <p:val>
                                            <p:fltVal val="0"/>
                                          </p:val>
                                        </p:tav>
                                        <p:tav tm="100000">
                                          <p:val>
                                            <p:strVal val="#ppt_h"/>
                                          </p:val>
                                        </p:tav>
                                      </p:tavLst>
                                    </p:anim>
                                    <p:animEffect transition="in" filter="fade">
                                      <p:cBhvr>
                                        <p:cTn id="2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42"/>
          <p:cNvSpPr txBox="1"/>
          <p:nvPr/>
        </p:nvSpPr>
        <p:spPr>
          <a:xfrm>
            <a:off x="-124148" y="1062361"/>
            <a:ext cx="2422586" cy="400069"/>
          </a:xfrm>
          <a:prstGeom prst="rect">
            <a:avLst/>
          </a:prstGeom>
          <a:noFill/>
          <a:ln>
            <a:noFill/>
          </a:ln>
        </p:spPr>
        <p:txBody>
          <a:bodyPr spcFirstLastPara="1" wrap="square" lIns="91425" tIns="45700" rIns="91425" bIns="45700" anchor="t" anchorCtr="0">
            <a:spAutoFit/>
          </a:bodyPr>
          <a:lstStyle/>
          <a:p>
            <a:pPr marL="558800" marR="0" lvl="0" algn="l" rtl="0">
              <a:lnSpc>
                <a:spcPct val="100000"/>
              </a:lnSpc>
              <a:spcBef>
                <a:spcPts val="0"/>
              </a:spcBef>
              <a:spcAft>
                <a:spcPts val="0"/>
              </a:spcAft>
              <a:buClr>
                <a:srgbClr val="833C0B"/>
              </a:buClr>
              <a:buSzPts val="2000"/>
            </a:pPr>
            <a:r>
              <a:rPr lang="fr-FR" sz="2000" b="1" i="0" u="none" strike="noStrike" cap="none" dirty="0">
                <a:solidFill>
                  <a:schemeClr val="accent6">
                    <a:lumMod val="60000"/>
                    <a:lumOff val="40000"/>
                  </a:schemeClr>
                </a:solidFill>
              </a:rPr>
              <a:t>Perspectives</a:t>
            </a:r>
            <a:r>
              <a:rPr lang="fr-FR" sz="2000" b="1" i="0" u="none" strike="noStrike" cap="none" dirty="0">
                <a:solidFill>
                  <a:srgbClr val="1AAFE4"/>
                </a:solidFill>
              </a:rPr>
              <a:t> </a:t>
            </a:r>
            <a:endParaRPr sz="2000" b="1" i="0" u="none" strike="noStrike" cap="none" dirty="0">
              <a:solidFill>
                <a:srgbClr val="1AAFE4"/>
              </a:solidFill>
            </a:endParaRPr>
          </a:p>
        </p:txBody>
      </p:sp>
      <p:sp>
        <p:nvSpPr>
          <p:cNvPr id="795" name="Google Shape;795;p42"/>
          <p:cNvSpPr txBox="1"/>
          <p:nvPr/>
        </p:nvSpPr>
        <p:spPr>
          <a:xfrm>
            <a:off x="280858" y="1955666"/>
            <a:ext cx="4827600" cy="1015632"/>
          </a:xfrm>
          <a:prstGeom prst="rect">
            <a:avLst/>
          </a:prstGeom>
          <a:noFill/>
          <a:ln>
            <a:noFill/>
          </a:ln>
        </p:spPr>
        <p:txBody>
          <a:bodyPr spcFirstLastPara="1" wrap="square" lIns="91425" tIns="91425" rIns="91425" bIns="91425" anchor="t" anchorCtr="0">
            <a:spAutoFit/>
          </a:bodyPr>
          <a:lstStyle/>
          <a:p>
            <a:pPr marL="457200" lvl="0" indent="-355600">
              <a:buClr>
                <a:schemeClr val="dk1"/>
              </a:buClr>
              <a:buSzPts val="2000"/>
              <a:buChar char="●"/>
            </a:pPr>
            <a:r>
              <a:rPr lang="fr-FR" sz="1800" b="1" dirty="0">
                <a:solidFill>
                  <a:srgbClr val="000000"/>
                </a:solidFill>
                <a:effectLst/>
                <a:latin typeface="+mj-lt"/>
                <a:ea typeface="Calibri" panose="020F0502020204030204" pitchFamily="34" charset="0"/>
              </a:rPr>
              <a:t>Intégrer un système de détection des maladies des plantes pour identifier les anomalies. </a:t>
            </a:r>
            <a:endParaRPr lang="fr-FR" sz="1600" b="1" i="0" u="none" strike="noStrike" cap="none" dirty="0">
              <a:solidFill>
                <a:srgbClr val="000000"/>
              </a:solidFill>
              <a:latin typeface="+mj-lt"/>
            </a:endParaRPr>
          </a:p>
        </p:txBody>
      </p:sp>
      <p:sp>
        <p:nvSpPr>
          <p:cNvPr id="797" name="Google Shape;797;p42"/>
          <p:cNvSpPr txBox="1"/>
          <p:nvPr/>
        </p:nvSpPr>
        <p:spPr>
          <a:xfrm>
            <a:off x="5871436" y="1946850"/>
            <a:ext cx="6039706" cy="1538853"/>
          </a:xfrm>
          <a:prstGeom prst="rect">
            <a:avLst/>
          </a:prstGeom>
          <a:noFill/>
          <a:ln>
            <a:noFill/>
          </a:ln>
        </p:spPr>
        <p:txBody>
          <a:bodyPr spcFirstLastPara="1" wrap="square" lIns="91425" tIns="91425" rIns="91425" bIns="91425" anchor="t" anchorCtr="0">
            <a:spAutoFit/>
          </a:bodyPr>
          <a:lstStyle/>
          <a:p>
            <a:pPr marL="457200" indent="-355600">
              <a:buClr>
                <a:schemeClr val="dk1"/>
              </a:buClr>
              <a:buSzPts val="2000"/>
              <a:buFont typeface="Arial"/>
              <a:buChar char="●"/>
            </a:pPr>
            <a:r>
              <a:rPr lang="fr-FR" sz="1800" b="1" dirty="0">
                <a:solidFill>
                  <a:srgbClr val="000000"/>
                </a:solidFill>
                <a:effectLst/>
                <a:latin typeface="+mj-lt"/>
                <a:ea typeface="Calibri" panose="020F0502020204030204" pitchFamily="34" charset="0"/>
              </a:rPr>
              <a:t>Ajouter des paramètres liés à la composition du sol afin d’assurer un suivi plus précis et complet des conditions de croissance des plantes.</a:t>
            </a:r>
          </a:p>
          <a:p>
            <a:pPr marL="457200" marR="0" lvl="0" indent="-355600" algn="l" rtl="0">
              <a:lnSpc>
                <a:spcPct val="100000"/>
              </a:lnSpc>
              <a:spcBef>
                <a:spcPts val="0"/>
              </a:spcBef>
              <a:spcAft>
                <a:spcPts val="0"/>
              </a:spcAft>
              <a:buClr>
                <a:schemeClr val="dk1"/>
              </a:buClr>
              <a:buSzPts val="2000"/>
              <a:buChar char="●"/>
            </a:pPr>
            <a:endParaRPr lang="fr-FR" sz="1600" b="1" i="0" u="none" strike="noStrike" cap="none" dirty="0">
              <a:solidFill>
                <a:schemeClr val="dk1"/>
              </a:solidFill>
            </a:endParaRPr>
          </a:p>
          <a:p>
            <a:pPr marL="0" marR="0" lvl="0" indent="0" algn="l" rtl="0">
              <a:lnSpc>
                <a:spcPct val="100000"/>
              </a:lnSpc>
              <a:spcBef>
                <a:spcPts val="0"/>
              </a:spcBef>
              <a:spcAft>
                <a:spcPts val="0"/>
              </a:spcAft>
              <a:buClr>
                <a:srgbClr val="000000"/>
              </a:buClr>
              <a:buSzPts val="1800"/>
              <a:buFont typeface="Arial"/>
              <a:buNone/>
            </a:pPr>
            <a:endParaRPr lang="fr-FR" sz="1800" b="1" i="0" u="none" strike="noStrike" cap="none" dirty="0">
              <a:solidFill>
                <a:schemeClr val="dk1"/>
              </a:solidFill>
              <a:latin typeface="Calibri"/>
              <a:ea typeface="Calibri"/>
              <a:cs typeface="Calibri"/>
              <a:sym typeface="Calibri"/>
            </a:endParaRPr>
          </a:p>
        </p:txBody>
      </p:sp>
      <p:grpSp>
        <p:nvGrpSpPr>
          <p:cNvPr id="19" name="Google Shape;248;p19"/>
          <p:cNvGrpSpPr/>
          <p:nvPr/>
        </p:nvGrpSpPr>
        <p:grpSpPr>
          <a:xfrm>
            <a:off x="68422" y="253292"/>
            <a:ext cx="10365904" cy="611302"/>
            <a:chOff x="-43152" y="-19950"/>
            <a:chExt cx="10076703" cy="611302"/>
          </a:xfrm>
        </p:grpSpPr>
        <p:sp>
          <p:nvSpPr>
            <p:cNvPr id="20" name="Google Shape;250;p19"/>
            <p:cNvSpPr txBox="1"/>
            <p:nvPr/>
          </p:nvSpPr>
          <p:spPr>
            <a:xfrm>
              <a:off x="-43152" y="6652"/>
              <a:ext cx="2167800" cy="584700"/>
            </a:xfrm>
            <a:prstGeom prst="rect">
              <a:avLst/>
            </a:prstGeom>
            <a:solidFill>
              <a:schemeClr val="accent3"/>
            </a:solidFill>
            <a:ln>
              <a:noFill/>
            </a:ln>
            <a:effectLst>
              <a:reflection stA="0" dist="323850" dir="5400000" fadeDir="5400012" sy="-100000" algn="bl" rotWithShape="0"/>
            </a:effectLst>
          </p:spPr>
          <p:txBody>
            <a:bodyPr spcFirstLastPara="1" wrap="square" lIns="96000" tIns="48000" rIns="24000" bIns="480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fr-FR" sz="1800" b="1" i="0" u="none" strike="noStrike" cap="none" dirty="0">
                  <a:solidFill>
                    <a:schemeClr val="lt1"/>
                  </a:solidFill>
                </a:rPr>
                <a:t>1.</a:t>
              </a:r>
              <a:r>
                <a:rPr lang="fr-FR" sz="1800" b="1" dirty="0">
                  <a:solidFill>
                    <a:schemeClr val="lt1"/>
                  </a:solidFill>
                </a:rPr>
                <a:t>Contexte </a:t>
              </a:r>
            </a:p>
            <a:p>
              <a:pPr marL="0" marR="0" lvl="0" indent="0" algn="ctr" rtl="0">
                <a:lnSpc>
                  <a:spcPct val="90000"/>
                </a:lnSpc>
                <a:spcBef>
                  <a:spcPts val="0"/>
                </a:spcBef>
                <a:spcAft>
                  <a:spcPts val="0"/>
                </a:spcAft>
                <a:buClr>
                  <a:schemeClr val="lt1"/>
                </a:buClr>
                <a:buSzPts val="1800"/>
                <a:buFont typeface="Calibri"/>
                <a:buNone/>
              </a:pPr>
              <a:r>
                <a:rPr lang="fr-FR" sz="1800" b="1" dirty="0">
                  <a:solidFill>
                    <a:schemeClr val="lt1"/>
                  </a:solidFill>
                </a:rPr>
                <a:t>général</a:t>
              </a:r>
              <a:endParaRPr sz="1400" b="1" i="0" u="none" strike="noStrike" cap="none" dirty="0">
                <a:solidFill>
                  <a:schemeClr val="lt1"/>
                </a:solidFill>
              </a:endParaRPr>
            </a:p>
          </p:txBody>
        </p:sp>
        <p:sp>
          <p:nvSpPr>
            <p:cNvPr id="21" name="Google Shape;251;p19"/>
            <p:cNvSpPr/>
            <p:nvPr/>
          </p:nvSpPr>
          <p:spPr>
            <a:xfrm>
              <a:off x="1778963" y="0"/>
              <a:ext cx="2638200" cy="584700"/>
            </a:xfrm>
            <a:prstGeom prst="chevron">
              <a:avLst>
                <a:gd name="adj" fmla="val 50000"/>
              </a:avLst>
            </a:prstGeom>
            <a:solidFill>
              <a:schemeClr val="accent3"/>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2" name="Google Shape;252;p19"/>
            <p:cNvSpPr txBox="1"/>
            <p:nvPr/>
          </p:nvSpPr>
          <p:spPr>
            <a:xfrm>
              <a:off x="2071350" y="0"/>
              <a:ext cx="2053500" cy="584700"/>
            </a:xfrm>
            <a:prstGeom prst="rect">
              <a:avLst/>
            </a:prstGeom>
            <a:solidFill>
              <a:schemeClr val="accent3"/>
            </a:solidFill>
            <a:ln>
              <a:noFill/>
            </a:ln>
            <a:effectLst>
              <a:reflection stA="0" dist="38100" dir="5400000" fadeDir="5400012" sy="-100000" algn="bl" rotWithShape="0"/>
            </a:effectLst>
          </p:spPr>
          <p:txBody>
            <a:bodyPr spcFirstLastPara="1" wrap="square" lIns="72000" tIns="48000" rIns="24000" bIns="48000" anchor="ctr" anchorCtr="0">
              <a:noAutofit/>
            </a:bodyPr>
            <a:lstStyle/>
            <a:p>
              <a:pPr marL="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2.Analyse des besoins</a:t>
              </a:r>
              <a:endParaRPr sz="1400" b="1" i="0" u="none" strike="noStrike" cap="none" dirty="0">
                <a:solidFill>
                  <a:schemeClr val="lt1"/>
                </a:solidFill>
              </a:endParaRPr>
            </a:p>
          </p:txBody>
        </p:sp>
        <p:sp>
          <p:nvSpPr>
            <p:cNvPr id="23" name="Google Shape;253;p19"/>
            <p:cNvSpPr/>
            <p:nvPr/>
          </p:nvSpPr>
          <p:spPr>
            <a:xfrm>
              <a:off x="4023490" y="0"/>
              <a:ext cx="1968000" cy="584700"/>
            </a:xfrm>
            <a:prstGeom prst="chevron">
              <a:avLst>
                <a:gd name="adj" fmla="val 50000"/>
              </a:avLst>
            </a:prstGeom>
            <a:solidFill>
              <a:schemeClr val="accent3"/>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4" name="Google Shape;254;p19"/>
            <p:cNvSpPr txBox="1"/>
            <p:nvPr/>
          </p:nvSpPr>
          <p:spPr>
            <a:xfrm>
              <a:off x="4261955" y="0"/>
              <a:ext cx="1437300" cy="584700"/>
            </a:xfrm>
            <a:prstGeom prst="rect">
              <a:avLst/>
            </a:prstGeom>
            <a:solidFill>
              <a:schemeClr val="accent3"/>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3.Conception</a:t>
              </a:r>
              <a:endParaRPr sz="1400" b="1" i="0" u="none" strike="noStrike" cap="none" dirty="0">
                <a:solidFill>
                  <a:schemeClr val="lt1"/>
                </a:solidFill>
              </a:endParaRPr>
            </a:p>
          </p:txBody>
        </p:sp>
        <p:sp>
          <p:nvSpPr>
            <p:cNvPr id="25" name="Google Shape;255;p19"/>
            <p:cNvSpPr/>
            <p:nvPr/>
          </p:nvSpPr>
          <p:spPr>
            <a:xfrm>
              <a:off x="5597962" y="0"/>
              <a:ext cx="2467500" cy="584700"/>
            </a:xfrm>
            <a:prstGeom prst="chevron">
              <a:avLst>
                <a:gd name="adj" fmla="val 50000"/>
              </a:avLst>
            </a:prstGeom>
            <a:solidFill>
              <a:schemeClr val="accent3"/>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6" name="Google Shape;256;p19"/>
            <p:cNvSpPr txBox="1"/>
            <p:nvPr/>
          </p:nvSpPr>
          <p:spPr>
            <a:xfrm>
              <a:off x="5872496" y="-19950"/>
              <a:ext cx="1841700" cy="584700"/>
            </a:xfrm>
            <a:prstGeom prst="rect">
              <a:avLst/>
            </a:prstGeom>
            <a:solidFill>
              <a:schemeClr val="accent3"/>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i="0" u="none" strike="noStrike" cap="none" dirty="0">
                  <a:solidFill>
                    <a:schemeClr val="lt1"/>
                  </a:solidFill>
                </a:rPr>
                <a:t>4.</a:t>
              </a:r>
              <a:r>
                <a:rPr lang="fr-FR" sz="1700" b="1" dirty="0">
                  <a:solidFill>
                    <a:schemeClr val="lt1"/>
                  </a:solidFill>
                </a:rPr>
                <a:t>Réalisation</a:t>
              </a:r>
              <a:endParaRPr sz="1400" b="1" i="0" u="none" strike="noStrike" cap="none" dirty="0">
                <a:solidFill>
                  <a:schemeClr val="lt1"/>
                </a:solidFill>
              </a:endParaRPr>
            </a:p>
          </p:txBody>
        </p:sp>
        <p:sp>
          <p:nvSpPr>
            <p:cNvPr id="27" name="Google Shape;257;p19"/>
            <p:cNvSpPr/>
            <p:nvPr/>
          </p:nvSpPr>
          <p:spPr>
            <a:xfrm>
              <a:off x="7566051" y="0"/>
              <a:ext cx="2467500" cy="584700"/>
            </a:xfrm>
            <a:prstGeom prst="chevron">
              <a:avLst>
                <a:gd name="adj" fmla="val 50000"/>
              </a:avLst>
            </a:prstGeom>
            <a:solidFill>
              <a:schemeClr val="accent6">
                <a:lumMod val="60000"/>
                <a:lumOff val="40000"/>
              </a:schemeClr>
            </a:solidFill>
            <a:ln>
              <a:noFill/>
            </a:ln>
            <a:effectLst>
              <a:outerShdw blurRad="57150" dist="19050" dir="5400000" algn="ctr" rotWithShape="0">
                <a:srgbClr val="000000">
                  <a:alpha val="62350"/>
                </a:srgbClr>
              </a:outerShdw>
              <a:reflection stA="0" endPos="30000" dist="38100" dir="5400000" fadeDir="5400012" sy="-100000" algn="bl" rotWithShape="0"/>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chemeClr val="lt1"/>
                </a:solidFill>
              </a:endParaRPr>
            </a:p>
          </p:txBody>
        </p:sp>
        <p:sp>
          <p:nvSpPr>
            <p:cNvPr id="28" name="Google Shape;258;p19"/>
            <p:cNvSpPr txBox="1"/>
            <p:nvPr/>
          </p:nvSpPr>
          <p:spPr>
            <a:xfrm>
              <a:off x="7818386" y="6652"/>
              <a:ext cx="1911000" cy="584700"/>
            </a:xfrm>
            <a:prstGeom prst="rect">
              <a:avLst/>
            </a:prstGeom>
            <a:solidFill>
              <a:schemeClr val="accent6">
                <a:lumMod val="60000"/>
                <a:lumOff val="40000"/>
              </a:schemeClr>
            </a:solidFill>
            <a:ln>
              <a:noFill/>
            </a:ln>
            <a:effectLst>
              <a:reflection stA="0" dist="38100" dir="5400000" fadeDir="5400012" sy="-100000" algn="bl" rotWithShape="0"/>
            </a:effectLst>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Clr>
                  <a:schemeClr val="lt1"/>
                </a:buClr>
                <a:buSzPts val="1700"/>
                <a:buFont typeface="Calibri"/>
                <a:buNone/>
              </a:pPr>
              <a:r>
                <a:rPr lang="fr-FR" sz="1700" b="1" dirty="0">
                  <a:solidFill>
                    <a:schemeClr val="lt1"/>
                  </a:solidFill>
                </a:rPr>
                <a:t>5</a:t>
              </a:r>
              <a:r>
                <a:rPr lang="fr-FR" sz="1700" b="1" i="0" u="none" strike="noStrike" cap="none" dirty="0">
                  <a:solidFill>
                    <a:schemeClr val="lt1"/>
                  </a:solidFill>
                </a:rPr>
                <a:t>.Conclusion et Perspectives</a:t>
              </a:r>
              <a:endParaRPr sz="1400" b="1" i="0" u="none" strike="noStrike" cap="none" dirty="0">
                <a:solidFill>
                  <a:schemeClr val="lt1"/>
                </a:solidFill>
              </a:endParaRPr>
            </a:p>
          </p:txBody>
        </p:sp>
      </p:grpSp>
      <p:sp>
        <p:nvSpPr>
          <p:cNvPr id="29" name="object 5"/>
          <p:cNvSpPr/>
          <p:nvPr/>
        </p:nvSpPr>
        <p:spPr>
          <a:xfrm>
            <a:off x="81293"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pic>
        <p:nvPicPr>
          <p:cNvPr id="18" name="Image 17" descr="Une image contenant clipart, Graphique, Dessin animé, illustration&#10;&#10;Description générée automatiquement">
            <a:extLst>
              <a:ext uri="{FF2B5EF4-FFF2-40B4-BE49-F238E27FC236}">
                <a16:creationId xmlns:a16="http://schemas.microsoft.com/office/drawing/2014/main" id="{61967202-72F0-4F04-8DEE-5D69F3C5CD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72012" y="3722251"/>
            <a:ext cx="2042622" cy="1964113"/>
          </a:xfrm>
          <a:prstGeom prst="rect">
            <a:avLst/>
          </a:prstGeom>
          <a:ln>
            <a:noFill/>
          </a:ln>
          <a:effectLst>
            <a:outerShdw blurRad="292100" dist="139700" dir="2700000" algn="tl" rotWithShape="0">
              <a:srgbClr val="333333">
                <a:alpha val="65000"/>
              </a:srgbClr>
            </a:outerShdw>
          </a:effectLst>
        </p:spPr>
      </p:pic>
      <p:sp>
        <p:nvSpPr>
          <p:cNvPr id="30" name="Espace réservé du numéro de diapositive 1">
            <a:extLst>
              <a:ext uri="{FF2B5EF4-FFF2-40B4-BE49-F238E27FC236}">
                <a16:creationId xmlns:a16="http://schemas.microsoft.com/office/drawing/2014/main" id="{ACF76DC0-4DD5-4B96-9068-5FDD694B92B0}"/>
              </a:ext>
            </a:extLst>
          </p:cNvPr>
          <p:cNvSpPr>
            <a:spLocks noGrp="1"/>
          </p:cNvSpPr>
          <p:nvPr>
            <p:ph type="sldNum" idx="12"/>
          </p:nvPr>
        </p:nvSpPr>
        <p:spPr>
          <a:xfrm>
            <a:off x="11633200" y="6336030"/>
            <a:ext cx="401320" cy="365125"/>
          </a:xfrm>
        </p:spPr>
        <p:txBody>
          <a:bodyPr/>
          <a:lstStyle/>
          <a:p>
            <a:pPr marL="0" lvl="0" indent="0" algn="r" rtl="0">
              <a:spcBef>
                <a:spcPts val="0"/>
              </a:spcBef>
              <a:spcAft>
                <a:spcPts val="0"/>
              </a:spcAft>
              <a:buNone/>
            </a:pPr>
            <a:r>
              <a:rPr lang="fr-FR" dirty="0"/>
              <a:t>32</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795"/>
                                        </p:tgtEl>
                                        <p:attrNameLst>
                                          <p:attrName>style.visibility</p:attrName>
                                        </p:attrNameLst>
                                      </p:cBhvr>
                                      <p:to>
                                        <p:strVal val="visible"/>
                                      </p:to>
                                    </p:set>
                                    <p:animEffect transition="in" filter="fade">
                                      <p:cBhvr>
                                        <p:cTn id="14" dur="500"/>
                                        <p:tgtEl>
                                          <p:spTgt spid="79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797"/>
                                        </p:tgtEl>
                                        <p:attrNameLst>
                                          <p:attrName>style.visibility</p:attrName>
                                        </p:attrNameLst>
                                      </p:cBhvr>
                                      <p:to>
                                        <p:strVal val="visible"/>
                                      </p:to>
                                    </p:set>
                                    <p:animEffect transition="in" filter="fade">
                                      <p:cBhvr>
                                        <p:cTn id="19" dur="500"/>
                                        <p:tgtEl>
                                          <p:spTgt spid="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5" grpId="0"/>
      <p:bldP spid="797"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14"/>
        <p:cNvGrpSpPr/>
        <p:nvPr/>
      </p:nvGrpSpPr>
      <p:grpSpPr>
        <a:xfrm>
          <a:off x="0" y="0"/>
          <a:ext cx="0" cy="0"/>
          <a:chOff x="0" y="0"/>
          <a:chExt cx="0" cy="0"/>
        </a:xfrm>
      </p:grpSpPr>
      <p:sp>
        <p:nvSpPr>
          <p:cNvPr id="815" name="Google Shape;815;p43"/>
          <p:cNvSpPr/>
          <p:nvPr/>
        </p:nvSpPr>
        <p:spPr>
          <a:xfrm>
            <a:off x="25"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6" name="Google Shape;816;p43"/>
          <p:cNvSpPr/>
          <p:nvPr/>
        </p:nvSpPr>
        <p:spPr>
          <a:xfrm>
            <a:off x="1804976" y="1501047"/>
            <a:ext cx="8582100" cy="21774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6600"/>
              <a:buFont typeface="Arial"/>
              <a:buNone/>
            </a:pPr>
            <a:r>
              <a:rPr lang="fr-FR" sz="5000" b="1" i="0" u="none" strike="noStrike" cap="none" dirty="0">
                <a:solidFill>
                  <a:schemeClr val="accent6">
                    <a:lumMod val="60000"/>
                    <a:lumOff val="40000"/>
                  </a:schemeClr>
                </a:solidFill>
              </a:rPr>
              <a:t>Merci de votre attention</a:t>
            </a:r>
            <a:endParaRPr sz="5000" b="1" i="0" u="none" strike="noStrike" cap="none" dirty="0">
              <a:solidFill>
                <a:schemeClr val="accent6">
                  <a:lumMod val="60000"/>
                  <a:lumOff val="40000"/>
                </a:schemeClr>
              </a:solidFill>
            </a:endParaRPr>
          </a:p>
        </p:txBody>
      </p:sp>
      <p:sp>
        <p:nvSpPr>
          <p:cNvPr id="817" name="Google Shape;817;p43"/>
          <p:cNvSpPr txBox="1"/>
          <p:nvPr/>
        </p:nvSpPr>
        <p:spPr>
          <a:xfrm>
            <a:off x="3606229" y="3061699"/>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830" name="Google Shape;830;p43"/>
          <p:cNvPicPr preferRelativeResize="0"/>
          <p:nvPr/>
        </p:nvPicPr>
        <p:blipFill>
          <a:blip r:embed="rId3">
            <a:alphaModFix/>
          </a:blip>
          <a:stretch>
            <a:fillRect/>
          </a:stretch>
        </p:blipFill>
        <p:spPr>
          <a:xfrm>
            <a:off x="282575" y="2928950"/>
            <a:ext cx="3679175" cy="3679175"/>
          </a:xfrm>
          <a:prstGeom prst="rect">
            <a:avLst/>
          </a:prstGeom>
          <a:noFill/>
          <a:ln>
            <a:noFill/>
          </a:ln>
        </p:spPr>
      </p:pic>
      <p:sp>
        <p:nvSpPr>
          <p:cNvPr id="29" name="object 5"/>
          <p:cNvSpPr/>
          <p:nvPr/>
        </p:nvSpPr>
        <p:spPr>
          <a:xfrm>
            <a:off x="81293" y="82127"/>
            <a:ext cx="12029413" cy="6693745"/>
          </a:xfrm>
          <a:custGeom>
            <a:avLst/>
            <a:gdLst/>
            <a:ahLst/>
            <a:cxnLst/>
            <a:rect l="l" t="t" r="r" b="b"/>
            <a:pathLst>
              <a:path w="8928100" h="4897120">
                <a:moveTo>
                  <a:pt x="0" y="4896612"/>
                </a:moveTo>
                <a:lnTo>
                  <a:pt x="8927592" y="4896612"/>
                </a:lnTo>
                <a:lnTo>
                  <a:pt x="8927592" y="0"/>
                </a:lnTo>
                <a:lnTo>
                  <a:pt x="0" y="0"/>
                </a:lnTo>
                <a:lnTo>
                  <a:pt x="0" y="4896612"/>
                </a:lnTo>
                <a:close/>
              </a:path>
            </a:pathLst>
          </a:custGeom>
          <a:ln w="25908">
            <a:solidFill>
              <a:schemeClr val="accent6">
                <a:lumMod val="60000"/>
                <a:lumOff val="40000"/>
              </a:schemeClr>
            </a:solidFill>
          </a:ln>
        </p:spPr>
        <p:txBody>
          <a:bodyPr wrap="square" lIns="0" tIns="0" rIns="0" bIns="0" rtlCol="0"/>
          <a:lstStyle/>
          <a:p>
            <a:pPr defTabSz="1219170">
              <a:buClrTx/>
            </a:pPr>
            <a:endParaRPr sz="2400" kern="1200">
              <a:solidFill>
                <a:prstClr val="black"/>
              </a:solidFill>
              <a:latin typeface="Calibri"/>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theme/theme1.xml><?xml version="1.0" encoding="utf-8"?>
<a:theme xmlns:a="http://schemas.openxmlformats.org/drawingml/2006/main" name="Office Theme">
  <a:themeElements>
    <a:clrScheme name="Thème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18314</TotalTime>
  <Words>2907</Words>
  <Application>Microsoft Office PowerPoint</Application>
  <PresentationFormat>Grand écran</PresentationFormat>
  <Paragraphs>436</Paragraphs>
  <Slides>35</Slides>
  <Notes>34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35</vt:i4>
      </vt:variant>
    </vt:vector>
  </HeadingPairs>
  <TitlesOfParts>
    <vt:vector size="41" baseType="lpstr">
      <vt:lpstr>Arial</vt:lpstr>
      <vt:lpstr>Calibri</vt:lpstr>
      <vt:lpstr>Segoe UI Historic</vt:lpstr>
      <vt:lpstr>Times</vt:lpstr>
      <vt:lpstr>Times New Roman</vt:lpstr>
      <vt:lpstr>Office Theme</vt:lpstr>
      <vt:lpstr>Présentation PowerPoint</vt:lpstr>
      <vt:lpstr>Sommaire</vt:lpstr>
      <vt:lpstr>Contexte général </vt:lpstr>
      <vt:lpstr>Présentation PowerPoint</vt:lpstr>
      <vt:lpstr>Présentation PowerPoint</vt:lpstr>
      <vt:lpstr>Présentation PowerPoint</vt:lpstr>
      <vt:lpstr>Présentation PowerPoint</vt:lpstr>
      <vt:lpstr>Présentation PowerPoint</vt:lpstr>
      <vt:lpstr>Analyse des besoins</vt:lpstr>
      <vt:lpstr>Présentation PowerPoint</vt:lpstr>
      <vt:lpstr>Présentation PowerPoint</vt:lpstr>
      <vt:lpstr>Présentation PowerPoint</vt:lpstr>
      <vt:lpstr>Conception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Réalisation</vt:lpstr>
      <vt:lpstr>Présentation PowerPoint</vt:lpstr>
      <vt:lpstr>Présentation PowerPoint</vt:lpstr>
      <vt:lpstr>Présentation PowerPoint</vt:lpstr>
      <vt:lpstr>Présentation PowerPoint</vt:lpstr>
      <vt:lpstr>Présentation PowerPoint</vt:lpstr>
      <vt:lpstr>Présentation PowerPoint</vt:lpstr>
      <vt:lpstr>Conclusion et perspectives </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DELL INSPIRON I7</dc:creator>
  <cp:lastModifiedBy>Oussema Koubaa</cp:lastModifiedBy>
  <cp:revision>318</cp:revision>
  <dcterms:modified xsi:type="dcterms:W3CDTF">2026-06-05T15:13:29Z</dcterms:modified>
</cp:coreProperties>
</file>