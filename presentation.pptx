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37"/>
  </p:notesMasterIdLst>
  <p:handoutMasterIdLst>
    <p:handoutMasterId r:id="rId38"/>
  </p:handoutMasterIdLst>
  <p:sldIdLst>
    <p:sldId id="256" r:id="rId2"/>
    <p:sldId id="320" r:id="rId3"/>
    <p:sldId id="354" r:id="rId4"/>
    <p:sldId id="361" r:id="rId5"/>
    <p:sldId id="261" r:id="rId6"/>
    <p:sldId id="357" r:id="rId7"/>
    <p:sldId id="337" r:id="rId8"/>
    <p:sldId id="363" r:id="rId9"/>
    <p:sldId id="352" r:id="rId10"/>
    <p:sldId id="332" r:id="rId11"/>
    <p:sldId id="360" r:id="rId12"/>
    <p:sldId id="359" r:id="rId13"/>
    <p:sldId id="353" r:id="rId14"/>
    <p:sldId id="381" r:id="rId15"/>
    <p:sldId id="382" r:id="rId16"/>
    <p:sldId id="364" r:id="rId17"/>
    <p:sldId id="269" r:id="rId18"/>
    <p:sldId id="370" r:id="rId19"/>
    <p:sldId id="371" r:id="rId20"/>
    <p:sldId id="373" r:id="rId21"/>
    <p:sldId id="374" r:id="rId22"/>
    <p:sldId id="376" r:id="rId23"/>
    <p:sldId id="377" r:id="rId24"/>
    <p:sldId id="380" r:id="rId25"/>
    <p:sldId id="355" r:id="rId26"/>
    <p:sldId id="326" r:id="rId27"/>
    <p:sldId id="341" r:id="rId28"/>
    <p:sldId id="343" r:id="rId29"/>
    <p:sldId id="338" r:id="rId30"/>
    <p:sldId id="342" r:id="rId31"/>
    <p:sldId id="319" r:id="rId32"/>
    <p:sldId id="356" r:id="rId33"/>
    <p:sldId id="362" r:id="rId34"/>
    <p:sldId id="285" r:id="rId35"/>
    <p:sldId id="286" r:id="rId3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EABAB"/>
    <a:srgbClr val="B4C7E7"/>
    <a:srgbClr val="1AAFE4"/>
    <a:srgbClr val="5EBFD2"/>
    <a:srgbClr val="AAE7F8"/>
    <a:srgbClr val="61D6FF"/>
    <a:srgbClr val="6BC6EB"/>
    <a:srgbClr val="4AB4E6"/>
    <a:srgbClr val="FF97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Style moyen 4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1" autoAdjust="0"/>
    <p:restoredTop sz="87786" autoAdjust="0"/>
  </p:normalViewPr>
  <p:slideViewPr>
    <p:cSldViewPr snapToGrid="0">
      <p:cViewPr>
        <p:scale>
          <a:sx n="75" d="100"/>
          <a:sy n="75" d="100"/>
        </p:scale>
        <p:origin x="336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6B7559-7654-4B48-8674-89DDA6A5112A}" type="datetimeFigureOut">
              <a:rPr lang="fr-FR" smtClean="0"/>
              <a:t>04/06/2026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41159E-4582-4A95-A4E1-58A43B93D8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831086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7761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642081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66f7ffb8f_1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2" name="Google Shape;192;g2566f7ffb8f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98338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66f7ffb8f_1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2" name="Google Shape;192;g2566f7ffb8f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66f7ffb8f_1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2" name="Google Shape;192;g2566f7ffb8f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967505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10" name="Google Shape;31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4636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8" name="Google Shape;40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98264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8" name="Google Shape;40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377934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006884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27741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02508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132931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466796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390935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735096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679384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214129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064250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7134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27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345544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02369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33522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04" name="Google Shape;704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297908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TN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30795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1" name="Google Shape;79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792" name="Google Shape;792;p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fr-FR"/>
              <a:t>34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813" name="Google Shape;813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contenu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ux contenus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seul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 avec légende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vec légende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texte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vertical et texte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3" Type="http://schemas.openxmlformats.org/officeDocument/2006/relationships/image" Target="../media/image2.jpeg"/><Relationship Id="rId7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Relationship Id="rId9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7" Type="http://schemas.openxmlformats.org/officeDocument/2006/relationships/image" Target="../media/image1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jpg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g"/><Relationship Id="rId5" Type="http://schemas.openxmlformats.org/officeDocument/2006/relationships/image" Target="../media/image27.jp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7" Type="http://schemas.openxmlformats.org/officeDocument/2006/relationships/image" Target="../media/image4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jpeg"/><Relationship Id="rId4" Type="http://schemas.openxmlformats.org/officeDocument/2006/relationships/image" Target="../media/image43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jpg"/><Relationship Id="rId5" Type="http://schemas.openxmlformats.org/officeDocument/2006/relationships/image" Target="../media/image52.jpeg"/><Relationship Id="rId4" Type="http://schemas.openxmlformats.org/officeDocument/2006/relationships/image" Target="../media/image43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svg"/><Relationship Id="rId5" Type="http://schemas.openxmlformats.org/officeDocument/2006/relationships/image" Target="../media/image62.png"/><Relationship Id="rId4" Type="http://schemas.openxmlformats.org/officeDocument/2006/relationships/image" Target="../media/image61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1117539" y="2798272"/>
            <a:ext cx="10110900" cy="86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fr-FR" sz="2500" b="1" i="0" u="none" strike="noStrike" cap="none" dirty="0">
                <a:solidFill>
                  <a:schemeClr val="dk1"/>
                </a:solidFill>
              </a:rPr>
              <a:t> </a:t>
            </a:r>
            <a:r>
              <a:rPr lang="fr-FR" sz="2500" b="1" dirty="0">
                <a:solidFill>
                  <a:schemeClr val="dk1"/>
                </a:solidFill>
              </a:rPr>
              <a:t>P</a:t>
            </a:r>
            <a:r>
              <a:rPr lang="fr-FR" sz="2500" b="1" i="0" u="none" strike="noStrike" cap="none" dirty="0">
                <a:solidFill>
                  <a:schemeClr val="dk1"/>
                </a:solidFill>
              </a:rPr>
              <a:t>lateforme de gestion et de suivi des plantes connectée à un pot intelligent avec un système éducatif</a:t>
            </a:r>
            <a:endParaRPr sz="2500" b="1" i="0" u="none" strike="noStrike" cap="none" dirty="0">
              <a:solidFill>
                <a:schemeClr val="dk1"/>
              </a:solidFill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3012974" y="4160889"/>
            <a:ext cx="6006636" cy="335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Élaboré par : </a:t>
            </a:r>
            <a:r>
              <a:rPr lang="fr-FR" sz="1800" b="1" dirty="0">
                <a:solidFill>
                  <a:schemeClr val="dk1"/>
                </a:solidFill>
              </a:rPr>
              <a:t>Oussema Koubaa &amp; Yassine </a:t>
            </a:r>
            <a:r>
              <a:rPr lang="fr-FR" sz="1800" b="1" dirty="0" err="1">
                <a:solidFill>
                  <a:schemeClr val="dk1"/>
                </a:solidFill>
              </a:rPr>
              <a:t>Rekik</a:t>
            </a:r>
            <a:endParaRPr sz="1800" b="1" i="0" u="none" strike="noStrike" cap="none" dirty="0">
              <a:solidFill>
                <a:srgbClr val="000000"/>
              </a:solidFill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2247092" y="5139578"/>
            <a:ext cx="3769200" cy="103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Encadrants : </a:t>
            </a:r>
            <a:endParaRPr sz="1800" b="1" i="0" u="none" strike="noStrike" cap="none" dirty="0">
              <a:solidFill>
                <a:schemeClr val="dk1"/>
              </a:solidFill>
            </a:endParaRP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</a:t>
            </a:r>
            <a:r>
              <a:rPr lang="fr-FR" sz="1800" b="1" dirty="0">
                <a:solidFill>
                  <a:schemeClr val="dk1"/>
                </a:solidFill>
              </a:rPr>
              <a:t>r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      Achraf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Mtibaa</a:t>
            </a:r>
            <a:endParaRPr sz="1800" b="1" i="0" u="none" strike="noStrike" cap="none" dirty="0">
              <a:solidFill>
                <a:schemeClr val="dk1"/>
              </a:solidFill>
            </a:endParaRP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Mme  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Dorra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Labidi</a:t>
            </a:r>
            <a:endParaRPr sz="1800" b="1" i="0" u="none" strike="noStrike" cap="none" dirty="0">
              <a:solidFill>
                <a:schemeClr val="dk1"/>
              </a:solidFill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4048775" y="6429425"/>
            <a:ext cx="3957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Année universitaire 2025</a:t>
            </a:r>
            <a:r>
              <a:rPr lang="fr-FR" sz="1800" b="1" dirty="0">
                <a:solidFill>
                  <a:schemeClr val="dk1"/>
                </a:solidFill>
              </a:rPr>
              <a:t>-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2026</a:t>
            </a:r>
            <a:endParaRPr sz="1800" b="1" i="0" u="none" strike="noStrike" cap="none" dirty="0">
              <a:solidFill>
                <a:srgbClr val="000000"/>
              </a:solidFill>
            </a:endParaRPr>
          </a:p>
        </p:txBody>
      </p:sp>
      <p:cxnSp>
        <p:nvCxnSpPr>
          <p:cNvPr id="94" name="Google Shape;94;p13"/>
          <p:cNvCxnSpPr>
            <a:cxnSpLocks/>
          </p:cNvCxnSpPr>
          <p:nvPr/>
        </p:nvCxnSpPr>
        <p:spPr>
          <a:xfrm>
            <a:off x="854548" y="2566861"/>
            <a:ext cx="10373891" cy="1528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5" name="Google Shape;95;p13"/>
          <p:cNvCxnSpPr>
            <a:cxnSpLocks/>
          </p:cNvCxnSpPr>
          <p:nvPr/>
        </p:nvCxnSpPr>
        <p:spPr>
          <a:xfrm flipV="1">
            <a:off x="854548" y="3825103"/>
            <a:ext cx="10373891" cy="2886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6" name="Google Shape;96;p13"/>
          <p:cNvSpPr/>
          <p:nvPr/>
        </p:nvSpPr>
        <p:spPr>
          <a:xfrm>
            <a:off x="6486188" y="5174089"/>
            <a:ext cx="3487800" cy="997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Membres du jury : </a:t>
            </a: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Mme 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Rawia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Ayadi</a:t>
            </a: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Mr      Tarak Ben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Said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78" y="682146"/>
            <a:ext cx="2486571" cy="14109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730494" y="682147"/>
            <a:ext cx="6632811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2000" b="0" cap="none" spc="0" noProof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Projet</a:t>
            </a:r>
            <a:r>
              <a:rPr lang="en-US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 de fin </a:t>
            </a:r>
            <a:r>
              <a:rPr lang="fr-FR" sz="2000" b="0" cap="none" spc="0" noProof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d’étude</a:t>
            </a:r>
            <a:r>
              <a:rPr lang="en-US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 pour </a:t>
            </a:r>
            <a:r>
              <a:rPr lang="fr-FR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l’obtention</a:t>
            </a:r>
            <a:r>
              <a:rPr lang="en-US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 du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52197" y="1311108"/>
            <a:ext cx="6632812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Diplôme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Nationale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de licence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en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Technologie de l’information et de communication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82403" y="4602381"/>
            <a:ext cx="77724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fr-FR" sz="2000" b="1" i="1" dirty="0"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Soutenu le 20 juin 2026, devant la commission d'examen:</a:t>
            </a:r>
            <a:endParaRPr lang="en-US" sz="2000" dirty="0">
              <a:effectLst/>
              <a:latin typeface="Times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object 5"/>
          <p:cNvSpPr/>
          <p:nvPr/>
        </p:nvSpPr>
        <p:spPr>
          <a:xfrm>
            <a:off x="103476" y="82127"/>
            <a:ext cx="11985048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rgbClr val="92D050"/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624A77DF-61BB-4C69-99F7-B689D4B696B9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6561" y="739484"/>
            <a:ext cx="1788160" cy="13174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A8B2EF2-A793-436F-9DB0-7844B8FF4F38}"/>
              </a:ext>
            </a:extLst>
          </p:cNvPr>
          <p:cNvSpPr/>
          <p:nvPr/>
        </p:nvSpPr>
        <p:spPr>
          <a:xfrm>
            <a:off x="1354142" y="809515"/>
            <a:ext cx="8330631" cy="64084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defTabSz="505022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fr-FR" sz="1105" b="1">
                <a:solidFill>
                  <a:srgbClr val="6464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endParaRPr lang="en-AU" sz="1105">
              <a:solidFill>
                <a:srgbClr val="6464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A1B17B8-71B3-4E2B-AE3F-FE2FFCC4D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018" y="896491"/>
            <a:ext cx="2790618" cy="492443"/>
          </a:xfrm>
        </p:spPr>
        <p:txBody>
          <a:bodyPr>
            <a:normAutofit fontScale="90000"/>
          </a:bodyPr>
          <a:lstStyle/>
          <a:p>
            <a:r>
              <a:rPr lang="fr-FR" sz="3200" b="1" dirty="0">
                <a:solidFill>
                  <a:schemeClr val="bg1"/>
                </a:solidFill>
                <a:latin typeface="Arial" panose="020B0604020202020204" pitchFamily="34" charset="0"/>
              </a:rPr>
              <a:t>Sommaire</a:t>
            </a:r>
          </a:p>
        </p:txBody>
      </p:sp>
      <p:grpSp>
        <p:nvGrpSpPr>
          <p:cNvPr id="20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17495" y="1842970"/>
            <a:ext cx="5271099" cy="595428"/>
            <a:chOff x="1282262" y="2144112"/>
            <a:chExt cx="7546427" cy="588580"/>
          </a:xfrm>
          <a:solidFill>
            <a:schemeClr val="bg1"/>
          </a:solidFill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fr-FR" sz="1600" b="1" dirty="0">
                  <a:solidFill>
                    <a:schemeClr val="tx1"/>
                  </a:solidFill>
                </a:rPr>
                <a:t>Contexte général</a:t>
              </a:r>
            </a:p>
          </p:txBody>
        </p:sp>
        <p:cxnSp>
          <p:nvCxnSpPr>
            <p:cNvPr id="22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01</a:t>
              </a:r>
            </a:p>
          </p:txBody>
        </p:sp>
      </p:grpSp>
      <p:grpSp>
        <p:nvGrpSpPr>
          <p:cNvPr id="37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2415" y="2467324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fr-FR" sz="1600" b="1" dirty="0">
                  <a:solidFill>
                    <a:schemeClr val="tx1"/>
                  </a:solidFill>
                </a:rPr>
                <a:t>Analyse des besoins</a:t>
              </a:r>
              <a:endParaRPr lang="pt-BR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02</a:t>
              </a:r>
            </a:p>
          </p:txBody>
        </p:sp>
      </p:grpSp>
      <p:grpSp>
        <p:nvGrpSpPr>
          <p:cNvPr id="41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2408" y="3096584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en-US" sz="1600" b="1" dirty="0">
                  <a:solidFill>
                    <a:schemeClr val="tx1"/>
                  </a:solidFill>
                </a:rPr>
                <a:t>Conception</a:t>
              </a:r>
            </a:p>
          </p:txBody>
        </p:sp>
        <p:cxnSp>
          <p:nvCxnSpPr>
            <p:cNvPr id="43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03</a:t>
              </a:r>
            </a:p>
          </p:txBody>
        </p:sp>
      </p:grpSp>
      <p:grpSp>
        <p:nvGrpSpPr>
          <p:cNvPr id="45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2414" y="3716023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pt-BR" sz="1600" b="1" dirty="0">
                  <a:solidFill>
                    <a:schemeClr val="tx1"/>
                  </a:solidFill>
                  <a:cs typeface="Raleway Light"/>
                </a:rPr>
                <a:t>Réalisation</a:t>
              </a:r>
            </a:p>
          </p:txBody>
        </p:sp>
        <p:cxnSp>
          <p:nvCxnSpPr>
            <p:cNvPr id="47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04</a:t>
              </a:r>
            </a:p>
          </p:txBody>
        </p:sp>
      </p:grpSp>
      <p:grpSp>
        <p:nvGrpSpPr>
          <p:cNvPr id="49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7327" y="4340798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pt-BR" sz="1600" b="1" dirty="0">
                  <a:solidFill>
                    <a:schemeClr val="tx1"/>
                  </a:solidFill>
                  <a:cs typeface="Raleway Light"/>
                </a:rPr>
                <a:t>Conclusion et perspectives</a:t>
              </a:r>
            </a:p>
          </p:txBody>
        </p:sp>
        <p:cxnSp>
          <p:nvCxnSpPr>
            <p:cNvPr id="51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05</a:t>
              </a:r>
            </a:p>
          </p:txBody>
        </p:sp>
      </p:grpSp>
      <p:sp>
        <p:nvSpPr>
          <p:cNvPr id="30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5361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8" name="object 2"/>
          <p:cNvSpPr/>
          <p:nvPr/>
        </p:nvSpPr>
        <p:spPr>
          <a:xfrm>
            <a:off x="2272101" y="2852842"/>
            <a:ext cx="983860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 dirty="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title"/>
          </p:nvPr>
        </p:nvSpPr>
        <p:spPr>
          <a:xfrm>
            <a:off x="4982046" y="3200979"/>
            <a:ext cx="3657600" cy="69472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lvl="0">
              <a:spcBef>
                <a:spcPts val="133"/>
              </a:spcBef>
            </a:pPr>
            <a:r>
              <a:rPr lang="fr-FR" sz="2400" b="1" dirty="0">
                <a:solidFill>
                  <a:schemeClr val="bg1"/>
                </a:solidFill>
                <a:latin typeface="+mj-lt"/>
              </a:rPr>
              <a:t>Contexte général</a:t>
            </a:r>
            <a:br>
              <a:rPr lang="fr-FR" sz="2400" b="1" dirty="0">
                <a:solidFill>
                  <a:schemeClr val="bg1"/>
                </a:solidFill>
                <a:latin typeface="+mj-lt"/>
              </a:rPr>
            </a:br>
            <a:endParaRPr sz="2400" b="1" spc="-13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0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72681" y="2962465"/>
            <a:ext cx="919915" cy="933234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4BBA0230-D7E8-4D5E-9467-F9A6208378B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1600" y="6325870"/>
            <a:ext cx="2997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18345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208647" y="946766"/>
            <a:ext cx="5864278" cy="717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lvl="0"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Organisme d’accueil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5" name="AutoShape 6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175175" y="8886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6" name="AutoShape 8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327575" y="10410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7" name="AutoShape 12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479975" y="1193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90" name="Google Shape;248;p19"/>
          <p:cNvGrpSpPr/>
          <p:nvPr/>
        </p:nvGrpSpPr>
        <p:grpSpPr>
          <a:xfrm>
            <a:off x="68379" y="258817"/>
            <a:ext cx="10365904" cy="650938"/>
            <a:chOff x="-43152" y="-19950"/>
            <a:chExt cx="10076703" cy="650938"/>
          </a:xfrm>
        </p:grpSpPr>
        <p:sp>
          <p:nvSpPr>
            <p:cNvPr id="9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9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9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0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1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2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3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114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AFACD4AD-646F-403E-BE49-61141CFE9B1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313" y="1664105"/>
            <a:ext cx="1788160" cy="1317493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Espace réservé du numéro de diapositive 1">
            <a:extLst>
              <a:ext uri="{FF2B5EF4-FFF2-40B4-BE49-F238E27FC236}">
                <a16:creationId xmlns:a16="http://schemas.microsoft.com/office/drawing/2014/main" id="{33A862BF-B033-48C5-A724-C790E6288A1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1600" y="6325870"/>
            <a:ext cx="2997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D6102244-F327-4C6D-925E-863D78B800E5}"/>
              </a:ext>
            </a:extLst>
          </p:cNvPr>
          <p:cNvGrpSpPr/>
          <p:nvPr/>
        </p:nvGrpSpPr>
        <p:grpSpPr>
          <a:xfrm>
            <a:off x="1292374" y="3639800"/>
            <a:ext cx="2200427" cy="960011"/>
            <a:chOff x="891148" y="-13521"/>
            <a:chExt cx="2200427" cy="960011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A7866AE-52EC-4D1F-A7D9-A2BB8C78E8EA}"/>
                </a:ext>
              </a:extLst>
            </p:cNvPr>
            <p:cNvSpPr/>
            <p:nvPr/>
          </p:nvSpPr>
          <p:spPr>
            <a:xfrm>
              <a:off x="933437" y="0"/>
              <a:ext cx="2158138" cy="946490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rgbClr r="0" g="0" b="0"/>
            </a:lnRef>
            <a:fillRef idx="1">
              <a:schemeClr val="lt1">
                <a:alpha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72B21A30-7214-4C09-AFD9-7DD0C737261B}"/>
                </a:ext>
              </a:extLst>
            </p:cNvPr>
            <p:cNvSpPr txBox="1"/>
            <p:nvPr/>
          </p:nvSpPr>
          <p:spPr>
            <a:xfrm>
              <a:off x="891148" y="-13521"/>
              <a:ext cx="2158138" cy="94649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33839" tIns="68580" rIns="68580" bIns="68580" numCol="1" spcCol="1270" anchor="ctr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fr-FR" sz="1800" kern="1200" dirty="0"/>
                <a:t>Téléphonie mobile et fixe</a:t>
              </a:r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CFB8D760-027D-4FCA-AD63-9B6F8E6F85F6}"/>
              </a:ext>
            </a:extLst>
          </p:cNvPr>
          <p:cNvSpPr/>
          <p:nvPr/>
        </p:nvSpPr>
        <p:spPr>
          <a:xfrm>
            <a:off x="976613" y="3593798"/>
            <a:ext cx="965089" cy="903569"/>
          </a:xfrm>
          <a:prstGeom prst="rect">
            <a:avLst/>
          </a:prstGeom>
          <a:blipFill>
            <a:blip r:embed="rId4"/>
            <a:srcRect/>
            <a:stretch>
              <a:fillRect t="-3000" b="-3000"/>
            </a:stretch>
          </a:blipFill>
        </p:spPr>
        <p:style>
          <a:lnRef idx="3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1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228E2B64-6885-41B0-A98D-F52091751D8D}"/>
              </a:ext>
            </a:extLst>
          </p:cNvPr>
          <p:cNvGrpSpPr/>
          <p:nvPr/>
        </p:nvGrpSpPr>
        <p:grpSpPr>
          <a:xfrm>
            <a:off x="4846374" y="3691683"/>
            <a:ext cx="1843750" cy="805684"/>
            <a:chOff x="4607198" y="398397"/>
            <a:chExt cx="1843750" cy="80568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C4C4A0A-DB0B-46E3-BD1C-1EB846CE04DB}"/>
                </a:ext>
              </a:extLst>
            </p:cNvPr>
            <p:cNvSpPr/>
            <p:nvPr/>
          </p:nvSpPr>
          <p:spPr>
            <a:xfrm>
              <a:off x="4607198" y="398397"/>
              <a:ext cx="1843750" cy="805684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rgbClr r="0" g="0" b="0"/>
            </a:lnRef>
            <a:fillRef idx="1">
              <a:schemeClr val="lt1">
                <a:alpha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4A8E5EB0-8DE0-4E2A-A5D4-CD5330017321}"/>
                </a:ext>
              </a:extLst>
            </p:cNvPr>
            <p:cNvSpPr txBox="1"/>
            <p:nvPr/>
          </p:nvSpPr>
          <p:spPr>
            <a:xfrm>
              <a:off x="4607198" y="398397"/>
              <a:ext cx="1843750" cy="805684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33839" tIns="68580" rIns="68580" bIns="68580" numCol="1" spcCol="1270" anchor="ctr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fr-FR" sz="18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Internet</a:t>
              </a: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CC9DE509-0A7A-4030-BDC0-ECB1593A99C2}"/>
              </a:ext>
            </a:extLst>
          </p:cNvPr>
          <p:cNvSpPr/>
          <p:nvPr/>
        </p:nvSpPr>
        <p:spPr>
          <a:xfrm>
            <a:off x="4658445" y="3576927"/>
            <a:ext cx="965089" cy="852801"/>
          </a:xfrm>
          <a:prstGeom prst="rect">
            <a:avLst/>
          </a:prstGeom>
          <a:blipFill>
            <a:blip r:embed="rId5"/>
            <a:srcRect/>
            <a:stretch>
              <a:fillRect/>
            </a:stretch>
          </a:blipFill>
        </p:spPr>
        <p:style>
          <a:lnRef idx="3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1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2D831B05-C7EE-4B22-8CB4-D0FAA066C4DF}"/>
              </a:ext>
            </a:extLst>
          </p:cNvPr>
          <p:cNvGrpSpPr/>
          <p:nvPr/>
        </p:nvGrpSpPr>
        <p:grpSpPr>
          <a:xfrm>
            <a:off x="8233367" y="3584702"/>
            <a:ext cx="2181874" cy="898663"/>
            <a:chOff x="7754627" y="297610"/>
            <a:chExt cx="2181874" cy="898663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083BB61-0D02-4DD7-A5CA-2A1442600667}"/>
                </a:ext>
              </a:extLst>
            </p:cNvPr>
            <p:cNvSpPr/>
            <p:nvPr/>
          </p:nvSpPr>
          <p:spPr>
            <a:xfrm>
              <a:off x="7754627" y="297610"/>
              <a:ext cx="2181874" cy="898663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rgbClr r="0" g="0" b="0"/>
            </a:lnRef>
            <a:fillRef idx="1">
              <a:schemeClr val="lt1">
                <a:alpha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2638A866-BAA4-4493-B2BD-D471D1303DA3}"/>
                </a:ext>
              </a:extLst>
            </p:cNvPr>
            <p:cNvSpPr txBox="1"/>
            <p:nvPr/>
          </p:nvSpPr>
          <p:spPr>
            <a:xfrm>
              <a:off x="7754627" y="297610"/>
              <a:ext cx="2181874" cy="89866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33839" tIns="68580" rIns="68580" bIns="68580" numCol="1" spcCol="1270" anchor="ctr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fr-FR" sz="18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Solutions entreprises</a:t>
              </a:r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868CBB72-828E-4E44-8798-56B8D96A02F6}"/>
              </a:ext>
            </a:extLst>
          </p:cNvPr>
          <p:cNvSpPr/>
          <p:nvPr/>
        </p:nvSpPr>
        <p:spPr>
          <a:xfrm>
            <a:off x="8040607" y="3576927"/>
            <a:ext cx="965089" cy="827800"/>
          </a:xfrm>
          <a:prstGeom prst="rect">
            <a:avLst/>
          </a:prstGeom>
          <a:blipFill>
            <a:blip r:embed="rId6"/>
            <a:srcRect/>
            <a:stretch>
              <a:fillRect t="-8000" b="-8000"/>
            </a:stretch>
          </a:blipFill>
        </p:spPr>
        <p:style>
          <a:lnRef idx="3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1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A456844F-CB4F-4EEC-95E8-E9DBC4AAF41B}"/>
              </a:ext>
            </a:extLst>
          </p:cNvPr>
          <p:cNvGrpSpPr/>
          <p:nvPr/>
        </p:nvGrpSpPr>
        <p:grpSpPr>
          <a:xfrm>
            <a:off x="1175175" y="5260969"/>
            <a:ext cx="2456334" cy="853745"/>
            <a:chOff x="383100" y="1995955"/>
            <a:chExt cx="2456334" cy="85374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6F88596-1260-4F07-BD15-06266C0D2AB8}"/>
                </a:ext>
              </a:extLst>
            </p:cNvPr>
            <p:cNvSpPr/>
            <p:nvPr/>
          </p:nvSpPr>
          <p:spPr>
            <a:xfrm>
              <a:off x="383100" y="1995955"/>
              <a:ext cx="2456334" cy="853745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rgbClr r="0" g="0" b="0"/>
            </a:lnRef>
            <a:fillRef idx="1">
              <a:schemeClr val="lt1">
                <a:alpha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37" name="ZoneTexte 36">
              <a:extLst>
                <a:ext uri="{FF2B5EF4-FFF2-40B4-BE49-F238E27FC236}">
                  <a16:creationId xmlns:a16="http://schemas.microsoft.com/office/drawing/2014/main" id="{ED4CFBAB-2EC5-4F8F-B4B8-45763EDCE75E}"/>
                </a:ext>
              </a:extLst>
            </p:cNvPr>
            <p:cNvSpPr txBox="1"/>
            <p:nvPr/>
          </p:nvSpPr>
          <p:spPr>
            <a:xfrm>
              <a:off x="383100" y="1995955"/>
              <a:ext cx="2456334" cy="8537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33839" tIns="68580" rIns="68580" bIns="68580" numCol="1" spcCol="1270" anchor="ctr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fr-FR" sz="18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Infrastructure Télécom</a:t>
              </a:r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1585284E-339B-49E3-8C2F-36768775EC36}"/>
              </a:ext>
            </a:extLst>
          </p:cNvPr>
          <p:cNvSpPr/>
          <p:nvPr/>
        </p:nvSpPr>
        <p:spPr>
          <a:xfrm>
            <a:off x="976612" y="5172046"/>
            <a:ext cx="965089" cy="867205"/>
          </a:xfrm>
          <a:prstGeom prst="rect">
            <a:avLst/>
          </a:prstGeom>
          <a:blipFill>
            <a:blip r:embed="rId7"/>
            <a:srcRect/>
            <a:stretch>
              <a:fillRect t="-6000" b="-6000"/>
            </a:stretch>
          </a:blipFill>
        </p:spPr>
        <p:style>
          <a:lnRef idx="3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1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0A401B02-3065-4540-8568-63CB780FF101}"/>
              </a:ext>
            </a:extLst>
          </p:cNvPr>
          <p:cNvGrpSpPr/>
          <p:nvPr/>
        </p:nvGrpSpPr>
        <p:grpSpPr>
          <a:xfrm>
            <a:off x="8160698" y="5111419"/>
            <a:ext cx="2293041" cy="1048012"/>
            <a:chOff x="4196782" y="1930815"/>
            <a:chExt cx="2293041" cy="1048012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2ACE258-8932-4647-872B-9612FCAB6D7F}"/>
                </a:ext>
              </a:extLst>
            </p:cNvPr>
            <p:cNvSpPr/>
            <p:nvPr/>
          </p:nvSpPr>
          <p:spPr>
            <a:xfrm>
              <a:off x="4196782" y="1930815"/>
              <a:ext cx="2293041" cy="1048012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rgbClr r="0" g="0" b="0"/>
            </a:lnRef>
            <a:fillRef idx="1">
              <a:schemeClr val="lt1">
                <a:alpha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E544C042-EFA0-43CC-BD57-2C871484BC36}"/>
                </a:ext>
              </a:extLst>
            </p:cNvPr>
            <p:cNvSpPr txBox="1"/>
            <p:nvPr/>
          </p:nvSpPr>
          <p:spPr>
            <a:xfrm>
              <a:off x="4196782" y="1930815"/>
              <a:ext cx="2293041" cy="104801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06640" tIns="68580" rIns="68580" bIns="68580" numCol="1" spcCol="1270" anchor="ctr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fr-FR" sz="1800" kern="1200" dirty="0"/>
                <a:t>Solutions intelligentes</a:t>
              </a:r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DAC4A6A2-FA83-4C6D-9203-839757F8CE83}"/>
              </a:ext>
            </a:extLst>
          </p:cNvPr>
          <p:cNvSpPr/>
          <p:nvPr/>
        </p:nvSpPr>
        <p:spPr>
          <a:xfrm>
            <a:off x="7695902" y="5074365"/>
            <a:ext cx="1151360" cy="972964"/>
          </a:xfrm>
          <a:prstGeom prst="rect">
            <a:avLst/>
          </a:prstGeom>
          <a:blipFill>
            <a:blip r:embed="rId8"/>
            <a:srcRect/>
            <a:stretch>
              <a:fillRect/>
            </a:stretch>
          </a:blipFill>
        </p:spPr>
        <p:style>
          <a:lnRef idx="3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1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92795AF2-662C-4E4D-824C-C70EE1EFFAEC}"/>
              </a:ext>
            </a:extLst>
          </p:cNvPr>
          <p:cNvGrpSpPr/>
          <p:nvPr/>
        </p:nvGrpSpPr>
        <p:grpSpPr>
          <a:xfrm>
            <a:off x="4597568" y="5216250"/>
            <a:ext cx="2341361" cy="943181"/>
            <a:chOff x="8256544" y="1993697"/>
            <a:chExt cx="2341361" cy="943181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3312457-DD1E-4B2B-9961-B4AEF80D6029}"/>
                </a:ext>
              </a:extLst>
            </p:cNvPr>
            <p:cNvSpPr/>
            <p:nvPr/>
          </p:nvSpPr>
          <p:spPr>
            <a:xfrm>
              <a:off x="8256544" y="1993697"/>
              <a:ext cx="2341361" cy="943181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rgbClr r="0" g="0" b="0"/>
            </a:lnRef>
            <a:fillRef idx="1">
              <a:schemeClr val="lt1">
                <a:alpha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784460B5-AD8A-4D29-8121-E507F59A609E}"/>
                </a:ext>
              </a:extLst>
            </p:cNvPr>
            <p:cNvSpPr txBox="1"/>
            <p:nvPr/>
          </p:nvSpPr>
          <p:spPr>
            <a:xfrm>
              <a:off x="8256544" y="1993697"/>
              <a:ext cx="2341361" cy="94318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33839" tIns="76200" rIns="76200" bIns="76200" numCol="1" spcCol="1270" anchor="ctr" anchorCtr="0">
              <a:noAutofit/>
            </a:bodyPr>
            <a:lstStyle/>
            <a:p>
              <a:pPr marL="0" lvl="0" indent="0" algn="l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fr-FR" sz="20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Qualité de service</a:t>
              </a:r>
              <a:endParaRPr lang="fr-FR" sz="4200" kern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186CC8A7-E3FC-4821-8351-AA1C81951414}"/>
              </a:ext>
            </a:extLst>
          </p:cNvPr>
          <p:cNvSpPr/>
          <p:nvPr/>
        </p:nvSpPr>
        <p:spPr>
          <a:xfrm>
            <a:off x="4251733" y="5127031"/>
            <a:ext cx="1069241" cy="957233"/>
          </a:xfrm>
          <a:prstGeom prst="rect">
            <a:avLst/>
          </a:prstGeom>
          <a:blipFill>
            <a:blip r:embed="rId9"/>
            <a:srcRect/>
            <a:stretch>
              <a:fillRect t="-6000" b="-6000"/>
            </a:stretch>
          </a:blipFill>
        </p:spPr>
        <p:style>
          <a:lnRef idx="3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1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</p:spTree>
    <p:extLst>
      <p:ext uri="{BB962C8B-B14F-4D97-AF65-F5344CB8AC3E}">
        <p14:creationId xmlns:p14="http://schemas.microsoft.com/office/powerpoint/2010/main" val="159600449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2528278" y="2027204"/>
            <a:ext cx="5567107" cy="717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01600"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/>
              <a:t>Comment assurer une gestion intelligente et un suivi efficace des plantes ?</a:t>
            </a:r>
            <a:endParaRPr sz="1600" b="1" i="0" u="none" strike="noStrike" cap="none" dirty="0">
              <a:solidFill>
                <a:schemeClr val="tx1"/>
              </a:solidFill>
            </a:endParaRPr>
          </a:p>
        </p:txBody>
      </p:sp>
      <p:sp>
        <p:nvSpPr>
          <p:cNvPr id="75" name="AutoShape 6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175175" y="8886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6" name="AutoShape 8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327575" y="10410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7" name="AutoShape 12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479975" y="1193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90" name="Google Shape;248;p19"/>
          <p:cNvGrpSpPr/>
          <p:nvPr/>
        </p:nvGrpSpPr>
        <p:grpSpPr>
          <a:xfrm>
            <a:off x="39196" y="192937"/>
            <a:ext cx="10365904" cy="650938"/>
            <a:chOff x="-43152" y="-19950"/>
            <a:chExt cx="10076703" cy="650938"/>
          </a:xfrm>
        </p:grpSpPr>
        <p:sp>
          <p:nvSpPr>
            <p:cNvPr id="9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9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9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0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1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2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3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114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E2FB199-3DF5-4B1B-B8A1-F012B2124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2682" y="1740832"/>
            <a:ext cx="1075836" cy="12395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4E55741E-20D9-4A4A-B134-CB3FF95745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18" y="3514344"/>
            <a:ext cx="1865376" cy="111861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1B106778-538B-4861-AFB6-7035B8B44503}"/>
              </a:ext>
            </a:extLst>
          </p:cNvPr>
          <p:cNvSpPr txBox="1"/>
          <p:nvPr/>
        </p:nvSpPr>
        <p:spPr>
          <a:xfrm>
            <a:off x="785850" y="4784050"/>
            <a:ext cx="2322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Assurer un apport en eau adapté selon les besoins de chaque plante.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E73A48FF-1A8F-449A-ADAD-72C1CDEAFE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834" y="3493729"/>
            <a:ext cx="1865376" cy="1290975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8D89E759-DC10-4CD2-B72B-609D373D2B1F}"/>
              </a:ext>
            </a:extLst>
          </p:cNvPr>
          <p:cNvSpPr txBox="1"/>
          <p:nvPr/>
        </p:nvSpPr>
        <p:spPr>
          <a:xfrm>
            <a:off x="3525520" y="4784050"/>
            <a:ext cx="25704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Surveiller le niveau d’humidité afin d’éviter le dessèchement ou l’excès en eau.</a:t>
            </a: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E8E4EB19-6238-473B-8899-8CDC018002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440" y="3482553"/>
            <a:ext cx="1536304" cy="1301497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0B683B19-7B15-41F9-BA21-3F3EEEFB23E2}"/>
              </a:ext>
            </a:extLst>
          </p:cNvPr>
          <p:cNvSpPr txBox="1"/>
          <p:nvPr/>
        </p:nvSpPr>
        <p:spPr>
          <a:xfrm>
            <a:off x="6513094" y="4804370"/>
            <a:ext cx="24226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Maintenir une température adaptée aux besoins de la plante.</a:t>
            </a:r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35BD90EC-0E04-4FD9-96A3-ECD1DA21D7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69855" y="3392599"/>
            <a:ext cx="1270490" cy="1239520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36E6E41A-5053-469E-9CC4-B1A985ACAE30}"/>
              </a:ext>
            </a:extLst>
          </p:cNvPr>
          <p:cNvSpPr txBox="1"/>
          <p:nvPr/>
        </p:nvSpPr>
        <p:spPr>
          <a:xfrm>
            <a:off x="9500668" y="4804370"/>
            <a:ext cx="220472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Observer régulièrement l’état général de la plante afin de détecter d’éventuelles anomalies ou maladies.</a:t>
            </a:r>
          </a:p>
        </p:txBody>
      </p:sp>
      <p:sp>
        <p:nvSpPr>
          <p:cNvPr id="28" name="Espace réservé du numéro de diapositive 1">
            <a:extLst>
              <a:ext uri="{FF2B5EF4-FFF2-40B4-BE49-F238E27FC236}">
                <a16:creationId xmlns:a16="http://schemas.microsoft.com/office/drawing/2014/main" id="{B6841D0A-5B12-46FA-993F-33C6A9EBB1E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1600" y="6325870"/>
            <a:ext cx="2997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3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" grpId="0"/>
      <p:bldP spid="12" grpId="0"/>
      <p:bldP spid="15" grpId="0"/>
      <p:bldP spid="22" grpId="0"/>
      <p:bldP spid="2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27"/>
          <p:cNvSpPr/>
          <p:nvPr/>
        </p:nvSpPr>
        <p:spPr>
          <a:xfrm rot="18590841">
            <a:off x="3822557" y="1260952"/>
            <a:ext cx="5245101" cy="5245101"/>
          </a:xfrm>
          <a:prstGeom prst="ellipse">
            <a:avLst/>
          </a:prstGeom>
          <a:gradFill flip="none" rotWithShape="1">
            <a:gsLst>
              <a:gs pos="0">
                <a:srgbClr val="D0D5D9"/>
              </a:gs>
              <a:gs pos="100000">
                <a:srgbClr val="FFFFFF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  <a:effectLst>
            <a:outerShdw blurRad="558800" dist="38100" dir="2700000" sx="103000" sy="103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Partial Circle 29"/>
          <p:cNvSpPr/>
          <p:nvPr/>
        </p:nvSpPr>
        <p:spPr>
          <a:xfrm rot="3741366">
            <a:off x="3608446" y="924868"/>
            <a:ext cx="5835492" cy="5835492"/>
          </a:xfrm>
          <a:prstGeom prst="pie">
            <a:avLst>
              <a:gd name="adj1" fmla="val 5283198"/>
              <a:gd name="adj2" fmla="val 8662092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>
            <a:outerShdw blurRad="317500" dist="38100" dir="8100000" algn="tr" rotWithShape="0">
              <a:schemeClr val="tx1">
                <a:lumMod val="85000"/>
                <a:lumOff val="1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9" name="Partial Circle 29"/>
          <p:cNvSpPr/>
          <p:nvPr/>
        </p:nvSpPr>
        <p:spPr>
          <a:xfrm>
            <a:off x="3547962" y="930479"/>
            <a:ext cx="5835492" cy="5835492"/>
          </a:xfrm>
          <a:prstGeom prst="pie">
            <a:avLst>
              <a:gd name="adj1" fmla="val 1666455"/>
              <a:gd name="adj2" fmla="val 5418988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0" name="Partial Circle 26"/>
          <p:cNvSpPr/>
          <p:nvPr/>
        </p:nvSpPr>
        <p:spPr>
          <a:xfrm>
            <a:off x="3547962" y="1000021"/>
            <a:ext cx="5835492" cy="5835492"/>
          </a:xfrm>
          <a:prstGeom prst="pie">
            <a:avLst>
              <a:gd name="adj1" fmla="val 19207856"/>
              <a:gd name="adj2" fmla="val 178985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254000" dist="38100" dir="5400000" sx="103000" sy="103000" algn="t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2" name="TextBox 53"/>
          <p:cNvSpPr txBox="1"/>
          <p:nvPr/>
        </p:nvSpPr>
        <p:spPr>
          <a:xfrm>
            <a:off x="7583363" y="2985688"/>
            <a:ext cx="180009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Absence</a:t>
            </a:r>
            <a:r>
              <a:rPr lang="fr-FR" sz="1400" b="1" dirty="0">
                <a:solidFill>
                  <a:schemeClr val="bg1"/>
                </a:solidFill>
              </a:rPr>
              <a:t> de solutions intelligentes en Tunisie dédiés à la gestion et au suivi des plantes. </a:t>
            </a:r>
          </a:p>
        </p:txBody>
      </p:sp>
      <p:sp>
        <p:nvSpPr>
          <p:cNvPr id="13" name="TextBox 54"/>
          <p:cNvSpPr txBox="1"/>
          <p:nvPr/>
        </p:nvSpPr>
        <p:spPr>
          <a:xfrm>
            <a:off x="6521746" y="5059403"/>
            <a:ext cx="15879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Manque de connaissances techniques liées à la gestion et à l’entretien des plantes.</a:t>
            </a:r>
            <a:endParaRPr lang="fr-FR" sz="1400" dirty="0">
              <a:solidFill>
                <a:schemeClr val="bg1"/>
              </a:solidFill>
            </a:endParaRPr>
          </a:p>
        </p:txBody>
      </p:sp>
      <p:sp>
        <p:nvSpPr>
          <p:cNvPr id="14" name="TextBox 54"/>
          <p:cNvSpPr txBox="1"/>
          <p:nvPr/>
        </p:nvSpPr>
        <p:spPr>
          <a:xfrm>
            <a:off x="3638186" y="3365561"/>
            <a:ext cx="169126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SzPts val="1400"/>
            </a:pPr>
            <a:r>
              <a:rPr lang="fr-FR" b="1" dirty="0">
                <a:solidFill>
                  <a:schemeClr val="bg1"/>
                </a:solidFill>
              </a:rPr>
              <a:t>Gaspillage des ressources hydriques dû à une irrigation non optimisé. </a:t>
            </a:r>
          </a:p>
        </p:txBody>
      </p:sp>
      <p:sp>
        <p:nvSpPr>
          <p:cNvPr id="15" name="Partial Circle 29"/>
          <p:cNvSpPr/>
          <p:nvPr/>
        </p:nvSpPr>
        <p:spPr>
          <a:xfrm rot="10800000">
            <a:off x="3604000" y="946354"/>
            <a:ext cx="5835492" cy="5835492"/>
          </a:xfrm>
          <a:prstGeom prst="pie">
            <a:avLst>
              <a:gd name="adj1" fmla="val 1666455"/>
              <a:gd name="adj2" fmla="val 5394915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6" name="Oval 31"/>
          <p:cNvSpPr/>
          <p:nvPr/>
        </p:nvSpPr>
        <p:spPr>
          <a:xfrm>
            <a:off x="5857908" y="3241393"/>
            <a:ext cx="1209122" cy="1209122"/>
          </a:xfrm>
          <a:prstGeom prst="ellipse">
            <a:avLst/>
          </a:prstGeom>
          <a:gradFill flip="none" rotWithShape="1">
            <a:gsLst>
              <a:gs pos="0">
                <a:srgbClr val="D0D5D9"/>
              </a:gs>
              <a:gs pos="100000">
                <a:srgbClr val="FFFFFF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  <a:effectLst>
            <a:outerShdw blurRad="330200" dist="38100" dir="2700000" sx="103000" sy="103000" algn="tl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7" name="TextBox 54"/>
          <p:cNvSpPr txBox="1"/>
          <p:nvPr/>
        </p:nvSpPr>
        <p:spPr>
          <a:xfrm>
            <a:off x="4693894" y="1590334"/>
            <a:ext cx="169126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Difficulté de gestion et de suivi des plantes face aux changements climatiques.</a:t>
            </a:r>
            <a:endParaRPr lang="fr-FR" sz="1400" b="1" dirty="0">
              <a:solidFill>
                <a:schemeClr val="bg1"/>
              </a:solidFill>
            </a:endParaRPr>
          </a:p>
        </p:txBody>
      </p:sp>
      <p:pic>
        <p:nvPicPr>
          <p:cNvPr id="19" name="Picture 5" descr="C:\Users\mohamed ben samir\Downloads\like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226418" y="4115176"/>
            <a:ext cx="325148" cy="325148"/>
          </a:xfrm>
          <a:prstGeom prst="rect">
            <a:avLst/>
          </a:prstGeom>
          <a:noFill/>
        </p:spPr>
      </p:pic>
      <p:sp>
        <p:nvSpPr>
          <p:cNvPr id="37" name="Google Shape;247;p19"/>
          <p:cNvSpPr txBox="1"/>
          <p:nvPr/>
        </p:nvSpPr>
        <p:spPr>
          <a:xfrm>
            <a:off x="191350" y="1002325"/>
            <a:ext cx="8476800" cy="601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 algn="l" rtl="0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</a:pPr>
            <a:r>
              <a:rPr lang="fr-FR" sz="2100" b="1" dirty="0">
                <a:solidFill>
                  <a:schemeClr val="accent6">
                    <a:lumMod val="60000"/>
                    <a:lumOff val="40000"/>
                  </a:schemeClr>
                </a:solidFill>
                <a:highlight>
                  <a:srgbClr val="FFFFFF"/>
                </a:highlight>
              </a:rPr>
              <a:t>Problématique</a:t>
            </a:r>
            <a:endParaRPr b="1" dirty="0">
              <a:solidFill>
                <a:schemeClr val="accent6">
                  <a:lumMod val="60000"/>
                  <a:lumOff val="4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ZoneTexte 38"/>
          <p:cNvSpPr txBox="1"/>
          <p:nvPr/>
        </p:nvSpPr>
        <p:spPr>
          <a:xfrm>
            <a:off x="323336" y="2546576"/>
            <a:ext cx="30175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/>
              <a:t>Processus de gestion et de suivi manuel ! </a:t>
            </a:r>
          </a:p>
        </p:txBody>
      </p:sp>
      <p:grpSp>
        <p:nvGrpSpPr>
          <p:cNvPr id="51" name="Google Shape;248;p19"/>
          <p:cNvGrpSpPr/>
          <p:nvPr/>
        </p:nvGrpSpPr>
        <p:grpSpPr>
          <a:xfrm>
            <a:off x="78370" y="259301"/>
            <a:ext cx="10365904" cy="650938"/>
            <a:chOff x="-43152" y="-19950"/>
            <a:chExt cx="10076703" cy="650938"/>
          </a:xfrm>
        </p:grpSpPr>
        <p:sp>
          <p:nvSpPr>
            <p:cNvPr id="52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3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4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6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7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8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9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0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61" name="object 5"/>
          <p:cNvSpPr/>
          <p:nvPr/>
        </p:nvSpPr>
        <p:spPr>
          <a:xfrm>
            <a:off x="78370" y="76154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F6B5611-B33D-49F5-8102-3ABA234A8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60" y="3345062"/>
            <a:ext cx="2301145" cy="2649338"/>
          </a:xfrm>
          <a:prstGeom prst="rect">
            <a:avLst/>
          </a:prstGeom>
        </p:spPr>
      </p:pic>
      <p:sp>
        <p:nvSpPr>
          <p:cNvPr id="28" name="Espace réservé du numéro de diapositive 1">
            <a:extLst>
              <a:ext uri="{FF2B5EF4-FFF2-40B4-BE49-F238E27FC236}">
                <a16:creationId xmlns:a16="http://schemas.microsoft.com/office/drawing/2014/main" id="{8E5204E8-0DB5-4428-8664-19EF7F629CB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1600" y="6325870"/>
            <a:ext cx="2997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870516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2" grpId="0"/>
      <p:bldP spid="13" grpId="0"/>
      <p:bldP spid="14" grpId="0"/>
      <p:bldP spid="15" grpId="0" animBg="1"/>
      <p:bldP spid="16" grpId="0" animBg="1"/>
      <p:bldP spid="17" grpId="0"/>
      <p:bldP spid="3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264;p20"/>
          <p:cNvSpPr/>
          <p:nvPr/>
        </p:nvSpPr>
        <p:spPr>
          <a:xfrm>
            <a:off x="165100" y="838725"/>
            <a:ext cx="82287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 proposée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0" name="Google Shape;248;p19"/>
          <p:cNvGrpSpPr/>
          <p:nvPr/>
        </p:nvGrpSpPr>
        <p:grpSpPr>
          <a:xfrm>
            <a:off x="73066" y="293216"/>
            <a:ext cx="10365904" cy="650938"/>
            <a:chOff x="-43152" y="-19950"/>
            <a:chExt cx="10076703" cy="650938"/>
          </a:xfrm>
        </p:grpSpPr>
        <p:sp>
          <p:nvSpPr>
            <p:cNvPr id="7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3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4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5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6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7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8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9" name="Google Shape;258;p19"/>
            <p:cNvSpPr txBox="1"/>
            <p:nvPr/>
          </p:nvSpPr>
          <p:spPr>
            <a:xfrm>
              <a:off x="7746930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80" name="object 5"/>
          <p:cNvSpPr/>
          <p:nvPr/>
        </p:nvSpPr>
        <p:spPr>
          <a:xfrm>
            <a:off x="68379" y="124979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ED61D63-8821-4E78-B130-910D585D425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07964" y="6361158"/>
            <a:ext cx="28956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5</a:t>
            </a:r>
          </a:p>
        </p:txBody>
      </p:sp>
      <p:grpSp>
        <p:nvGrpSpPr>
          <p:cNvPr id="64" name="Group 107">
            <a:extLst>
              <a:ext uri="{FF2B5EF4-FFF2-40B4-BE49-F238E27FC236}">
                <a16:creationId xmlns:a16="http://schemas.microsoft.com/office/drawing/2014/main" id="{F21598D4-AD81-491F-B8FB-1F7A1D026153}"/>
              </a:ext>
            </a:extLst>
          </p:cNvPr>
          <p:cNvGrpSpPr/>
          <p:nvPr/>
        </p:nvGrpSpPr>
        <p:grpSpPr>
          <a:xfrm flipH="1">
            <a:off x="2112841" y="1647424"/>
            <a:ext cx="7307739" cy="1247633"/>
            <a:chOff x="4229624" y="-90194"/>
            <a:chExt cx="2933700" cy="1957121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BE7D07E-B02B-440A-A176-E4E1F551B302}"/>
                </a:ext>
              </a:extLst>
            </p:cNvPr>
            <p:cNvSpPr/>
            <p:nvPr/>
          </p:nvSpPr>
          <p:spPr>
            <a:xfrm flipH="1">
              <a:off x="4229624" y="-90194"/>
              <a:ext cx="2933700" cy="152392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Concevoir et développer une plateforme de gestion et de suivi des plantes connectée à un pot intelligent. </a:t>
              </a:r>
              <a:endPara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7" name="Right Triangle 57">
              <a:extLst>
                <a:ext uri="{FF2B5EF4-FFF2-40B4-BE49-F238E27FC236}">
                  <a16:creationId xmlns:a16="http://schemas.microsoft.com/office/drawing/2014/main" id="{A3048CE8-5536-46C2-84EC-A458C2B0C2F4}"/>
                </a:ext>
              </a:extLst>
            </p:cNvPr>
            <p:cNvSpPr/>
            <p:nvPr/>
          </p:nvSpPr>
          <p:spPr>
            <a:xfrm rot="5400000">
              <a:off x="6666520" y="1376200"/>
              <a:ext cx="448055" cy="533400"/>
            </a:xfrm>
            <a:prstGeom prst="rtTriangle">
              <a:avLst/>
            </a:prstGeom>
            <a:solidFill>
              <a:schemeClr val="accent3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E43AE49C-AAD8-465A-A2C1-39B14A1BCAD6}"/>
              </a:ext>
            </a:extLst>
          </p:cNvPr>
          <p:cNvCxnSpPr>
            <a:cxnSpLocks/>
            <a:endCxn id="84" idx="3"/>
          </p:cNvCxnSpPr>
          <p:nvPr/>
        </p:nvCxnSpPr>
        <p:spPr>
          <a:xfrm flipH="1">
            <a:off x="1735303" y="2618902"/>
            <a:ext cx="787120" cy="1344040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D50D6178-44B2-450C-8DE0-B5D13368748B}"/>
              </a:ext>
            </a:extLst>
          </p:cNvPr>
          <p:cNvCxnSpPr>
            <a:cxnSpLocks/>
          </p:cNvCxnSpPr>
          <p:nvPr/>
        </p:nvCxnSpPr>
        <p:spPr>
          <a:xfrm>
            <a:off x="4460240" y="2611120"/>
            <a:ext cx="0" cy="1567705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9F0DADEB-A39D-4C1F-8C05-EC6ECB70BC4C}"/>
              </a:ext>
            </a:extLst>
          </p:cNvPr>
          <p:cNvCxnSpPr>
            <a:cxnSpLocks/>
            <a:endCxn id="92" idx="3"/>
          </p:cNvCxnSpPr>
          <p:nvPr/>
        </p:nvCxnSpPr>
        <p:spPr>
          <a:xfrm>
            <a:off x="7368969" y="2686970"/>
            <a:ext cx="9253" cy="1355719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 : avec coin arrondi et coin rogné en haut 83">
            <a:extLst>
              <a:ext uri="{FF2B5EF4-FFF2-40B4-BE49-F238E27FC236}">
                <a16:creationId xmlns:a16="http://schemas.microsoft.com/office/drawing/2014/main" id="{7FD5F6C5-C4C0-446F-B730-BC3A88DC30D0}"/>
              </a:ext>
            </a:extLst>
          </p:cNvPr>
          <p:cNvSpPr/>
          <p:nvPr/>
        </p:nvSpPr>
        <p:spPr>
          <a:xfrm>
            <a:off x="626439" y="3962942"/>
            <a:ext cx="2217728" cy="2305777"/>
          </a:xfrm>
          <a:prstGeom prst="snipRoundRect">
            <a:avLst/>
          </a:prstGeom>
          <a:noFill/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7" name="Groupe 86">
            <a:extLst>
              <a:ext uri="{FF2B5EF4-FFF2-40B4-BE49-F238E27FC236}">
                <a16:creationId xmlns:a16="http://schemas.microsoft.com/office/drawing/2014/main" id="{19C1F5DD-0DF3-4106-9B54-CB58226E961D}"/>
              </a:ext>
            </a:extLst>
          </p:cNvPr>
          <p:cNvGrpSpPr/>
          <p:nvPr/>
        </p:nvGrpSpPr>
        <p:grpSpPr>
          <a:xfrm>
            <a:off x="3210309" y="4178825"/>
            <a:ext cx="2476489" cy="2089894"/>
            <a:chOff x="4162313" y="3506920"/>
            <a:chExt cx="3269759" cy="2231631"/>
          </a:xfrm>
        </p:grpSpPr>
        <p:sp>
          <p:nvSpPr>
            <p:cNvPr id="88" name="Rectangle : avec coin arrondi et coin rogné en haut 87">
              <a:extLst>
                <a:ext uri="{FF2B5EF4-FFF2-40B4-BE49-F238E27FC236}">
                  <a16:creationId xmlns:a16="http://schemas.microsoft.com/office/drawing/2014/main" id="{4474A9B4-0F38-4B5E-866C-930F292ADC70}"/>
                </a:ext>
              </a:extLst>
            </p:cNvPr>
            <p:cNvSpPr/>
            <p:nvPr/>
          </p:nvSpPr>
          <p:spPr>
            <a:xfrm>
              <a:off x="4162313" y="3506920"/>
              <a:ext cx="3269759" cy="2231631"/>
            </a:xfrm>
            <a:prstGeom prst="snipRoundRect">
              <a:avLst/>
            </a:prstGeom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89" name="ZoneTexte 88">
              <a:extLst>
                <a:ext uri="{FF2B5EF4-FFF2-40B4-BE49-F238E27FC236}">
                  <a16:creationId xmlns:a16="http://schemas.microsoft.com/office/drawing/2014/main" id="{C374F97B-4996-4F00-ABFB-B451C2303140}"/>
                </a:ext>
              </a:extLst>
            </p:cNvPr>
            <p:cNvSpPr txBox="1"/>
            <p:nvPr/>
          </p:nvSpPr>
          <p:spPr>
            <a:xfrm>
              <a:off x="4269813" y="3570140"/>
              <a:ext cx="2891176" cy="3221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fr-FR" sz="2000" dirty="0">
                <a:latin typeface="+mj-lt"/>
              </a:endParaRPr>
            </a:p>
          </p:txBody>
        </p:sp>
      </p:grpSp>
      <p:grpSp>
        <p:nvGrpSpPr>
          <p:cNvPr id="91" name="Groupe 90">
            <a:extLst>
              <a:ext uri="{FF2B5EF4-FFF2-40B4-BE49-F238E27FC236}">
                <a16:creationId xmlns:a16="http://schemas.microsoft.com/office/drawing/2014/main" id="{BD889908-BD3A-462D-AFDE-DF144000C46A}"/>
              </a:ext>
            </a:extLst>
          </p:cNvPr>
          <p:cNvGrpSpPr/>
          <p:nvPr/>
        </p:nvGrpSpPr>
        <p:grpSpPr>
          <a:xfrm>
            <a:off x="6269358" y="4042689"/>
            <a:ext cx="2217728" cy="2226029"/>
            <a:chOff x="8116908" y="3486295"/>
            <a:chExt cx="3534766" cy="2252256"/>
          </a:xfrm>
        </p:grpSpPr>
        <p:sp>
          <p:nvSpPr>
            <p:cNvPr id="92" name="Rectangle : avec coin arrondi et coin rogné en haut 91">
              <a:extLst>
                <a:ext uri="{FF2B5EF4-FFF2-40B4-BE49-F238E27FC236}">
                  <a16:creationId xmlns:a16="http://schemas.microsoft.com/office/drawing/2014/main" id="{A7F20344-B561-4391-874D-5EC3EE7D4519}"/>
                </a:ext>
              </a:extLst>
            </p:cNvPr>
            <p:cNvSpPr/>
            <p:nvPr/>
          </p:nvSpPr>
          <p:spPr>
            <a:xfrm>
              <a:off x="8116908" y="3486295"/>
              <a:ext cx="3534766" cy="2252256"/>
            </a:xfrm>
            <a:prstGeom prst="snipRoundRect">
              <a:avLst/>
            </a:prstGeom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3" name="ZoneTexte 92">
              <a:extLst>
                <a:ext uri="{FF2B5EF4-FFF2-40B4-BE49-F238E27FC236}">
                  <a16:creationId xmlns:a16="http://schemas.microsoft.com/office/drawing/2014/main" id="{FB993550-123A-414F-BFE5-0EED9B6C4DEC}"/>
                </a:ext>
              </a:extLst>
            </p:cNvPr>
            <p:cNvSpPr txBox="1"/>
            <p:nvPr/>
          </p:nvSpPr>
          <p:spPr>
            <a:xfrm>
              <a:off x="8211067" y="3626935"/>
              <a:ext cx="3291919" cy="108991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600" dirty="0">
                  <a:latin typeface="+mj-lt"/>
                  <a:cs typeface="Times New Roman" panose="02020603050405020304" pitchFamily="18" charset="0"/>
                </a:rPr>
                <a:t>Intégrer une boutique en ligne permettant l’achat des pots connectés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7FE2F0D0-E798-4AA7-AAA2-D06D41BFC9C3}"/>
              </a:ext>
            </a:extLst>
          </p:cNvPr>
          <p:cNvSpPr txBox="1"/>
          <p:nvPr/>
        </p:nvSpPr>
        <p:spPr>
          <a:xfrm>
            <a:off x="747130" y="4074109"/>
            <a:ext cx="203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Assurer une surveillance en temps réel des paramètres environnementaux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35543AC-A708-4BA4-85D6-08F56A1AC7A2}"/>
              </a:ext>
            </a:extLst>
          </p:cNvPr>
          <p:cNvSpPr txBox="1"/>
          <p:nvPr/>
        </p:nvSpPr>
        <p:spPr>
          <a:xfrm>
            <a:off x="3315944" y="4267233"/>
            <a:ext cx="21413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+mj-lt"/>
                <a:cs typeface="Times New Roman" panose="02020603050405020304" pitchFamily="18" charset="0"/>
              </a:rPr>
              <a:t>Piloter et optimiser  l’irrigation afin de réduire le gaspillage des ressources hydriques</a:t>
            </a:r>
            <a:endParaRPr lang="fr-FR" sz="1600" dirty="0">
              <a:latin typeface="+mj-lt"/>
            </a:endParaRPr>
          </a:p>
        </p:txBody>
      </p:sp>
      <p:grpSp>
        <p:nvGrpSpPr>
          <p:cNvPr id="95" name="Groupe 94">
            <a:extLst>
              <a:ext uri="{FF2B5EF4-FFF2-40B4-BE49-F238E27FC236}">
                <a16:creationId xmlns:a16="http://schemas.microsoft.com/office/drawing/2014/main" id="{2F984FB4-5E08-456E-855A-82DB4A324186}"/>
              </a:ext>
            </a:extLst>
          </p:cNvPr>
          <p:cNvGrpSpPr/>
          <p:nvPr/>
        </p:nvGrpSpPr>
        <p:grpSpPr>
          <a:xfrm>
            <a:off x="9069646" y="3983168"/>
            <a:ext cx="2538318" cy="2285549"/>
            <a:chOff x="8116908" y="3486295"/>
            <a:chExt cx="3534766" cy="2252256"/>
          </a:xfrm>
        </p:grpSpPr>
        <p:sp>
          <p:nvSpPr>
            <p:cNvPr id="96" name="Rectangle : avec coin arrondi et coin rogné en haut 95">
              <a:extLst>
                <a:ext uri="{FF2B5EF4-FFF2-40B4-BE49-F238E27FC236}">
                  <a16:creationId xmlns:a16="http://schemas.microsoft.com/office/drawing/2014/main" id="{400EACA8-8ECA-4DA6-BBFB-415106C73066}"/>
                </a:ext>
              </a:extLst>
            </p:cNvPr>
            <p:cNvSpPr/>
            <p:nvPr/>
          </p:nvSpPr>
          <p:spPr>
            <a:xfrm>
              <a:off x="8116908" y="3486295"/>
              <a:ext cx="3534766" cy="2252256"/>
            </a:xfrm>
            <a:prstGeom prst="snipRoundRect">
              <a:avLst/>
            </a:prstGeom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7" name="ZoneTexte 96">
              <a:extLst>
                <a:ext uri="{FF2B5EF4-FFF2-40B4-BE49-F238E27FC236}">
                  <a16:creationId xmlns:a16="http://schemas.microsoft.com/office/drawing/2014/main" id="{6E68D331-EF0D-427B-87A3-8B1E8F0B9019}"/>
                </a:ext>
              </a:extLst>
            </p:cNvPr>
            <p:cNvSpPr txBox="1"/>
            <p:nvPr/>
          </p:nvSpPr>
          <p:spPr>
            <a:xfrm>
              <a:off x="8201588" y="3737012"/>
              <a:ext cx="3365405" cy="1868966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600" dirty="0">
                  <a:latin typeface="+mj-lt"/>
                  <a:cs typeface="Times New Roman" panose="02020603050405020304" pitchFamily="18" charset="0"/>
                </a:rPr>
                <a:t>Sensibiliser et accompagner les utilisateurs dans l’entretien des plantes grâce aux cours et jeux éducatifs</a:t>
              </a:r>
            </a:p>
          </p:txBody>
        </p:sp>
      </p:grpSp>
      <p:cxnSp>
        <p:nvCxnSpPr>
          <p:cNvPr id="98" name="Connecteur droit avec flèche 97">
            <a:extLst>
              <a:ext uri="{FF2B5EF4-FFF2-40B4-BE49-F238E27FC236}">
                <a16:creationId xmlns:a16="http://schemas.microsoft.com/office/drawing/2014/main" id="{EA47231F-B9CD-4328-8418-EC256E776D41}"/>
              </a:ext>
            </a:extLst>
          </p:cNvPr>
          <p:cNvCxnSpPr>
            <a:cxnSpLocks/>
          </p:cNvCxnSpPr>
          <p:nvPr/>
        </p:nvCxnSpPr>
        <p:spPr>
          <a:xfrm>
            <a:off x="8681185" y="2618902"/>
            <a:ext cx="1397974" cy="1344040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Image 98">
            <a:extLst>
              <a:ext uri="{FF2B5EF4-FFF2-40B4-BE49-F238E27FC236}">
                <a16:creationId xmlns:a16="http://schemas.microsoft.com/office/drawing/2014/main" id="{FFFF96A2-E695-4FD9-BB79-E4185D42B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372" y="5384323"/>
            <a:ext cx="905763" cy="850992"/>
          </a:xfrm>
          <a:prstGeom prst="rect">
            <a:avLst/>
          </a:prstGeom>
        </p:spPr>
      </p:pic>
      <p:pic>
        <p:nvPicPr>
          <p:cNvPr id="101" name="Image 100">
            <a:extLst>
              <a:ext uri="{FF2B5EF4-FFF2-40B4-BE49-F238E27FC236}">
                <a16:creationId xmlns:a16="http://schemas.microsoft.com/office/drawing/2014/main" id="{F9D5FD55-92F4-4B23-9C5A-E048A77065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634" y="5258826"/>
            <a:ext cx="1045352" cy="976489"/>
          </a:xfrm>
          <a:prstGeom prst="rect">
            <a:avLst/>
          </a:prstGeom>
        </p:spPr>
      </p:pic>
      <p:pic>
        <p:nvPicPr>
          <p:cNvPr id="103" name="Image 102">
            <a:extLst>
              <a:ext uri="{FF2B5EF4-FFF2-40B4-BE49-F238E27FC236}">
                <a16:creationId xmlns:a16="http://schemas.microsoft.com/office/drawing/2014/main" id="{7DF5A3A2-B56B-4076-9759-4EFFD8CAA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1717" y="5258826"/>
            <a:ext cx="1267213" cy="929826"/>
          </a:xfrm>
          <a:prstGeom prst="rect">
            <a:avLst/>
          </a:prstGeom>
        </p:spPr>
      </p:pic>
      <p:pic>
        <p:nvPicPr>
          <p:cNvPr id="108" name="Image 107">
            <a:extLst>
              <a:ext uri="{FF2B5EF4-FFF2-40B4-BE49-F238E27FC236}">
                <a16:creationId xmlns:a16="http://schemas.microsoft.com/office/drawing/2014/main" id="{571AA829-960F-42F9-ADF9-4BD19B5F8A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788" y="5590672"/>
            <a:ext cx="685012" cy="64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025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 animBg="1"/>
      <p:bldP spid="6" grpId="0"/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493250" y="457433"/>
            <a:ext cx="2359078" cy="662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8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lvl="0">
              <a:buClr>
                <a:srgbClr val="C55A11"/>
              </a:buClr>
              <a:buSzPts val="2000"/>
            </a:pPr>
            <a:r>
              <a:rPr lang="fr-FR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Méthodologie</a:t>
            </a:r>
            <a:endParaRPr sz="18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5" name="AutoShape 6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175175" y="8886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6" name="AutoShape 8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327575" y="10410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7" name="AutoShape 12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479975" y="1193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90" name="Google Shape;248;p19"/>
          <p:cNvGrpSpPr/>
          <p:nvPr/>
        </p:nvGrpSpPr>
        <p:grpSpPr>
          <a:xfrm>
            <a:off x="70939" y="195869"/>
            <a:ext cx="10399334" cy="650938"/>
            <a:chOff x="-75649" y="-19950"/>
            <a:chExt cx="10109200" cy="650938"/>
          </a:xfrm>
        </p:grpSpPr>
        <p:sp>
          <p:nvSpPr>
            <p:cNvPr id="91" name="Google Shape;250;p19"/>
            <p:cNvSpPr txBox="1"/>
            <p:nvPr/>
          </p:nvSpPr>
          <p:spPr>
            <a:xfrm>
              <a:off x="-75649" y="18926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9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fr-FR" sz="1400" i="0" u="none" strike="noStrike" cap="none" dirty="0">
                  <a:solidFill>
                    <a:schemeClr val="lt1"/>
                  </a:solidFill>
                </a:rPr>
                <a:t> </a:t>
              </a:r>
              <a:endParaRPr sz="1400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9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0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1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2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3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114" name="object 5"/>
          <p:cNvSpPr/>
          <p:nvPr/>
        </p:nvSpPr>
        <p:spPr>
          <a:xfrm>
            <a:off x="58218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FF3B26B-ED38-4F88-B68B-526CFE975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498" y="1769889"/>
            <a:ext cx="8684842" cy="4581956"/>
          </a:xfrm>
          <a:prstGeom prst="rect">
            <a:avLst/>
          </a:prstGeom>
        </p:spPr>
      </p:pic>
      <p:sp>
        <p:nvSpPr>
          <p:cNvPr id="18" name="Espace réservé du numéro de diapositive 1">
            <a:extLst>
              <a:ext uri="{FF2B5EF4-FFF2-40B4-BE49-F238E27FC236}">
                <a16:creationId xmlns:a16="http://schemas.microsoft.com/office/drawing/2014/main" id="{DC65C7D0-170E-4D0E-B38F-6A2448A12D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1600" y="6325870"/>
            <a:ext cx="2997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8251635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5"/>
          <p:cNvSpPr/>
          <p:nvPr/>
        </p:nvSpPr>
        <p:spPr>
          <a:xfrm>
            <a:off x="81293" y="82128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8" name="object 2"/>
          <p:cNvSpPr/>
          <p:nvPr/>
        </p:nvSpPr>
        <p:spPr>
          <a:xfrm>
            <a:off x="2272101" y="2852843"/>
            <a:ext cx="983860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title"/>
          </p:nvPr>
        </p:nvSpPr>
        <p:spPr>
          <a:xfrm>
            <a:off x="4982046" y="3247921"/>
            <a:ext cx="3657600" cy="36232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lvl="0" algn="l" rtl="0">
              <a:spcBef>
                <a:spcPts val="133"/>
              </a:spcBef>
            </a:pPr>
            <a:r>
              <a:rPr lang="fr-FR" sz="2400" b="1" dirty="0">
                <a:solidFill>
                  <a:schemeClr val="bg1"/>
                </a:solidFill>
                <a:latin typeface="+mj-lt"/>
              </a:rPr>
              <a:t>Analyse des besoins</a:t>
            </a:r>
            <a:endParaRPr sz="2400" b="1" spc="-13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0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2681" y="2962465"/>
            <a:ext cx="919915" cy="933234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54068A1-3651-4D2D-89BD-6E47E677DEA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93476" y="6336030"/>
            <a:ext cx="2997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09800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2"/>
          <p:cNvSpPr txBox="1"/>
          <p:nvPr/>
        </p:nvSpPr>
        <p:spPr>
          <a:xfrm>
            <a:off x="284591" y="1123327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Identification des acteurs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15" name="Google Shape;315;p22"/>
          <p:cNvSpPr txBox="1"/>
          <p:nvPr/>
        </p:nvSpPr>
        <p:spPr>
          <a:xfrm>
            <a:off x="1007954" y="4488123"/>
            <a:ext cx="326972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b="1" dirty="0">
                <a:latin typeface="+mj-lt"/>
                <a:ea typeface="Calibri"/>
                <a:cs typeface="Calibri"/>
                <a:sym typeface="Calibri"/>
              </a:rPr>
              <a:t>Visiteur</a:t>
            </a:r>
            <a:endParaRPr sz="2000" b="1" dirty="0">
              <a:latin typeface="+mj-lt"/>
              <a:ea typeface="Calibri"/>
              <a:cs typeface="Calibri"/>
              <a:sym typeface="Calibri"/>
            </a:endParaRPr>
          </a:p>
        </p:txBody>
      </p:sp>
      <p:grpSp>
        <p:nvGrpSpPr>
          <p:cNvPr id="29" name="Google Shape;248;p19"/>
          <p:cNvGrpSpPr/>
          <p:nvPr/>
        </p:nvGrpSpPr>
        <p:grpSpPr>
          <a:xfrm>
            <a:off x="94328" y="269603"/>
            <a:ext cx="10365904" cy="650938"/>
            <a:chOff x="-43152" y="-19950"/>
            <a:chExt cx="10076703" cy="650938"/>
          </a:xfrm>
        </p:grpSpPr>
        <p:sp>
          <p:nvSpPr>
            <p:cNvPr id="30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2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3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4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5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6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7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8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39" name="object 5"/>
          <p:cNvSpPr/>
          <p:nvPr/>
        </p:nvSpPr>
        <p:spPr>
          <a:xfrm>
            <a:off x="6825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86264E2D-262D-4F2F-BE72-AD84822B3B4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29467"/>
            <a:ext cx="32004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8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9C36322-B746-40F0-8509-9316901F9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5693" y="2720283"/>
            <a:ext cx="1676095" cy="176784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928D8D1-D61E-41FB-88EE-0A8113F4CA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400" y="2660085"/>
            <a:ext cx="1814091" cy="1814091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42F8262-E238-41C4-AE4A-10C4FD4D45FE}"/>
              </a:ext>
            </a:extLst>
          </p:cNvPr>
          <p:cNvSpPr txBox="1"/>
          <p:nvPr/>
        </p:nvSpPr>
        <p:spPr>
          <a:xfrm>
            <a:off x="5269407" y="4566478"/>
            <a:ext cx="23146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Client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8AEB83B4-3192-4AD1-A254-F6CE568667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7103" y="2766156"/>
            <a:ext cx="2089260" cy="1676095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424F79B0-032C-4AB7-8C5B-C1BDE3F06CEF}"/>
              </a:ext>
            </a:extLst>
          </p:cNvPr>
          <p:cNvSpPr txBox="1"/>
          <p:nvPr/>
        </p:nvSpPr>
        <p:spPr>
          <a:xfrm>
            <a:off x="8074312" y="4520327"/>
            <a:ext cx="24972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Administrateur</a:t>
            </a:r>
          </a:p>
        </p:txBody>
      </p:sp>
    </p:spTree>
    <p:extLst>
      <p:ext uri="{BB962C8B-B14F-4D97-AF65-F5344CB8AC3E}">
        <p14:creationId xmlns:p14="http://schemas.microsoft.com/office/powerpoint/2010/main" val="3227605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5" grpId="0"/>
      <p:bldP spid="11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5"/>
          <p:cNvSpPr txBox="1"/>
          <p:nvPr/>
        </p:nvSpPr>
        <p:spPr>
          <a:xfrm>
            <a:off x="169250" y="1108782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Besoins fonctionnels </a:t>
            </a:r>
            <a:endParaRPr sz="2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2" name="Google Shape;248;p19"/>
          <p:cNvGrpSpPr/>
          <p:nvPr/>
        </p:nvGrpSpPr>
        <p:grpSpPr>
          <a:xfrm>
            <a:off x="94328" y="269603"/>
            <a:ext cx="10365904" cy="650938"/>
            <a:chOff x="-43152" y="-19950"/>
            <a:chExt cx="10076703" cy="650938"/>
          </a:xfrm>
        </p:grpSpPr>
        <p:sp>
          <p:nvSpPr>
            <p:cNvPr id="23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7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8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9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0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32" name="object 5"/>
          <p:cNvSpPr/>
          <p:nvPr/>
        </p:nvSpPr>
        <p:spPr>
          <a:xfrm>
            <a:off x="6825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3" name="Group 18">
            <a:extLst>
              <a:ext uri="{FF2B5EF4-FFF2-40B4-BE49-F238E27FC236}">
                <a16:creationId xmlns:a16="http://schemas.microsoft.com/office/drawing/2014/main" id="{41DE3E05-1FDA-467D-7ACA-46FE6E0CE41C}"/>
              </a:ext>
            </a:extLst>
          </p:cNvPr>
          <p:cNvGrpSpPr/>
          <p:nvPr/>
        </p:nvGrpSpPr>
        <p:grpSpPr>
          <a:xfrm>
            <a:off x="4848064" y="2939328"/>
            <a:ext cx="2488404" cy="2493914"/>
            <a:chOff x="4308506" y="1641506"/>
            <a:chExt cx="3574990" cy="3574990"/>
          </a:xfrm>
        </p:grpSpPr>
        <p:sp>
          <p:nvSpPr>
            <p:cNvPr id="34" name="Freeform 10">
              <a:extLst>
                <a:ext uri="{FF2B5EF4-FFF2-40B4-BE49-F238E27FC236}">
                  <a16:creationId xmlns:a16="http://schemas.microsoft.com/office/drawing/2014/main" id="{F6537360-876B-5782-69E9-F2830465F49C}"/>
                </a:ext>
              </a:extLst>
            </p:cNvPr>
            <p:cNvSpPr/>
            <p:nvPr/>
          </p:nvSpPr>
          <p:spPr>
            <a:xfrm>
              <a:off x="6273800" y="1641506"/>
              <a:ext cx="960390" cy="636372"/>
            </a:xfrm>
            <a:custGeom>
              <a:avLst/>
              <a:gdLst>
                <a:gd name="connsiteX0" fmla="*/ 0 w 960390"/>
                <a:gd name="connsiteY0" fmla="*/ 0 h 636372"/>
                <a:gd name="connsiteX1" fmla="*/ 5880 w 960390"/>
                <a:gd name="connsiteY1" fmla="*/ 297 h 636372"/>
                <a:gd name="connsiteX2" fmla="*/ 826626 w 960390"/>
                <a:gd name="connsiteY2" fmla="*/ 297831 h 636372"/>
                <a:gd name="connsiteX3" fmla="*/ 960390 w 960390"/>
                <a:gd name="connsiteY3" fmla="*/ 397858 h 636372"/>
                <a:gd name="connsiteX4" fmla="*/ 721876 w 960390"/>
                <a:gd name="connsiteY4" fmla="*/ 636372 h 636372"/>
                <a:gd name="connsiteX5" fmla="*/ 639763 w 960390"/>
                <a:gd name="connsiteY5" fmla="*/ 574969 h 636372"/>
                <a:gd name="connsiteX6" fmla="*/ 116897 w 960390"/>
                <a:gd name="connsiteY6" fmla="*/ 354946 h 636372"/>
                <a:gd name="connsiteX7" fmla="*/ 0 w 960390"/>
                <a:gd name="connsiteY7" fmla="*/ 337105 h 636372"/>
                <a:gd name="connsiteX8" fmla="*/ 0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0" y="0"/>
                  </a:moveTo>
                  <a:lnTo>
                    <a:pt x="5880" y="297"/>
                  </a:lnTo>
                  <a:cubicBezTo>
                    <a:pt x="307841" y="30963"/>
                    <a:pt x="587694" y="136412"/>
                    <a:pt x="826626" y="297831"/>
                  </a:cubicBezTo>
                  <a:lnTo>
                    <a:pt x="960390" y="397858"/>
                  </a:lnTo>
                  <a:lnTo>
                    <a:pt x="721876" y="636372"/>
                  </a:lnTo>
                  <a:lnTo>
                    <a:pt x="639763" y="574969"/>
                  </a:lnTo>
                  <a:cubicBezTo>
                    <a:pt x="484178" y="469857"/>
                    <a:pt x="307276" y="393903"/>
                    <a:pt x="116897" y="354946"/>
                  </a:cubicBezTo>
                  <a:lnTo>
                    <a:pt x="0" y="337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id="{9ED06520-666C-6121-A28D-0DA904A4B4C1}"/>
                </a:ext>
              </a:extLst>
            </p:cNvPr>
            <p:cNvSpPr/>
            <p:nvPr/>
          </p:nvSpPr>
          <p:spPr>
            <a:xfrm>
              <a:off x="4944876" y="1641506"/>
              <a:ext cx="973324" cy="672431"/>
            </a:xfrm>
            <a:custGeom>
              <a:avLst/>
              <a:gdLst>
                <a:gd name="connsiteX0" fmla="*/ 960389 w 960389"/>
                <a:gd name="connsiteY0" fmla="*/ 0 h 636372"/>
                <a:gd name="connsiteX1" fmla="*/ 960389 w 960389"/>
                <a:gd name="connsiteY1" fmla="*/ 337105 h 636372"/>
                <a:gd name="connsiteX2" fmla="*/ 843494 w 960389"/>
                <a:gd name="connsiteY2" fmla="*/ 354946 h 636372"/>
                <a:gd name="connsiteX3" fmla="*/ 320628 w 960389"/>
                <a:gd name="connsiteY3" fmla="*/ 574969 h 636372"/>
                <a:gd name="connsiteX4" fmla="*/ 238514 w 960389"/>
                <a:gd name="connsiteY4" fmla="*/ 636372 h 636372"/>
                <a:gd name="connsiteX5" fmla="*/ 0 w 960389"/>
                <a:gd name="connsiteY5" fmla="*/ 397858 h 636372"/>
                <a:gd name="connsiteX6" fmla="*/ 133765 w 960389"/>
                <a:gd name="connsiteY6" fmla="*/ 297831 h 636372"/>
                <a:gd name="connsiteX7" fmla="*/ 954511 w 960389"/>
                <a:gd name="connsiteY7" fmla="*/ 297 h 636372"/>
                <a:gd name="connsiteX8" fmla="*/ 960389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960389" y="0"/>
                  </a:moveTo>
                  <a:lnTo>
                    <a:pt x="960389" y="337105"/>
                  </a:lnTo>
                  <a:lnTo>
                    <a:pt x="843494" y="354946"/>
                  </a:lnTo>
                  <a:cubicBezTo>
                    <a:pt x="653116" y="393903"/>
                    <a:pt x="476214" y="469857"/>
                    <a:pt x="320628" y="574969"/>
                  </a:cubicBezTo>
                  <a:lnTo>
                    <a:pt x="238514" y="636372"/>
                  </a:lnTo>
                  <a:lnTo>
                    <a:pt x="0" y="397858"/>
                  </a:lnTo>
                  <a:lnTo>
                    <a:pt x="133765" y="297831"/>
                  </a:lnTo>
                  <a:cubicBezTo>
                    <a:pt x="372697" y="136412"/>
                    <a:pt x="652550" y="30963"/>
                    <a:pt x="954511" y="297"/>
                  </a:cubicBezTo>
                  <a:lnTo>
                    <a:pt x="96038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6" name="Freeform 12">
              <a:extLst>
                <a:ext uri="{FF2B5EF4-FFF2-40B4-BE49-F238E27FC236}">
                  <a16:creationId xmlns:a16="http://schemas.microsoft.com/office/drawing/2014/main" id="{63309346-3C24-F393-EBCE-307318E760CC}"/>
                </a:ext>
              </a:extLst>
            </p:cNvPr>
            <p:cNvSpPr/>
            <p:nvPr/>
          </p:nvSpPr>
          <p:spPr>
            <a:xfrm>
              <a:off x="7247124" y="2290811"/>
              <a:ext cx="636372" cy="960390"/>
            </a:xfrm>
            <a:custGeom>
              <a:avLst/>
              <a:gdLst>
                <a:gd name="connsiteX0" fmla="*/ 238514 w 636372"/>
                <a:gd name="connsiteY0" fmla="*/ 0 h 960390"/>
                <a:gd name="connsiteX1" fmla="*/ 338541 w 636372"/>
                <a:gd name="connsiteY1" fmla="*/ 133765 h 960390"/>
                <a:gd name="connsiteX2" fmla="*/ 636075 w 636372"/>
                <a:gd name="connsiteY2" fmla="*/ 954511 h 960390"/>
                <a:gd name="connsiteX3" fmla="*/ 636372 w 636372"/>
                <a:gd name="connsiteY3" fmla="*/ 960390 h 960390"/>
                <a:gd name="connsiteX4" fmla="*/ 299267 w 636372"/>
                <a:gd name="connsiteY4" fmla="*/ 960390 h 960390"/>
                <a:gd name="connsiteX5" fmla="*/ 281426 w 636372"/>
                <a:gd name="connsiteY5" fmla="*/ 843494 h 960390"/>
                <a:gd name="connsiteX6" fmla="*/ 61403 w 636372"/>
                <a:gd name="connsiteY6" fmla="*/ 320628 h 960390"/>
                <a:gd name="connsiteX7" fmla="*/ 0 w 636372"/>
                <a:gd name="connsiteY7" fmla="*/ 238514 h 960390"/>
                <a:gd name="connsiteX8" fmla="*/ 238514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38514" y="0"/>
                  </a:moveTo>
                  <a:lnTo>
                    <a:pt x="338541" y="133765"/>
                  </a:lnTo>
                  <a:cubicBezTo>
                    <a:pt x="499961" y="372697"/>
                    <a:pt x="605409" y="652550"/>
                    <a:pt x="636075" y="954511"/>
                  </a:cubicBezTo>
                  <a:lnTo>
                    <a:pt x="636372" y="960390"/>
                  </a:lnTo>
                  <a:lnTo>
                    <a:pt x="299267" y="960390"/>
                  </a:lnTo>
                  <a:lnTo>
                    <a:pt x="281426" y="843494"/>
                  </a:lnTo>
                  <a:cubicBezTo>
                    <a:pt x="242469" y="653116"/>
                    <a:pt x="166515" y="476214"/>
                    <a:pt x="61403" y="320628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</a:endParaRPr>
            </a:p>
          </p:txBody>
        </p:sp>
        <p:sp>
          <p:nvSpPr>
            <p:cNvPr id="37" name="Freeform 13">
              <a:extLst>
                <a:ext uri="{FF2B5EF4-FFF2-40B4-BE49-F238E27FC236}">
                  <a16:creationId xmlns:a16="http://schemas.microsoft.com/office/drawing/2014/main" id="{5144876D-5337-42D2-039C-48734C7235AC}"/>
                </a:ext>
              </a:extLst>
            </p:cNvPr>
            <p:cNvSpPr/>
            <p:nvPr/>
          </p:nvSpPr>
          <p:spPr>
            <a:xfrm>
              <a:off x="4308506" y="2290812"/>
              <a:ext cx="636372" cy="960389"/>
            </a:xfrm>
            <a:custGeom>
              <a:avLst/>
              <a:gdLst>
                <a:gd name="connsiteX0" fmla="*/ 397858 w 636372"/>
                <a:gd name="connsiteY0" fmla="*/ 0 h 960389"/>
                <a:gd name="connsiteX1" fmla="*/ 636372 w 636372"/>
                <a:gd name="connsiteY1" fmla="*/ 238514 h 960389"/>
                <a:gd name="connsiteX2" fmla="*/ 574969 w 636372"/>
                <a:gd name="connsiteY2" fmla="*/ 320627 h 960389"/>
                <a:gd name="connsiteX3" fmla="*/ 354946 w 636372"/>
                <a:gd name="connsiteY3" fmla="*/ 843493 h 960389"/>
                <a:gd name="connsiteX4" fmla="*/ 337105 w 636372"/>
                <a:gd name="connsiteY4" fmla="*/ 960389 h 960389"/>
                <a:gd name="connsiteX5" fmla="*/ 0 w 636372"/>
                <a:gd name="connsiteY5" fmla="*/ 960389 h 960389"/>
                <a:gd name="connsiteX6" fmla="*/ 297 w 636372"/>
                <a:gd name="connsiteY6" fmla="*/ 954510 h 960389"/>
                <a:gd name="connsiteX7" fmla="*/ 297831 w 636372"/>
                <a:gd name="connsiteY7" fmla="*/ 133764 h 960389"/>
                <a:gd name="connsiteX8" fmla="*/ 397858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397858" y="0"/>
                  </a:moveTo>
                  <a:lnTo>
                    <a:pt x="636372" y="238514"/>
                  </a:lnTo>
                  <a:lnTo>
                    <a:pt x="574969" y="320627"/>
                  </a:lnTo>
                  <a:cubicBezTo>
                    <a:pt x="469858" y="476213"/>
                    <a:pt x="393903" y="653115"/>
                    <a:pt x="354946" y="843493"/>
                  </a:cubicBezTo>
                  <a:lnTo>
                    <a:pt x="337105" y="960389"/>
                  </a:lnTo>
                  <a:lnTo>
                    <a:pt x="0" y="960389"/>
                  </a:lnTo>
                  <a:lnTo>
                    <a:pt x="297" y="954510"/>
                  </a:lnTo>
                  <a:cubicBezTo>
                    <a:pt x="30963" y="652549"/>
                    <a:pt x="136412" y="372696"/>
                    <a:pt x="297831" y="133764"/>
                  </a:cubicBezTo>
                  <a:lnTo>
                    <a:pt x="397858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8" name="Freeform 14">
              <a:extLst>
                <a:ext uri="{FF2B5EF4-FFF2-40B4-BE49-F238E27FC236}">
                  <a16:creationId xmlns:a16="http://schemas.microsoft.com/office/drawing/2014/main" id="{423D9BFB-902B-3EDF-C2D2-2121ED0C99B9}"/>
                </a:ext>
              </a:extLst>
            </p:cNvPr>
            <p:cNvSpPr/>
            <p:nvPr/>
          </p:nvSpPr>
          <p:spPr>
            <a:xfrm>
              <a:off x="4308506" y="3606801"/>
              <a:ext cx="636372" cy="960389"/>
            </a:xfrm>
            <a:custGeom>
              <a:avLst/>
              <a:gdLst>
                <a:gd name="connsiteX0" fmla="*/ 0 w 636372"/>
                <a:gd name="connsiteY0" fmla="*/ 0 h 960389"/>
                <a:gd name="connsiteX1" fmla="*/ 337105 w 636372"/>
                <a:gd name="connsiteY1" fmla="*/ 0 h 960389"/>
                <a:gd name="connsiteX2" fmla="*/ 354946 w 636372"/>
                <a:gd name="connsiteY2" fmla="*/ 116896 h 960389"/>
                <a:gd name="connsiteX3" fmla="*/ 574969 w 636372"/>
                <a:gd name="connsiteY3" fmla="*/ 639762 h 960389"/>
                <a:gd name="connsiteX4" fmla="*/ 636372 w 636372"/>
                <a:gd name="connsiteY4" fmla="*/ 721875 h 960389"/>
                <a:gd name="connsiteX5" fmla="*/ 397858 w 636372"/>
                <a:gd name="connsiteY5" fmla="*/ 960389 h 960389"/>
                <a:gd name="connsiteX6" fmla="*/ 297831 w 636372"/>
                <a:gd name="connsiteY6" fmla="*/ 826625 h 960389"/>
                <a:gd name="connsiteX7" fmla="*/ 297 w 636372"/>
                <a:gd name="connsiteY7" fmla="*/ 5879 h 960389"/>
                <a:gd name="connsiteX8" fmla="*/ 0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0" y="0"/>
                  </a:moveTo>
                  <a:lnTo>
                    <a:pt x="337105" y="0"/>
                  </a:lnTo>
                  <a:lnTo>
                    <a:pt x="354946" y="116896"/>
                  </a:lnTo>
                  <a:cubicBezTo>
                    <a:pt x="393903" y="307275"/>
                    <a:pt x="469858" y="484177"/>
                    <a:pt x="574969" y="639762"/>
                  </a:cubicBezTo>
                  <a:lnTo>
                    <a:pt x="636372" y="721875"/>
                  </a:lnTo>
                  <a:lnTo>
                    <a:pt x="397858" y="960389"/>
                  </a:lnTo>
                  <a:lnTo>
                    <a:pt x="297831" y="826625"/>
                  </a:lnTo>
                  <a:cubicBezTo>
                    <a:pt x="136412" y="587693"/>
                    <a:pt x="30963" y="307840"/>
                    <a:pt x="297" y="587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9" name="Freeform 15">
              <a:extLst>
                <a:ext uri="{FF2B5EF4-FFF2-40B4-BE49-F238E27FC236}">
                  <a16:creationId xmlns:a16="http://schemas.microsoft.com/office/drawing/2014/main" id="{2B44379F-D812-D20E-3505-B45372E3763F}"/>
                </a:ext>
              </a:extLst>
            </p:cNvPr>
            <p:cNvSpPr/>
            <p:nvPr/>
          </p:nvSpPr>
          <p:spPr>
            <a:xfrm>
              <a:off x="7247124" y="3606801"/>
              <a:ext cx="636372" cy="960390"/>
            </a:xfrm>
            <a:custGeom>
              <a:avLst/>
              <a:gdLst>
                <a:gd name="connsiteX0" fmla="*/ 299267 w 636372"/>
                <a:gd name="connsiteY0" fmla="*/ 0 h 960390"/>
                <a:gd name="connsiteX1" fmla="*/ 636372 w 636372"/>
                <a:gd name="connsiteY1" fmla="*/ 0 h 960390"/>
                <a:gd name="connsiteX2" fmla="*/ 636075 w 636372"/>
                <a:gd name="connsiteY2" fmla="*/ 5879 h 960390"/>
                <a:gd name="connsiteX3" fmla="*/ 338541 w 636372"/>
                <a:gd name="connsiteY3" fmla="*/ 826625 h 960390"/>
                <a:gd name="connsiteX4" fmla="*/ 238514 w 636372"/>
                <a:gd name="connsiteY4" fmla="*/ 960390 h 960390"/>
                <a:gd name="connsiteX5" fmla="*/ 0 w 636372"/>
                <a:gd name="connsiteY5" fmla="*/ 721876 h 960390"/>
                <a:gd name="connsiteX6" fmla="*/ 61403 w 636372"/>
                <a:gd name="connsiteY6" fmla="*/ 639762 h 960390"/>
                <a:gd name="connsiteX7" fmla="*/ 281426 w 636372"/>
                <a:gd name="connsiteY7" fmla="*/ 116896 h 960390"/>
                <a:gd name="connsiteX8" fmla="*/ 299267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99267" y="0"/>
                  </a:moveTo>
                  <a:lnTo>
                    <a:pt x="636372" y="0"/>
                  </a:lnTo>
                  <a:lnTo>
                    <a:pt x="636075" y="5879"/>
                  </a:lnTo>
                  <a:cubicBezTo>
                    <a:pt x="605409" y="307840"/>
                    <a:pt x="499961" y="587693"/>
                    <a:pt x="338541" y="826625"/>
                  </a:cubicBezTo>
                  <a:lnTo>
                    <a:pt x="238514" y="960390"/>
                  </a:lnTo>
                  <a:lnTo>
                    <a:pt x="0" y="721876"/>
                  </a:lnTo>
                  <a:lnTo>
                    <a:pt x="61403" y="639762"/>
                  </a:lnTo>
                  <a:cubicBezTo>
                    <a:pt x="166515" y="484177"/>
                    <a:pt x="242469" y="307275"/>
                    <a:pt x="281426" y="116896"/>
                  </a:cubicBezTo>
                  <a:lnTo>
                    <a:pt x="299267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532C119B-5F09-A780-8D99-7ECFE6DB1ED1}"/>
                </a:ext>
              </a:extLst>
            </p:cNvPr>
            <p:cNvSpPr/>
            <p:nvPr/>
          </p:nvSpPr>
          <p:spPr>
            <a:xfrm>
              <a:off x="4957811" y="4580124"/>
              <a:ext cx="960389" cy="636372"/>
            </a:xfrm>
            <a:custGeom>
              <a:avLst/>
              <a:gdLst>
                <a:gd name="connsiteX0" fmla="*/ 238514 w 960389"/>
                <a:gd name="connsiteY0" fmla="*/ 0 h 636372"/>
                <a:gd name="connsiteX1" fmla="*/ 320628 w 960389"/>
                <a:gd name="connsiteY1" fmla="*/ 61403 h 636372"/>
                <a:gd name="connsiteX2" fmla="*/ 843494 w 960389"/>
                <a:gd name="connsiteY2" fmla="*/ 281426 h 636372"/>
                <a:gd name="connsiteX3" fmla="*/ 960389 w 960389"/>
                <a:gd name="connsiteY3" fmla="*/ 299267 h 636372"/>
                <a:gd name="connsiteX4" fmla="*/ 960389 w 960389"/>
                <a:gd name="connsiteY4" fmla="*/ 636372 h 636372"/>
                <a:gd name="connsiteX5" fmla="*/ 954511 w 960389"/>
                <a:gd name="connsiteY5" fmla="*/ 636075 h 636372"/>
                <a:gd name="connsiteX6" fmla="*/ 133765 w 960389"/>
                <a:gd name="connsiteY6" fmla="*/ 338541 h 636372"/>
                <a:gd name="connsiteX7" fmla="*/ 0 w 960389"/>
                <a:gd name="connsiteY7" fmla="*/ 238514 h 636372"/>
                <a:gd name="connsiteX8" fmla="*/ 238514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238514" y="0"/>
                  </a:moveTo>
                  <a:lnTo>
                    <a:pt x="320628" y="61403"/>
                  </a:lnTo>
                  <a:cubicBezTo>
                    <a:pt x="476214" y="166515"/>
                    <a:pt x="653116" y="242469"/>
                    <a:pt x="843494" y="281426"/>
                  </a:cubicBezTo>
                  <a:lnTo>
                    <a:pt x="960389" y="299267"/>
                  </a:lnTo>
                  <a:lnTo>
                    <a:pt x="960389" y="636372"/>
                  </a:lnTo>
                  <a:lnTo>
                    <a:pt x="954511" y="636075"/>
                  </a:lnTo>
                  <a:cubicBezTo>
                    <a:pt x="652550" y="605409"/>
                    <a:pt x="372697" y="499961"/>
                    <a:pt x="133765" y="338541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0C19EBC6-2F97-7B5E-B5AB-CC0417FDEA06}"/>
                </a:ext>
              </a:extLst>
            </p:cNvPr>
            <p:cNvSpPr/>
            <p:nvPr/>
          </p:nvSpPr>
          <p:spPr>
            <a:xfrm>
              <a:off x="6273800" y="4580124"/>
              <a:ext cx="960390" cy="636372"/>
            </a:xfrm>
            <a:custGeom>
              <a:avLst/>
              <a:gdLst>
                <a:gd name="connsiteX0" fmla="*/ 721876 w 960390"/>
                <a:gd name="connsiteY0" fmla="*/ 0 h 636372"/>
                <a:gd name="connsiteX1" fmla="*/ 960390 w 960390"/>
                <a:gd name="connsiteY1" fmla="*/ 238514 h 636372"/>
                <a:gd name="connsiteX2" fmla="*/ 826626 w 960390"/>
                <a:gd name="connsiteY2" fmla="*/ 338541 h 636372"/>
                <a:gd name="connsiteX3" fmla="*/ 5880 w 960390"/>
                <a:gd name="connsiteY3" fmla="*/ 636075 h 636372"/>
                <a:gd name="connsiteX4" fmla="*/ 0 w 960390"/>
                <a:gd name="connsiteY4" fmla="*/ 636372 h 636372"/>
                <a:gd name="connsiteX5" fmla="*/ 0 w 960390"/>
                <a:gd name="connsiteY5" fmla="*/ 299267 h 636372"/>
                <a:gd name="connsiteX6" fmla="*/ 116897 w 960390"/>
                <a:gd name="connsiteY6" fmla="*/ 281426 h 636372"/>
                <a:gd name="connsiteX7" fmla="*/ 639763 w 960390"/>
                <a:gd name="connsiteY7" fmla="*/ 61403 h 636372"/>
                <a:gd name="connsiteX8" fmla="*/ 721876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721876" y="0"/>
                  </a:moveTo>
                  <a:lnTo>
                    <a:pt x="960390" y="238514"/>
                  </a:lnTo>
                  <a:lnTo>
                    <a:pt x="826626" y="338541"/>
                  </a:lnTo>
                  <a:cubicBezTo>
                    <a:pt x="587694" y="499961"/>
                    <a:pt x="307841" y="605409"/>
                    <a:pt x="5880" y="636075"/>
                  </a:cubicBezTo>
                  <a:lnTo>
                    <a:pt x="0" y="636372"/>
                  </a:lnTo>
                  <a:lnTo>
                    <a:pt x="0" y="299267"/>
                  </a:lnTo>
                  <a:lnTo>
                    <a:pt x="116897" y="281426"/>
                  </a:lnTo>
                  <a:cubicBezTo>
                    <a:pt x="307276" y="242469"/>
                    <a:pt x="484178" y="166515"/>
                    <a:pt x="639763" y="61403"/>
                  </a:cubicBezTo>
                  <a:lnTo>
                    <a:pt x="721876" y="0"/>
                  </a:lnTo>
                  <a:close/>
                </a:path>
              </a:pathLst>
            </a:custGeom>
            <a:solidFill>
              <a:srgbClr val="B4C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</p:grpSp>
      <p:cxnSp>
        <p:nvCxnSpPr>
          <p:cNvPr id="44" name="Straight Connector 30">
            <a:extLst>
              <a:ext uri="{FF2B5EF4-FFF2-40B4-BE49-F238E27FC236}">
                <a16:creationId xmlns:a16="http://schemas.microsoft.com/office/drawing/2014/main" id="{DB7D87D2-419D-9627-70A2-338723195390}"/>
              </a:ext>
            </a:extLst>
          </p:cNvPr>
          <p:cNvCxnSpPr>
            <a:cxnSpLocks/>
          </p:cNvCxnSpPr>
          <p:nvPr/>
        </p:nvCxnSpPr>
        <p:spPr>
          <a:xfrm flipH="1" flipV="1">
            <a:off x="6069565" y="2214847"/>
            <a:ext cx="13401" cy="74808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9">
            <a:extLst>
              <a:ext uri="{FF2B5EF4-FFF2-40B4-BE49-F238E27FC236}">
                <a16:creationId xmlns:a16="http://schemas.microsoft.com/office/drawing/2014/main" id="{29C2160A-77B1-AEF4-433C-EB28F5C4C2A2}"/>
              </a:ext>
            </a:extLst>
          </p:cNvPr>
          <p:cNvCxnSpPr>
            <a:cxnSpLocks/>
          </p:cNvCxnSpPr>
          <p:nvPr/>
        </p:nvCxnSpPr>
        <p:spPr>
          <a:xfrm flipV="1">
            <a:off x="3542160" y="4183169"/>
            <a:ext cx="1394089" cy="4727"/>
          </a:xfrm>
          <a:prstGeom prst="line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36">
            <a:extLst>
              <a:ext uri="{FF2B5EF4-FFF2-40B4-BE49-F238E27FC236}">
                <a16:creationId xmlns:a16="http://schemas.microsoft.com/office/drawing/2014/main" id="{D401B286-B338-3672-3133-DDB9ADD85BA5}"/>
              </a:ext>
            </a:extLst>
          </p:cNvPr>
          <p:cNvGrpSpPr/>
          <p:nvPr/>
        </p:nvGrpSpPr>
        <p:grpSpPr>
          <a:xfrm flipV="1">
            <a:off x="6884514" y="5023809"/>
            <a:ext cx="1399629" cy="631009"/>
            <a:chOff x="6995676" y="1831158"/>
            <a:chExt cx="2010791" cy="899302"/>
          </a:xfrm>
        </p:grpSpPr>
        <p:cxnSp>
          <p:nvCxnSpPr>
            <p:cNvPr id="47" name="Straight Connector 37">
              <a:extLst>
                <a:ext uri="{FF2B5EF4-FFF2-40B4-BE49-F238E27FC236}">
                  <a16:creationId xmlns:a16="http://schemas.microsoft.com/office/drawing/2014/main" id="{8529BF9F-1FCC-A516-9596-4324CB22736B}"/>
                </a:ext>
              </a:extLst>
            </p:cNvPr>
            <p:cNvCxnSpPr/>
            <p:nvPr/>
          </p:nvCxnSpPr>
          <p:spPr>
            <a:xfrm flipV="1">
              <a:off x="7928991" y="1831158"/>
              <a:ext cx="1077476" cy="0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38">
              <a:extLst>
                <a:ext uri="{FF2B5EF4-FFF2-40B4-BE49-F238E27FC236}">
                  <a16:creationId xmlns:a16="http://schemas.microsoft.com/office/drawing/2014/main" id="{54D00208-6058-AE16-8A85-9030E6BCD4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5676" y="1831158"/>
              <a:ext cx="933315" cy="899302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4AEF449F-1FA7-A05B-DB2A-369E888B77BB}"/>
              </a:ext>
            </a:extLst>
          </p:cNvPr>
          <p:cNvSpPr/>
          <p:nvPr/>
        </p:nvSpPr>
        <p:spPr>
          <a:xfrm>
            <a:off x="8820814" y="3411504"/>
            <a:ext cx="281148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SzPts val="2000"/>
            </a:pPr>
            <a:r>
              <a:rPr lang="fr-FR" sz="2000" b="1" dirty="0"/>
              <a:t>Gestion des commandes </a:t>
            </a:r>
          </a:p>
        </p:txBody>
      </p:sp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398C28B3-EAB1-3143-1486-3199339E5367}"/>
              </a:ext>
            </a:extLst>
          </p:cNvPr>
          <p:cNvCxnSpPr/>
          <p:nvPr/>
        </p:nvCxnSpPr>
        <p:spPr>
          <a:xfrm flipH="1" flipV="1">
            <a:off x="5463385" y="3379651"/>
            <a:ext cx="32613" cy="36955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8EB49E1A-42EA-9C7D-CE2B-9DBC478892C0}"/>
              </a:ext>
            </a:extLst>
          </p:cNvPr>
          <p:cNvSpPr txBox="1"/>
          <p:nvPr/>
        </p:nvSpPr>
        <p:spPr>
          <a:xfrm>
            <a:off x="5002261" y="3709825"/>
            <a:ext cx="23041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rgbClr val="002060"/>
                </a:solidFill>
              </a:rPr>
              <a:t>Besoins</a:t>
            </a:r>
          </a:p>
          <a:p>
            <a:pPr algn="ctr"/>
            <a:r>
              <a:rPr lang="fr-FR" sz="2400" b="1" dirty="0">
                <a:solidFill>
                  <a:srgbClr val="002060"/>
                </a:solidFill>
              </a:rPr>
              <a:t>Fonctionnels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C2DE4F92-8250-B35C-3C09-D64322781C64}"/>
              </a:ext>
            </a:extLst>
          </p:cNvPr>
          <p:cNvSpPr txBox="1"/>
          <p:nvPr/>
        </p:nvSpPr>
        <p:spPr>
          <a:xfrm>
            <a:off x="1382376" y="2334937"/>
            <a:ext cx="22398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/>
              <a:t>Authentification </a:t>
            </a: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0FE1B019-2BA5-37BE-7FE0-5D0AC92ADA00}"/>
              </a:ext>
            </a:extLst>
          </p:cNvPr>
          <p:cNvSpPr txBox="1"/>
          <p:nvPr/>
        </p:nvSpPr>
        <p:spPr>
          <a:xfrm>
            <a:off x="5002261" y="1481624"/>
            <a:ext cx="29618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fr-FR" sz="2000" b="1" dirty="0"/>
              <a:t>Gestion des comptes utilisateurs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04212C0F-5824-D707-3E2D-3B9866A6ABEF}"/>
              </a:ext>
            </a:extLst>
          </p:cNvPr>
          <p:cNvSpPr txBox="1"/>
          <p:nvPr/>
        </p:nvSpPr>
        <p:spPr>
          <a:xfrm>
            <a:off x="507053" y="4503389"/>
            <a:ext cx="28605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fr-FR" sz="2000" b="1" dirty="0"/>
              <a:t>Accès aux cours &amp; jeux éducatifs</a:t>
            </a:r>
          </a:p>
        </p:txBody>
      </p:sp>
      <p:grpSp>
        <p:nvGrpSpPr>
          <p:cNvPr id="51" name="Group 35">
            <a:extLst>
              <a:ext uri="{FF2B5EF4-FFF2-40B4-BE49-F238E27FC236}">
                <a16:creationId xmlns:a16="http://schemas.microsoft.com/office/drawing/2014/main" id="{0558098C-5938-92A7-3182-85B5B2E3B7AC}"/>
              </a:ext>
            </a:extLst>
          </p:cNvPr>
          <p:cNvGrpSpPr/>
          <p:nvPr/>
        </p:nvGrpSpPr>
        <p:grpSpPr>
          <a:xfrm flipH="1">
            <a:off x="3542160" y="2529682"/>
            <a:ext cx="1736658" cy="819487"/>
            <a:chOff x="7195584" y="1456191"/>
            <a:chExt cx="3462165" cy="1082322"/>
          </a:xfrm>
        </p:grpSpPr>
        <p:cxnSp>
          <p:nvCxnSpPr>
            <p:cNvPr id="53" name="Straight Connector 28">
              <a:extLst>
                <a:ext uri="{FF2B5EF4-FFF2-40B4-BE49-F238E27FC236}">
                  <a16:creationId xmlns:a16="http://schemas.microsoft.com/office/drawing/2014/main" id="{4423D92B-85A6-4C5D-8C58-90000E44B7C6}"/>
                </a:ext>
              </a:extLst>
            </p:cNvPr>
            <p:cNvCxnSpPr>
              <a:cxnSpLocks/>
            </p:cNvCxnSpPr>
            <p:nvPr/>
          </p:nvCxnSpPr>
          <p:spPr>
            <a:xfrm>
              <a:off x="8526964" y="1463204"/>
              <a:ext cx="2130785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0">
              <a:extLst>
                <a:ext uri="{FF2B5EF4-FFF2-40B4-BE49-F238E27FC236}">
                  <a16:creationId xmlns:a16="http://schemas.microsoft.com/office/drawing/2014/main" id="{DB7D87D2-419D-9627-70A2-3387231953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95584" y="1456191"/>
              <a:ext cx="1352187" cy="1082322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A578262-4E06-4739-8F30-D5CBBB59BA1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34800" y="6325870"/>
            <a:ext cx="25908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9</a:t>
            </a:r>
          </a:p>
        </p:txBody>
      </p:sp>
      <p:cxnSp>
        <p:nvCxnSpPr>
          <p:cNvPr id="63" name="Straight Connector 49">
            <a:extLst>
              <a:ext uri="{FF2B5EF4-FFF2-40B4-BE49-F238E27FC236}">
                <a16:creationId xmlns:a16="http://schemas.microsoft.com/office/drawing/2014/main" id="{0857CBCA-685B-4278-942C-3F8719E89E9A}"/>
              </a:ext>
            </a:extLst>
          </p:cNvPr>
          <p:cNvCxnSpPr>
            <a:cxnSpLocks/>
          </p:cNvCxnSpPr>
          <p:nvPr/>
        </p:nvCxnSpPr>
        <p:spPr>
          <a:xfrm>
            <a:off x="7296180" y="4174117"/>
            <a:ext cx="1085938" cy="0"/>
          </a:xfrm>
          <a:prstGeom prst="line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" name="Group 36">
            <a:extLst>
              <a:ext uri="{FF2B5EF4-FFF2-40B4-BE49-F238E27FC236}">
                <a16:creationId xmlns:a16="http://schemas.microsoft.com/office/drawing/2014/main" id="{AD25DF9B-0D22-4505-8D0A-46D53C8FDBD2}"/>
              </a:ext>
            </a:extLst>
          </p:cNvPr>
          <p:cNvGrpSpPr/>
          <p:nvPr/>
        </p:nvGrpSpPr>
        <p:grpSpPr>
          <a:xfrm rot="20884161" flipH="1" flipV="1">
            <a:off x="4053498" y="5651162"/>
            <a:ext cx="2093646" cy="604891"/>
            <a:chOff x="7038537" y="1876533"/>
            <a:chExt cx="1639304" cy="862079"/>
          </a:xfrm>
        </p:grpSpPr>
        <p:cxnSp>
          <p:nvCxnSpPr>
            <p:cNvPr id="65" name="Straight Connector 37">
              <a:extLst>
                <a:ext uri="{FF2B5EF4-FFF2-40B4-BE49-F238E27FC236}">
                  <a16:creationId xmlns:a16="http://schemas.microsoft.com/office/drawing/2014/main" id="{998043D0-1BEE-46D8-B7C7-AC01F8A1C983}"/>
                </a:ext>
              </a:extLst>
            </p:cNvPr>
            <p:cNvCxnSpPr>
              <a:cxnSpLocks/>
            </p:cNvCxnSpPr>
            <p:nvPr/>
          </p:nvCxnSpPr>
          <p:spPr>
            <a:xfrm rot="715839" flipV="1">
              <a:off x="7074239" y="2116666"/>
              <a:ext cx="1603602" cy="70482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38">
              <a:extLst>
                <a:ext uri="{FF2B5EF4-FFF2-40B4-BE49-F238E27FC236}">
                  <a16:creationId xmlns:a16="http://schemas.microsoft.com/office/drawing/2014/main" id="{FA9DB2AC-7010-4921-A6F4-2B38FED10D9E}"/>
                </a:ext>
              </a:extLst>
            </p:cNvPr>
            <p:cNvCxnSpPr>
              <a:cxnSpLocks/>
            </p:cNvCxnSpPr>
            <p:nvPr/>
          </p:nvCxnSpPr>
          <p:spPr>
            <a:xfrm rot="715839" flipH="1" flipV="1">
              <a:off x="7038537" y="1876533"/>
              <a:ext cx="6161" cy="862079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36">
            <a:extLst>
              <a:ext uri="{FF2B5EF4-FFF2-40B4-BE49-F238E27FC236}">
                <a16:creationId xmlns:a16="http://schemas.microsoft.com/office/drawing/2014/main" id="{BCE3DF71-D546-4FCD-B81D-9E4209D548C3}"/>
              </a:ext>
            </a:extLst>
          </p:cNvPr>
          <p:cNvGrpSpPr/>
          <p:nvPr/>
        </p:nvGrpSpPr>
        <p:grpSpPr>
          <a:xfrm flipH="1" flipV="1">
            <a:off x="3037838" y="4840689"/>
            <a:ext cx="2284484" cy="354479"/>
            <a:chOff x="6905300" y="2424199"/>
            <a:chExt cx="2899647" cy="244215"/>
          </a:xfrm>
        </p:grpSpPr>
        <p:cxnSp>
          <p:nvCxnSpPr>
            <p:cNvPr id="68" name="Straight Connector 37">
              <a:extLst>
                <a:ext uri="{FF2B5EF4-FFF2-40B4-BE49-F238E27FC236}">
                  <a16:creationId xmlns:a16="http://schemas.microsoft.com/office/drawing/2014/main" id="{CD48187F-5352-42E9-9D57-1DB26F0A563D}"/>
                </a:ext>
              </a:extLst>
            </p:cNvPr>
            <p:cNvCxnSpPr>
              <a:cxnSpLocks/>
            </p:cNvCxnSpPr>
            <p:nvPr/>
          </p:nvCxnSpPr>
          <p:spPr>
            <a:xfrm>
              <a:off x="8703166" y="2424199"/>
              <a:ext cx="1101781" cy="244215"/>
            </a:xfrm>
            <a:prstGeom prst="line">
              <a:avLst/>
            </a:prstGeom>
            <a:ln w="190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38">
              <a:extLst>
                <a:ext uri="{FF2B5EF4-FFF2-40B4-BE49-F238E27FC236}">
                  <a16:creationId xmlns:a16="http://schemas.microsoft.com/office/drawing/2014/main" id="{A33BCDEE-45EC-4920-A1C1-7D9F68EDD5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5300" y="2424199"/>
              <a:ext cx="1799115" cy="102842"/>
            </a:xfrm>
            <a:prstGeom prst="line">
              <a:avLst/>
            </a:prstGeom>
            <a:ln w="190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ZoneTexte 4">
            <a:extLst>
              <a:ext uri="{FF2B5EF4-FFF2-40B4-BE49-F238E27FC236}">
                <a16:creationId xmlns:a16="http://schemas.microsoft.com/office/drawing/2014/main" id="{99C2E30C-CFE0-49D6-8DA3-DC11E979B102}"/>
              </a:ext>
            </a:extLst>
          </p:cNvPr>
          <p:cNvSpPr txBox="1"/>
          <p:nvPr/>
        </p:nvSpPr>
        <p:spPr>
          <a:xfrm>
            <a:off x="7369547" y="2022561"/>
            <a:ext cx="28114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Gestion de la boutique</a:t>
            </a:r>
          </a:p>
        </p:txBody>
      </p:sp>
      <p:grpSp>
        <p:nvGrpSpPr>
          <p:cNvPr id="71" name="Group 36">
            <a:extLst>
              <a:ext uri="{FF2B5EF4-FFF2-40B4-BE49-F238E27FC236}">
                <a16:creationId xmlns:a16="http://schemas.microsoft.com/office/drawing/2014/main" id="{4BAAB4E0-527D-440A-9161-E44A701420A1}"/>
              </a:ext>
            </a:extLst>
          </p:cNvPr>
          <p:cNvGrpSpPr/>
          <p:nvPr/>
        </p:nvGrpSpPr>
        <p:grpSpPr>
          <a:xfrm flipH="1" flipV="1">
            <a:off x="6951365" y="2735044"/>
            <a:ext cx="970549" cy="567702"/>
            <a:chOff x="7288856" y="2094088"/>
            <a:chExt cx="1420668" cy="359995"/>
          </a:xfrm>
        </p:grpSpPr>
        <p:cxnSp>
          <p:nvCxnSpPr>
            <p:cNvPr id="72" name="Straight Connector 37">
              <a:extLst>
                <a:ext uri="{FF2B5EF4-FFF2-40B4-BE49-F238E27FC236}">
                  <a16:creationId xmlns:a16="http://schemas.microsoft.com/office/drawing/2014/main" id="{78AA5D2A-F8AA-4DD6-9B21-EEEA2C28571C}"/>
                </a:ext>
              </a:extLst>
            </p:cNvPr>
            <p:cNvCxnSpPr/>
            <p:nvPr/>
          </p:nvCxnSpPr>
          <p:spPr>
            <a:xfrm flipV="1">
              <a:off x="7632048" y="2094088"/>
              <a:ext cx="1077476" cy="0"/>
            </a:xfrm>
            <a:prstGeom prst="line">
              <a:avLst/>
            </a:prstGeom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38">
              <a:extLst>
                <a:ext uri="{FF2B5EF4-FFF2-40B4-BE49-F238E27FC236}">
                  <a16:creationId xmlns:a16="http://schemas.microsoft.com/office/drawing/2014/main" id="{88A82476-4B96-4BEF-A65B-DB3919DE51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8856" y="2094088"/>
              <a:ext cx="343190" cy="359995"/>
            </a:xfrm>
            <a:prstGeom prst="line">
              <a:avLst/>
            </a:prstGeom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648C4E0-64A3-4FE3-8BDC-0E787E23F4F6}"/>
              </a:ext>
            </a:extLst>
          </p:cNvPr>
          <p:cNvSpPr txBox="1"/>
          <p:nvPr/>
        </p:nvSpPr>
        <p:spPr>
          <a:xfrm>
            <a:off x="8238982" y="5277623"/>
            <a:ext cx="2332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Gestion des pots connectés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DDFCB32-0670-4A2B-BE90-7C71CDDFA4A0}"/>
              </a:ext>
            </a:extLst>
          </p:cNvPr>
          <p:cNvSpPr txBox="1"/>
          <p:nvPr/>
        </p:nvSpPr>
        <p:spPr>
          <a:xfrm>
            <a:off x="1968738" y="5707330"/>
            <a:ext cx="2743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Visualisation des Dashboard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83A9463-5C1E-4AB9-8B06-89EB0799166E}"/>
              </a:ext>
            </a:extLst>
          </p:cNvPr>
          <p:cNvSpPr txBox="1"/>
          <p:nvPr/>
        </p:nvSpPr>
        <p:spPr>
          <a:xfrm>
            <a:off x="1025178" y="3316996"/>
            <a:ext cx="28605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Gestion des réclamations </a:t>
            </a:r>
          </a:p>
        </p:txBody>
      </p:sp>
      <p:cxnSp>
        <p:nvCxnSpPr>
          <p:cNvPr id="80" name="Straight Connector 38">
            <a:extLst>
              <a:ext uri="{FF2B5EF4-FFF2-40B4-BE49-F238E27FC236}">
                <a16:creationId xmlns:a16="http://schemas.microsoft.com/office/drawing/2014/main" id="{EB0B1085-1C5B-438B-B3AD-449ECEA857F8}"/>
              </a:ext>
            </a:extLst>
          </p:cNvPr>
          <p:cNvCxnSpPr>
            <a:cxnSpLocks/>
          </p:cNvCxnSpPr>
          <p:nvPr/>
        </p:nvCxnSpPr>
        <p:spPr>
          <a:xfrm flipH="1">
            <a:off x="8376146" y="3820174"/>
            <a:ext cx="444668" cy="367722"/>
          </a:xfrm>
          <a:prstGeom prst="line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38">
            <a:extLst>
              <a:ext uri="{FF2B5EF4-FFF2-40B4-BE49-F238E27FC236}">
                <a16:creationId xmlns:a16="http://schemas.microsoft.com/office/drawing/2014/main" id="{57FC6AE4-D78C-4445-A108-2579228C34A7}"/>
              </a:ext>
            </a:extLst>
          </p:cNvPr>
          <p:cNvCxnSpPr>
            <a:cxnSpLocks/>
          </p:cNvCxnSpPr>
          <p:nvPr/>
        </p:nvCxnSpPr>
        <p:spPr>
          <a:xfrm>
            <a:off x="2937413" y="3839589"/>
            <a:ext cx="604747" cy="353943"/>
          </a:xfrm>
          <a:prstGeom prst="line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8884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2" grpId="0"/>
      <p:bldP spid="55" grpId="0"/>
      <p:bldP spid="56" grpId="0"/>
      <p:bldP spid="57" grpId="0"/>
      <p:bldP spid="5" grpId="0"/>
      <p:bldP spid="19" grpId="0"/>
      <p:bldP spid="20" grpId="0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5"/>
          <p:cNvSpPr txBox="1"/>
          <p:nvPr/>
        </p:nvSpPr>
        <p:spPr>
          <a:xfrm>
            <a:off x="169250" y="1086835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Besoins non fonctionnels </a:t>
            </a:r>
            <a:endParaRPr sz="2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2" name="Google Shape;248;p19"/>
          <p:cNvGrpSpPr/>
          <p:nvPr/>
        </p:nvGrpSpPr>
        <p:grpSpPr>
          <a:xfrm>
            <a:off x="73062" y="269045"/>
            <a:ext cx="10365904" cy="650938"/>
            <a:chOff x="-43152" y="-19950"/>
            <a:chExt cx="10076703" cy="650938"/>
          </a:xfrm>
        </p:grpSpPr>
        <p:sp>
          <p:nvSpPr>
            <p:cNvPr id="23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7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8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9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0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32" name="object 5"/>
          <p:cNvSpPr/>
          <p:nvPr/>
        </p:nvSpPr>
        <p:spPr>
          <a:xfrm>
            <a:off x="89525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3" name="Group 18">
            <a:extLst>
              <a:ext uri="{FF2B5EF4-FFF2-40B4-BE49-F238E27FC236}">
                <a16:creationId xmlns:a16="http://schemas.microsoft.com/office/drawing/2014/main" id="{41DE3E05-1FDA-467D-7ACA-46FE6E0CE41C}"/>
              </a:ext>
            </a:extLst>
          </p:cNvPr>
          <p:cNvGrpSpPr/>
          <p:nvPr/>
        </p:nvGrpSpPr>
        <p:grpSpPr>
          <a:xfrm>
            <a:off x="4741736" y="2705407"/>
            <a:ext cx="2681243" cy="2681243"/>
            <a:chOff x="4308506" y="1641506"/>
            <a:chExt cx="3574990" cy="3574990"/>
          </a:xfrm>
        </p:grpSpPr>
        <p:sp>
          <p:nvSpPr>
            <p:cNvPr id="34" name="Freeform 10">
              <a:extLst>
                <a:ext uri="{FF2B5EF4-FFF2-40B4-BE49-F238E27FC236}">
                  <a16:creationId xmlns:a16="http://schemas.microsoft.com/office/drawing/2014/main" id="{F6537360-876B-5782-69E9-F2830465F49C}"/>
                </a:ext>
              </a:extLst>
            </p:cNvPr>
            <p:cNvSpPr/>
            <p:nvPr/>
          </p:nvSpPr>
          <p:spPr>
            <a:xfrm>
              <a:off x="6273800" y="1641506"/>
              <a:ext cx="960390" cy="636372"/>
            </a:xfrm>
            <a:custGeom>
              <a:avLst/>
              <a:gdLst>
                <a:gd name="connsiteX0" fmla="*/ 0 w 960390"/>
                <a:gd name="connsiteY0" fmla="*/ 0 h 636372"/>
                <a:gd name="connsiteX1" fmla="*/ 5880 w 960390"/>
                <a:gd name="connsiteY1" fmla="*/ 297 h 636372"/>
                <a:gd name="connsiteX2" fmla="*/ 826626 w 960390"/>
                <a:gd name="connsiteY2" fmla="*/ 297831 h 636372"/>
                <a:gd name="connsiteX3" fmla="*/ 960390 w 960390"/>
                <a:gd name="connsiteY3" fmla="*/ 397858 h 636372"/>
                <a:gd name="connsiteX4" fmla="*/ 721876 w 960390"/>
                <a:gd name="connsiteY4" fmla="*/ 636372 h 636372"/>
                <a:gd name="connsiteX5" fmla="*/ 639763 w 960390"/>
                <a:gd name="connsiteY5" fmla="*/ 574969 h 636372"/>
                <a:gd name="connsiteX6" fmla="*/ 116897 w 960390"/>
                <a:gd name="connsiteY6" fmla="*/ 354946 h 636372"/>
                <a:gd name="connsiteX7" fmla="*/ 0 w 960390"/>
                <a:gd name="connsiteY7" fmla="*/ 337105 h 636372"/>
                <a:gd name="connsiteX8" fmla="*/ 0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0" y="0"/>
                  </a:moveTo>
                  <a:lnTo>
                    <a:pt x="5880" y="297"/>
                  </a:lnTo>
                  <a:cubicBezTo>
                    <a:pt x="307841" y="30963"/>
                    <a:pt x="587694" y="136412"/>
                    <a:pt x="826626" y="297831"/>
                  </a:cubicBezTo>
                  <a:lnTo>
                    <a:pt x="960390" y="397858"/>
                  </a:lnTo>
                  <a:lnTo>
                    <a:pt x="721876" y="636372"/>
                  </a:lnTo>
                  <a:lnTo>
                    <a:pt x="639763" y="574969"/>
                  </a:lnTo>
                  <a:cubicBezTo>
                    <a:pt x="484178" y="469857"/>
                    <a:pt x="307276" y="393903"/>
                    <a:pt x="116897" y="354946"/>
                  </a:cubicBezTo>
                  <a:lnTo>
                    <a:pt x="0" y="337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id="{9ED06520-666C-6121-A28D-0DA904A4B4C1}"/>
                </a:ext>
              </a:extLst>
            </p:cNvPr>
            <p:cNvSpPr/>
            <p:nvPr/>
          </p:nvSpPr>
          <p:spPr>
            <a:xfrm>
              <a:off x="4957811" y="1641506"/>
              <a:ext cx="960389" cy="636372"/>
            </a:xfrm>
            <a:custGeom>
              <a:avLst/>
              <a:gdLst>
                <a:gd name="connsiteX0" fmla="*/ 960389 w 960389"/>
                <a:gd name="connsiteY0" fmla="*/ 0 h 636372"/>
                <a:gd name="connsiteX1" fmla="*/ 960389 w 960389"/>
                <a:gd name="connsiteY1" fmla="*/ 337105 h 636372"/>
                <a:gd name="connsiteX2" fmla="*/ 843494 w 960389"/>
                <a:gd name="connsiteY2" fmla="*/ 354946 h 636372"/>
                <a:gd name="connsiteX3" fmla="*/ 320628 w 960389"/>
                <a:gd name="connsiteY3" fmla="*/ 574969 h 636372"/>
                <a:gd name="connsiteX4" fmla="*/ 238514 w 960389"/>
                <a:gd name="connsiteY4" fmla="*/ 636372 h 636372"/>
                <a:gd name="connsiteX5" fmla="*/ 0 w 960389"/>
                <a:gd name="connsiteY5" fmla="*/ 397858 h 636372"/>
                <a:gd name="connsiteX6" fmla="*/ 133765 w 960389"/>
                <a:gd name="connsiteY6" fmla="*/ 297831 h 636372"/>
                <a:gd name="connsiteX7" fmla="*/ 954511 w 960389"/>
                <a:gd name="connsiteY7" fmla="*/ 297 h 636372"/>
                <a:gd name="connsiteX8" fmla="*/ 960389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960389" y="0"/>
                  </a:moveTo>
                  <a:lnTo>
                    <a:pt x="960389" y="337105"/>
                  </a:lnTo>
                  <a:lnTo>
                    <a:pt x="843494" y="354946"/>
                  </a:lnTo>
                  <a:cubicBezTo>
                    <a:pt x="653116" y="393903"/>
                    <a:pt x="476214" y="469857"/>
                    <a:pt x="320628" y="574969"/>
                  </a:cubicBezTo>
                  <a:lnTo>
                    <a:pt x="238514" y="636372"/>
                  </a:lnTo>
                  <a:lnTo>
                    <a:pt x="0" y="397858"/>
                  </a:lnTo>
                  <a:lnTo>
                    <a:pt x="133765" y="297831"/>
                  </a:lnTo>
                  <a:cubicBezTo>
                    <a:pt x="372697" y="136412"/>
                    <a:pt x="652550" y="30963"/>
                    <a:pt x="954511" y="297"/>
                  </a:cubicBezTo>
                  <a:lnTo>
                    <a:pt x="96038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6" name="Freeform 12">
              <a:extLst>
                <a:ext uri="{FF2B5EF4-FFF2-40B4-BE49-F238E27FC236}">
                  <a16:creationId xmlns:a16="http://schemas.microsoft.com/office/drawing/2014/main" id="{63309346-3C24-F393-EBCE-307318E760CC}"/>
                </a:ext>
              </a:extLst>
            </p:cNvPr>
            <p:cNvSpPr/>
            <p:nvPr/>
          </p:nvSpPr>
          <p:spPr>
            <a:xfrm>
              <a:off x="7247124" y="2290811"/>
              <a:ext cx="636372" cy="960390"/>
            </a:xfrm>
            <a:custGeom>
              <a:avLst/>
              <a:gdLst>
                <a:gd name="connsiteX0" fmla="*/ 238514 w 636372"/>
                <a:gd name="connsiteY0" fmla="*/ 0 h 960390"/>
                <a:gd name="connsiteX1" fmla="*/ 338541 w 636372"/>
                <a:gd name="connsiteY1" fmla="*/ 133765 h 960390"/>
                <a:gd name="connsiteX2" fmla="*/ 636075 w 636372"/>
                <a:gd name="connsiteY2" fmla="*/ 954511 h 960390"/>
                <a:gd name="connsiteX3" fmla="*/ 636372 w 636372"/>
                <a:gd name="connsiteY3" fmla="*/ 960390 h 960390"/>
                <a:gd name="connsiteX4" fmla="*/ 299267 w 636372"/>
                <a:gd name="connsiteY4" fmla="*/ 960390 h 960390"/>
                <a:gd name="connsiteX5" fmla="*/ 281426 w 636372"/>
                <a:gd name="connsiteY5" fmla="*/ 843494 h 960390"/>
                <a:gd name="connsiteX6" fmla="*/ 61403 w 636372"/>
                <a:gd name="connsiteY6" fmla="*/ 320628 h 960390"/>
                <a:gd name="connsiteX7" fmla="*/ 0 w 636372"/>
                <a:gd name="connsiteY7" fmla="*/ 238514 h 960390"/>
                <a:gd name="connsiteX8" fmla="*/ 238514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38514" y="0"/>
                  </a:moveTo>
                  <a:lnTo>
                    <a:pt x="338541" y="133765"/>
                  </a:lnTo>
                  <a:cubicBezTo>
                    <a:pt x="499961" y="372697"/>
                    <a:pt x="605409" y="652550"/>
                    <a:pt x="636075" y="954511"/>
                  </a:cubicBezTo>
                  <a:lnTo>
                    <a:pt x="636372" y="960390"/>
                  </a:lnTo>
                  <a:lnTo>
                    <a:pt x="299267" y="960390"/>
                  </a:lnTo>
                  <a:lnTo>
                    <a:pt x="281426" y="843494"/>
                  </a:lnTo>
                  <a:cubicBezTo>
                    <a:pt x="242469" y="653116"/>
                    <a:pt x="166515" y="476214"/>
                    <a:pt x="61403" y="320628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</a:endParaRPr>
            </a:p>
          </p:txBody>
        </p:sp>
        <p:sp>
          <p:nvSpPr>
            <p:cNvPr id="37" name="Freeform 13">
              <a:extLst>
                <a:ext uri="{FF2B5EF4-FFF2-40B4-BE49-F238E27FC236}">
                  <a16:creationId xmlns:a16="http://schemas.microsoft.com/office/drawing/2014/main" id="{5144876D-5337-42D2-039C-48734C7235AC}"/>
                </a:ext>
              </a:extLst>
            </p:cNvPr>
            <p:cNvSpPr/>
            <p:nvPr/>
          </p:nvSpPr>
          <p:spPr>
            <a:xfrm>
              <a:off x="4308506" y="2290812"/>
              <a:ext cx="636372" cy="960389"/>
            </a:xfrm>
            <a:custGeom>
              <a:avLst/>
              <a:gdLst>
                <a:gd name="connsiteX0" fmla="*/ 397858 w 636372"/>
                <a:gd name="connsiteY0" fmla="*/ 0 h 960389"/>
                <a:gd name="connsiteX1" fmla="*/ 636372 w 636372"/>
                <a:gd name="connsiteY1" fmla="*/ 238514 h 960389"/>
                <a:gd name="connsiteX2" fmla="*/ 574969 w 636372"/>
                <a:gd name="connsiteY2" fmla="*/ 320627 h 960389"/>
                <a:gd name="connsiteX3" fmla="*/ 354946 w 636372"/>
                <a:gd name="connsiteY3" fmla="*/ 843493 h 960389"/>
                <a:gd name="connsiteX4" fmla="*/ 337105 w 636372"/>
                <a:gd name="connsiteY4" fmla="*/ 960389 h 960389"/>
                <a:gd name="connsiteX5" fmla="*/ 0 w 636372"/>
                <a:gd name="connsiteY5" fmla="*/ 960389 h 960389"/>
                <a:gd name="connsiteX6" fmla="*/ 297 w 636372"/>
                <a:gd name="connsiteY6" fmla="*/ 954510 h 960389"/>
                <a:gd name="connsiteX7" fmla="*/ 297831 w 636372"/>
                <a:gd name="connsiteY7" fmla="*/ 133764 h 960389"/>
                <a:gd name="connsiteX8" fmla="*/ 397858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397858" y="0"/>
                  </a:moveTo>
                  <a:lnTo>
                    <a:pt x="636372" y="238514"/>
                  </a:lnTo>
                  <a:lnTo>
                    <a:pt x="574969" y="320627"/>
                  </a:lnTo>
                  <a:cubicBezTo>
                    <a:pt x="469858" y="476213"/>
                    <a:pt x="393903" y="653115"/>
                    <a:pt x="354946" y="843493"/>
                  </a:cubicBezTo>
                  <a:lnTo>
                    <a:pt x="337105" y="960389"/>
                  </a:lnTo>
                  <a:lnTo>
                    <a:pt x="0" y="960389"/>
                  </a:lnTo>
                  <a:lnTo>
                    <a:pt x="297" y="954510"/>
                  </a:lnTo>
                  <a:cubicBezTo>
                    <a:pt x="30963" y="652549"/>
                    <a:pt x="136412" y="372696"/>
                    <a:pt x="297831" y="133764"/>
                  </a:cubicBezTo>
                  <a:lnTo>
                    <a:pt x="397858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</a:endParaRPr>
            </a:p>
          </p:txBody>
        </p:sp>
        <p:sp>
          <p:nvSpPr>
            <p:cNvPr id="38" name="Freeform 14">
              <a:extLst>
                <a:ext uri="{FF2B5EF4-FFF2-40B4-BE49-F238E27FC236}">
                  <a16:creationId xmlns:a16="http://schemas.microsoft.com/office/drawing/2014/main" id="{423D9BFB-902B-3EDF-C2D2-2121ED0C99B9}"/>
                </a:ext>
              </a:extLst>
            </p:cNvPr>
            <p:cNvSpPr/>
            <p:nvPr/>
          </p:nvSpPr>
          <p:spPr>
            <a:xfrm>
              <a:off x="4308506" y="3606801"/>
              <a:ext cx="636372" cy="960389"/>
            </a:xfrm>
            <a:custGeom>
              <a:avLst/>
              <a:gdLst>
                <a:gd name="connsiteX0" fmla="*/ 0 w 636372"/>
                <a:gd name="connsiteY0" fmla="*/ 0 h 960389"/>
                <a:gd name="connsiteX1" fmla="*/ 337105 w 636372"/>
                <a:gd name="connsiteY1" fmla="*/ 0 h 960389"/>
                <a:gd name="connsiteX2" fmla="*/ 354946 w 636372"/>
                <a:gd name="connsiteY2" fmla="*/ 116896 h 960389"/>
                <a:gd name="connsiteX3" fmla="*/ 574969 w 636372"/>
                <a:gd name="connsiteY3" fmla="*/ 639762 h 960389"/>
                <a:gd name="connsiteX4" fmla="*/ 636372 w 636372"/>
                <a:gd name="connsiteY4" fmla="*/ 721875 h 960389"/>
                <a:gd name="connsiteX5" fmla="*/ 397858 w 636372"/>
                <a:gd name="connsiteY5" fmla="*/ 960389 h 960389"/>
                <a:gd name="connsiteX6" fmla="*/ 297831 w 636372"/>
                <a:gd name="connsiteY6" fmla="*/ 826625 h 960389"/>
                <a:gd name="connsiteX7" fmla="*/ 297 w 636372"/>
                <a:gd name="connsiteY7" fmla="*/ 5879 h 960389"/>
                <a:gd name="connsiteX8" fmla="*/ 0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0" y="0"/>
                  </a:moveTo>
                  <a:lnTo>
                    <a:pt x="337105" y="0"/>
                  </a:lnTo>
                  <a:lnTo>
                    <a:pt x="354946" y="116896"/>
                  </a:lnTo>
                  <a:cubicBezTo>
                    <a:pt x="393903" y="307275"/>
                    <a:pt x="469858" y="484177"/>
                    <a:pt x="574969" y="639762"/>
                  </a:cubicBezTo>
                  <a:lnTo>
                    <a:pt x="636372" y="721875"/>
                  </a:lnTo>
                  <a:lnTo>
                    <a:pt x="397858" y="960389"/>
                  </a:lnTo>
                  <a:lnTo>
                    <a:pt x="297831" y="826625"/>
                  </a:lnTo>
                  <a:cubicBezTo>
                    <a:pt x="136412" y="587693"/>
                    <a:pt x="30963" y="307840"/>
                    <a:pt x="297" y="587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9" name="Freeform 15">
              <a:extLst>
                <a:ext uri="{FF2B5EF4-FFF2-40B4-BE49-F238E27FC236}">
                  <a16:creationId xmlns:a16="http://schemas.microsoft.com/office/drawing/2014/main" id="{2B44379F-D812-D20E-3505-B45372E3763F}"/>
                </a:ext>
              </a:extLst>
            </p:cNvPr>
            <p:cNvSpPr/>
            <p:nvPr/>
          </p:nvSpPr>
          <p:spPr>
            <a:xfrm>
              <a:off x="7247124" y="3606801"/>
              <a:ext cx="636372" cy="960390"/>
            </a:xfrm>
            <a:custGeom>
              <a:avLst/>
              <a:gdLst>
                <a:gd name="connsiteX0" fmla="*/ 299267 w 636372"/>
                <a:gd name="connsiteY0" fmla="*/ 0 h 960390"/>
                <a:gd name="connsiteX1" fmla="*/ 636372 w 636372"/>
                <a:gd name="connsiteY1" fmla="*/ 0 h 960390"/>
                <a:gd name="connsiteX2" fmla="*/ 636075 w 636372"/>
                <a:gd name="connsiteY2" fmla="*/ 5879 h 960390"/>
                <a:gd name="connsiteX3" fmla="*/ 338541 w 636372"/>
                <a:gd name="connsiteY3" fmla="*/ 826625 h 960390"/>
                <a:gd name="connsiteX4" fmla="*/ 238514 w 636372"/>
                <a:gd name="connsiteY4" fmla="*/ 960390 h 960390"/>
                <a:gd name="connsiteX5" fmla="*/ 0 w 636372"/>
                <a:gd name="connsiteY5" fmla="*/ 721876 h 960390"/>
                <a:gd name="connsiteX6" fmla="*/ 61403 w 636372"/>
                <a:gd name="connsiteY6" fmla="*/ 639762 h 960390"/>
                <a:gd name="connsiteX7" fmla="*/ 281426 w 636372"/>
                <a:gd name="connsiteY7" fmla="*/ 116896 h 960390"/>
                <a:gd name="connsiteX8" fmla="*/ 299267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99267" y="0"/>
                  </a:moveTo>
                  <a:lnTo>
                    <a:pt x="636372" y="0"/>
                  </a:lnTo>
                  <a:lnTo>
                    <a:pt x="636075" y="5879"/>
                  </a:lnTo>
                  <a:cubicBezTo>
                    <a:pt x="605409" y="307840"/>
                    <a:pt x="499961" y="587693"/>
                    <a:pt x="338541" y="826625"/>
                  </a:cubicBezTo>
                  <a:lnTo>
                    <a:pt x="238514" y="960390"/>
                  </a:lnTo>
                  <a:lnTo>
                    <a:pt x="0" y="721876"/>
                  </a:lnTo>
                  <a:lnTo>
                    <a:pt x="61403" y="639762"/>
                  </a:lnTo>
                  <a:cubicBezTo>
                    <a:pt x="166515" y="484177"/>
                    <a:pt x="242469" y="307275"/>
                    <a:pt x="281426" y="116896"/>
                  </a:cubicBezTo>
                  <a:lnTo>
                    <a:pt x="299267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532C119B-5F09-A780-8D99-7ECFE6DB1ED1}"/>
                </a:ext>
              </a:extLst>
            </p:cNvPr>
            <p:cNvSpPr/>
            <p:nvPr/>
          </p:nvSpPr>
          <p:spPr>
            <a:xfrm>
              <a:off x="4957811" y="4580124"/>
              <a:ext cx="960389" cy="636372"/>
            </a:xfrm>
            <a:custGeom>
              <a:avLst/>
              <a:gdLst>
                <a:gd name="connsiteX0" fmla="*/ 238514 w 960389"/>
                <a:gd name="connsiteY0" fmla="*/ 0 h 636372"/>
                <a:gd name="connsiteX1" fmla="*/ 320628 w 960389"/>
                <a:gd name="connsiteY1" fmla="*/ 61403 h 636372"/>
                <a:gd name="connsiteX2" fmla="*/ 843494 w 960389"/>
                <a:gd name="connsiteY2" fmla="*/ 281426 h 636372"/>
                <a:gd name="connsiteX3" fmla="*/ 960389 w 960389"/>
                <a:gd name="connsiteY3" fmla="*/ 299267 h 636372"/>
                <a:gd name="connsiteX4" fmla="*/ 960389 w 960389"/>
                <a:gd name="connsiteY4" fmla="*/ 636372 h 636372"/>
                <a:gd name="connsiteX5" fmla="*/ 954511 w 960389"/>
                <a:gd name="connsiteY5" fmla="*/ 636075 h 636372"/>
                <a:gd name="connsiteX6" fmla="*/ 133765 w 960389"/>
                <a:gd name="connsiteY6" fmla="*/ 338541 h 636372"/>
                <a:gd name="connsiteX7" fmla="*/ 0 w 960389"/>
                <a:gd name="connsiteY7" fmla="*/ 238514 h 636372"/>
                <a:gd name="connsiteX8" fmla="*/ 238514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238514" y="0"/>
                  </a:moveTo>
                  <a:lnTo>
                    <a:pt x="320628" y="61403"/>
                  </a:lnTo>
                  <a:cubicBezTo>
                    <a:pt x="476214" y="166515"/>
                    <a:pt x="653116" y="242469"/>
                    <a:pt x="843494" y="281426"/>
                  </a:cubicBezTo>
                  <a:lnTo>
                    <a:pt x="960389" y="299267"/>
                  </a:lnTo>
                  <a:lnTo>
                    <a:pt x="960389" y="636372"/>
                  </a:lnTo>
                  <a:lnTo>
                    <a:pt x="954511" y="636075"/>
                  </a:lnTo>
                  <a:cubicBezTo>
                    <a:pt x="652550" y="605409"/>
                    <a:pt x="372697" y="499961"/>
                    <a:pt x="133765" y="338541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0C19EBC6-2F97-7B5E-B5AB-CC0417FDEA06}"/>
                </a:ext>
              </a:extLst>
            </p:cNvPr>
            <p:cNvSpPr/>
            <p:nvPr/>
          </p:nvSpPr>
          <p:spPr>
            <a:xfrm>
              <a:off x="6273800" y="4580124"/>
              <a:ext cx="960390" cy="636372"/>
            </a:xfrm>
            <a:custGeom>
              <a:avLst/>
              <a:gdLst>
                <a:gd name="connsiteX0" fmla="*/ 721876 w 960390"/>
                <a:gd name="connsiteY0" fmla="*/ 0 h 636372"/>
                <a:gd name="connsiteX1" fmla="*/ 960390 w 960390"/>
                <a:gd name="connsiteY1" fmla="*/ 238514 h 636372"/>
                <a:gd name="connsiteX2" fmla="*/ 826626 w 960390"/>
                <a:gd name="connsiteY2" fmla="*/ 338541 h 636372"/>
                <a:gd name="connsiteX3" fmla="*/ 5880 w 960390"/>
                <a:gd name="connsiteY3" fmla="*/ 636075 h 636372"/>
                <a:gd name="connsiteX4" fmla="*/ 0 w 960390"/>
                <a:gd name="connsiteY4" fmla="*/ 636372 h 636372"/>
                <a:gd name="connsiteX5" fmla="*/ 0 w 960390"/>
                <a:gd name="connsiteY5" fmla="*/ 299267 h 636372"/>
                <a:gd name="connsiteX6" fmla="*/ 116897 w 960390"/>
                <a:gd name="connsiteY6" fmla="*/ 281426 h 636372"/>
                <a:gd name="connsiteX7" fmla="*/ 639763 w 960390"/>
                <a:gd name="connsiteY7" fmla="*/ 61403 h 636372"/>
                <a:gd name="connsiteX8" fmla="*/ 721876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721876" y="0"/>
                  </a:moveTo>
                  <a:lnTo>
                    <a:pt x="960390" y="238514"/>
                  </a:lnTo>
                  <a:lnTo>
                    <a:pt x="826626" y="338541"/>
                  </a:lnTo>
                  <a:cubicBezTo>
                    <a:pt x="587694" y="499961"/>
                    <a:pt x="307841" y="605409"/>
                    <a:pt x="5880" y="636075"/>
                  </a:cubicBezTo>
                  <a:lnTo>
                    <a:pt x="0" y="636372"/>
                  </a:lnTo>
                  <a:lnTo>
                    <a:pt x="0" y="299267"/>
                  </a:lnTo>
                  <a:lnTo>
                    <a:pt x="116897" y="281426"/>
                  </a:lnTo>
                  <a:cubicBezTo>
                    <a:pt x="307276" y="242469"/>
                    <a:pt x="484178" y="166515"/>
                    <a:pt x="639763" y="61403"/>
                  </a:cubicBezTo>
                  <a:lnTo>
                    <a:pt x="721876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</p:grpSp>
      <p:grpSp>
        <p:nvGrpSpPr>
          <p:cNvPr id="42" name="Group 35">
            <a:extLst>
              <a:ext uri="{FF2B5EF4-FFF2-40B4-BE49-F238E27FC236}">
                <a16:creationId xmlns:a16="http://schemas.microsoft.com/office/drawing/2014/main" id="{0558098C-5938-92A7-3182-85B5B2E3B7AC}"/>
              </a:ext>
            </a:extLst>
          </p:cNvPr>
          <p:cNvGrpSpPr/>
          <p:nvPr/>
        </p:nvGrpSpPr>
        <p:grpSpPr>
          <a:xfrm>
            <a:off x="6757114" y="2705407"/>
            <a:ext cx="1473972" cy="477279"/>
            <a:chOff x="6995676" y="2094088"/>
            <a:chExt cx="1965296" cy="636372"/>
          </a:xfrm>
        </p:grpSpPr>
        <p:cxnSp>
          <p:nvCxnSpPr>
            <p:cNvPr id="43" name="Straight Connector 28">
              <a:extLst>
                <a:ext uri="{FF2B5EF4-FFF2-40B4-BE49-F238E27FC236}">
                  <a16:creationId xmlns:a16="http://schemas.microsoft.com/office/drawing/2014/main" id="{4423D92B-85A6-4C5D-8C58-90000E44B7C6}"/>
                </a:ext>
              </a:extLst>
            </p:cNvPr>
            <p:cNvCxnSpPr/>
            <p:nvPr/>
          </p:nvCxnSpPr>
          <p:spPr>
            <a:xfrm>
              <a:off x="7632048" y="2094088"/>
              <a:ext cx="1328924" cy="0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30">
              <a:extLst>
                <a:ext uri="{FF2B5EF4-FFF2-40B4-BE49-F238E27FC236}">
                  <a16:creationId xmlns:a16="http://schemas.microsoft.com/office/drawing/2014/main" id="{DB7D87D2-419D-9627-70A2-338723195390}"/>
                </a:ext>
              </a:extLst>
            </p:cNvPr>
            <p:cNvCxnSpPr/>
            <p:nvPr/>
          </p:nvCxnSpPr>
          <p:spPr>
            <a:xfrm flipV="1">
              <a:off x="6995676" y="2094088"/>
              <a:ext cx="636372" cy="636372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Connector 49">
            <a:extLst>
              <a:ext uri="{FF2B5EF4-FFF2-40B4-BE49-F238E27FC236}">
                <a16:creationId xmlns:a16="http://schemas.microsoft.com/office/drawing/2014/main" id="{29C2160A-77B1-AEF4-433C-EB28F5C4C2A2}"/>
              </a:ext>
            </a:extLst>
          </p:cNvPr>
          <p:cNvCxnSpPr>
            <a:cxnSpLocks/>
          </p:cNvCxnSpPr>
          <p:nvPr/>
        </p:nvCxnSpPr>
        <p:spPr>
          <a:xfrm>
            <a:off x="3822604" y="4179379"/>
            <a:ext cx="1170093" cy="0"/>
          </a:xfrm>
          <a:prstGeom prst="line">
            <a:avLst/>
          </a:prstGeom>
          <a:ln w="19050">
            <a:solidFill>
              <a:srgbClr val="F456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36">
            <a:extLst>
              <a:ext uri="{FF2B5EF4-FFF2-40B4-BE49-F238E27FC236}">
                <a16:creationId xmlns:a16="http://schemas.microsoft.com/office/drawing/2014/main" id="{D401B286-B338-3672-3133-DDB9ADD85BA5}"/>
              </a:ext>
            </a:extLst>
          </p:cNvPr>
          <p:cNvGrpSpPr/>
          <p:nvPr/>
        </p:nvGrpSpPr>
        <p:grpSpPr>
          <a:xfrm flipV="1">
            <a:off x="6970571" y="4729133"/>
            <a:ext cx="1285386" cy="480060"/>
            <a:chOff x="6995676" y="2094088"/>
            <a:chExt cx="1713848" cy="636372"/>
          </a:xfrm>
        </p:grpSpPr>
        <p:cxnSp>
          <p:nvCxnSpPr>
            <p:cNvPr id="47" name="Straight Connector 37">
              <a:extLst>
                <a:ext uri="{FF2B5EF4-FFF2-40B4-BE49-F238E27FC236}">
                  <a16:creationId xmlns:a16="http://schemas.microsoft.com/office/drawing/2014/main" id="{8529BF9F-1FCC-A516-9596-4324CB22736B}"/>
                </a:ext>
              </a:extLst>
            </p:cNvPr>
            <p:cNvCxnSpPr/>
            <p:nvPr/>
          </p:nvCxnSpPr>
          <p:spPr>
            <a:xfrm flipV="1">
              <a:off x="7632048" y="2094088"/>
              <a:ext cx="1077476" cy="0"/>
            </a:xfrm>
            <a:prstGeom prst="line">
              <a:avLst/>
            </a:prstGeom>
            <a:ln w="19050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38">
              <a:extLst>
                <a:ext uri="{FF2B5EF4-FFF2-40B4-BE49-F238E27FC236}">
                  <a16:creationId xmlns:a16="http://schemas.microsoft.com/office/drawing/2014/main" id="{54D00208-6058-AE16-8A85-9030E6BCD4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5676" y="2094088"/>
              <a:ext cx="636372" cy="636372"/>
            </a:xfrm>
            <a:prstGeom prst="line">
              <a:avLst/>
            </a:prstGeom>
            <a:ln w="19050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4AEF449F-1FA7-A05B-DB2A-369E888B77BB}"/>
              </a:ext>
            </a:extLst>
          </p:cNvPr>
          <p:cNvSpPr/>
          <p:nvPr/>
        </p:nvSpPr>
        <p:spPr>
          <a:xfrm>
            <a:off x="8331307" y="4966378"/>
            <a:ext cx="119616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b="1" dirty="0">
                <a:solidFill>
                  <a:srgbClr val="92D050"/>
                </a:solidFill>
              </a:rPr>
              <a:t>Sécurité</a:t>
            </a:r>
          </a:p>
        </p:txBody>
      </p:sp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398C28B3-EAB1-3143-1486-3199339E5367}"/>
              </a:ext>
            </a:extLst>
          </p:cNvPr>
          <p:cNvCxnSpPr/>
          <p:nvPr/>
        </p:nvCxnSpPr>
        <p:spPr>
          <a:xfrm flipH="1" flipV="1">
            <a:off x="4936219" y="2653754"/>
            <a:ext cx="453452" cy="5289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50">
            <a:extLst>
              <a:ext uri="{FF2B5EF4-FFF2-40B4-BE49-F238E27FC236}">
                <a16:creationId xmlns:a16="http://schemas.microsoft.com/office/drawing/2014/main" id="{4549C635-8CB7-9A6E-D456-48DD5C5B3B62}"/>
              </a:ext>
            </a:extLst>
          </p:cNvPr>
          <p:cNvCxnSpPr/>
          <p:nvPr/>
        </p:nvCxnSpPr>
        <p:spPr>
          <a:xfrm flipH="1" flipV="1">
            <a:off x="4129462" y="2639939"/>
            <a:ext cx="824754" cy="1793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8EB49E1A-42EA-9C7D-CE2B-9DBC478892C0}"/>
              </a:ext>
            </a:extLst>
          </p:cNvPr>
          <p:cNvSpPr txBox="1"/>
          <p:nvPr/>
        </p:nvSpPr>
        <p:spPr>
          <a:xfrm>
            <a:off x="4844957" y="3405470"/>
            <a:ext cx="24826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rgbClr val="002060"/>
                </a:solidFill>
              </a:rPr>
              <a:t>Besoins</a:t>
            </a:r>
          </a:p>
          <a:p>
            <a:pPr algn="ctr"/>
            <a:r>
              <a:rPr lang="fr-FR" sz="2400" b="1" dirty="0">
                <a:solidFill>
                  <a:srgbClr val="002060"/>
                </a:solidFill>
              </a:rPr>
              <a:t> non Fonctionnels</a:t>
            </a:r>
          </a:p>
        </p:txBody>
      </p:sp>
      <p:pic>
        <p:nvPicPr>
          <p:cNvPr id="53" name="Image 52" descr="icons_overlay.png">
            <a:extLst>
              <a:ext uri="{FF2B5EF4-FFF2-40B4-BE49-F238E27FC236}">
                <a16:creationId xmlns:a16="http://schemas.microsoft.com/office/drawing/2014/main" id="{370A5B29-1613-2B6E-36D7-31F3CB09BB3F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401514" y="1824521"/>
            <a:ext cx="762000" cy="762000"/>
          </a:xfrm>
          <a:prstGeom prst="rect">
            <a:avLst/>
          </a:prstGeom>
        </p:spPr>
      </p:pic>
      <p:sp>
        <p:nvSpPr>
          <p:cNvPr id="55" name="ZoneTexte 54">
            <a:extLst>
              <a:ext uri="{FF2B5EF4-FFF2-40B4-BE49-F238E27FC236}">
                <a16:creationId xmlns:a16="http://schemas.microsoft.com/office/drawing/2014/main" id="{C2DE4F92-8250-B35C-3C09-D64322781C64}"/>
              </a:ext>
            </a:extLst>
          </p:cNvPr>
          <p:cNvSpPr txBox="1"/>
          <p:nvPr/>
        </p:nvSpPr>
        <p:spPr>
          <a:xfrm>
            <a:off x="2530526" y="2395205"/>
            <a:ext cx="19787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fr-FR" sz="2000" b="1" dirty="0">
                <a:solidFill>
                  <a:schemeClr val="accent2"/>
                </a:solidFill>
              </a:rPr>
              <a:t>Ergonomie</a:t>
            </a: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0FE1B019-2BA5-37BE-7FE0-5D0AC92ADA00}"/>
              </a:ext>
            </a:extLst>
          </p:cNvPr>
          <p:cNvSpPr txBox="1"/>
          <p:nvPr/>
        </p:nvSpPr>
        <p:spPr>
          <a:xfrm>
            <a:off x="8281356" y="2481617"/>
            <a:ext cx="2178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Disponibilité</a:t>
            </a:r>
            <a:endParaRPr lang="fr-FR" sz="20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04212C0F-5824-D707-3E2D-3B9866A6ABEF}"/>
              </a:ext>
            </a:extLst>
          </p:cNvPr>
          <p:cNvSpPr txBox="1"/>
          <p:nvPr/>
        </p:nvSpPr>
        <p:spPr>
          <a:xfrm>
            <a:off x="2250469" y="3913445"/>
            <a:ext cx="24035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FF5D5D"/>
                </a:solidFill>
              </a:rPr>
              <a:t>Évolutivité</a:t>
            </a:r>
            <a:endParaRPr lang="fr-FR" sz="2000" dirty="0"/>
          </a:p>
        </p:txBody>
      </p:sp>
      <p:pic>
        <p:nvPicPr>
          <p:cNvPr id="60" name="Image 59">
            <a:extLst>
              <a:ext uri="{FF2B5EF4-FFF2-40B4-BE49-F238E27FC236}">
                <a16:creationId xmlns:a16="http://schemas.microsoft.com/office/drawing/2014/main" id="{256B4305-1663-70C7-08BE-553A3A7B38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311" y="4180376"/>
            <a:ext cx="763795" cy="763795"/>
          </a:xfrm>
          <a:prstGeom prst="rect">
            <a:avLst/>
          </a:prstGeom>
        </p:spPr>
      </p:pic>
      <p:pic>
        <p:nvPicPr>
          <p:cNvPr id="61" name="Image 60">
            <a:extLst>
              <a:ext uri="{FF2B5EF4-FFF2-40B4-BE49-F238E27FC236}">
                <a16:creationId xmlns:a16="http://schemas.microsoft.com/office/drawing/2014/main" id="{CF78C6B2-7820-9516-6B95-B74CB2A2BA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928" y="3159618"/>
            <a:ext cx="729003" cy="729003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76671AA4-900D-4FD1-BDBF-1B1C8AF1EB3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02720" y="6319520"/>
            <a:ext cx="375920" cy="37147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10</a:t>
            </a:r>
          </a:p>
        </p:txBody>
      </p:sp>
      <p:grpSp>
        <p:nvGrpSpPr>
          <p:cNvPr id="58" name="Group 36">
            <a:extLst>
              <a:ext uri="{FF2B5EF4-FFF2-40B4-BE49-F238E27FC236}">
                <a16:creationId xmlns:a16="http://schemas.microsoft.com/office/drawing/2014/main" id="{E720417B-8F60-4379-95A8-5EE7567E9D8B}"/>
              </a:ext>
            </a:extLst>
          </p:cNvPr>
          <p:cNvGrpSpPr/>
          <p:nvPr/>
        </p:nvGrpSpPr>
        <p:grpSpPr>
          <a:xfrm flipV="1">
            <a:off x="4103082" y="5428512"/>
            <a:ext cx="1983221" cy="342653"/>
            <a:chOff x="7496200" y="1185640"/>
            <a:chExt cx="2644294" cy="454224"/>
          </a:xfrm>
        </p:grpSpPr>
        <p:cxnSp>
          <p:nvCxnSpPr>
            <p:cNvPr id="62" name="Straight Connector 37">
              <a:extLst>
                <a:ext uri="{FF2B5EF4-FFF2-40B4-BE49-F238E27FC236}">
                  <a16:creationId xmlns:a16="http://schemas.microsoft.com/office/drawing/2014/main" id="{EA14A93A-87EE-4683-83D1-1E6D6F7F0C75}"/>
                </a:ext>
              </a:extLst>
            </p:cNvPr>
            <p:cNvCxnSpPr>
              <a:cxnSpLocks/>
            </p:cNvCxnSpPr>
            <p:nvPr/>
          </p:nvCxnSpPr>
          <p:spPr>
            <a:xfrm>
              <a:off x="9706385" y="1185640"/>
              <a:ext cx="434109" cy="454224"/>
            </a:xfrm>
            <a:prstGeom prst="line">
              <a:avLst/>
            </a:prstGeom>
            <a:ln w="19050">
              <a:solidFill>
                <a:schemeClr val="tx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38">
              <a:extLst>
                <a:ext uri="{FF2B5EF4-FFF2-40B4-BE49-F238E27FC236}">
                  <a16:creationId xmlns:a16="http://schemas.microsoft.com/office/drawing/2014/main" id="{386C883D-444C-4C4B-A593-FDA88104C9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6200" y="1185640"/>
              <a:ext cx="2210185" cy="0"/>
            </a:xfrm>
            <a:prstGeom prst="line">
              <a:avLst/>
            </a:prstGeom>
            <a:ln w="19050">
              <a:solidFill>
                <a:schemeClr val="tx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ZoneTexte 7">
            <a:extLst>
              <a:ext uri="{FF2B5EF4-FFF2-40B4-BE49-F238E27FC236}">
                <a16:creationId xmlns:a16="http://schemas.microsoft.com/office/drawing/2014/main" id="{5B6EE565-4009-4EF2-AF78-45310E107944}"/>
              </a:ext>
            </a:extLst>
          </p:cNvPr>
          <p:cNvSpPr txBox="1"/>
          <p:nvPr/>
        </p:nvSpPr>
        <p:spPr>
          <a:xfrm rot="10800000" flipH="1" flipV="1">
            <a:off x="2264868" y="5504949"/>
            <a:ext cx="18768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tx2">
                    <a:lumMod val="50000"/>
                  </a:schemeClr>
                </a:solidFill>
              </a:rPr>
              <a:t>Performance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D629034-A127-40FD-9EA2-46963195E8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5985" y="4630651"/>
            <a:ext cx="995177" cy="995177"/>
          </a:xfrm>
          <a:prstGeom prst="rect">
            <a:avLst/>
          </a:prstGeom>
        </p:spPr>
      </p:pic>
      <p:pic>
        <p:nvPicPr>
          <p:cNvPr id="59" name="Image 58" descr="Une image contenant Graphique, capture d’écran, graphisme, conception&#10;&#10;Description générée automatiquement">
            <a:extLst>
              <a:ext uri="{FF2B5EF4-FFF2-40B4-BE49-F238E27FC236}">
                <a16:creationId xmlns:a16="http://schemas.microsoft.com/office/drawing/2014/main" id="{C5F406BD-80EF-46F0-999C-826AC0B0767F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51" t="6916" r="26259" b="3774"/>
          <a:stretch/>
        </p:blipFill>
        <p:spPr>
          <a:xfrm>
            <a:off x="3316744" y="1824521"/>
            <a:ext cx="704373" cy="55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974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2" grpId="0"/>
      <p:bldP spid="55" grpId="0"/>
      <p:bldP spid="56" grpId="0"/>
      <p:bldP spid="5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5"/>
          <p:cNvSpPr/>
          <p:nvPr/>
        </p:nvSpPr>
        <p:spPr>
          <a:xfrm>
            <a:off x="145993" y="82210"/>
            <a:ext cx="11924088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rgbClr val="92D050"/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8" name="object 2"/>
          <p:cNvSpPr/>
          <p:nvPr/>
        </p:nvSpPr>
        <p:spPr>
          <a:xfrm>
            <a:off x="2207402" y="2924696"/>
            <a:ext cx="983860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title"/>
          </p:nvPr>
        </p:nvSpPr>
        <p:spPr>
          <a:xfrm>
            <a:off x="4982046" y="3228172"/>
            <a:ext cx="3657600" cy="401819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lvl="0">
              <a:lnSpc>
                <a:spcPct val="100000"/>
              </a:lnSpc>
              <a:buClr>
                <a:srgbClr val="000000"/>
              </a:buClr>
              <a:buSzPts val="2500"/>
            </a:pPr>
            <a:r>
              <a:rPr lang="fr-FR" sz="2400" b="1" dirty="0">
                <a:solidFill>
                  <a:schemeClr val="bg1"/>
                </a:solidFill>
                <a:latin typeface="+mj-lt"/>
              </a:rPr>
              <a:t>Conception</a:t>
            </a:r>
          </a:p>
        </p:txBody>
      </p:sp>
      <p:pic>
        <p:nvPicPr>
          <p:cNvPr id="10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2681" y="2962465"/>
            <a:ext cx="919915" cy="933234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1870961-2CB0-4BE7-BBB4-81659700AF5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6003" y="6305550"/>
            <a:ext cx="39116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836618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57245" y="1038089"/>
            <a:ext cx="84768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cas d’utilisation global </a:t>
            </a:r>
            <a:endParaRPr sz="18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0EBF62A4-0FA8-4A29-9208-75EFA24D272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82400" y="6305550"/>
            <a:ext cx="37084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EB0315F-C8D7-4885-87BA-2F2C839C1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9686" y="1617272"/>
            <a:ext cx="8476800" cy="4904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844010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557245" y="1038089"/>
            <a:ext cx="84768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classes global </a:t>
            </a:r>
            <a:endParaRPr sz="18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0EBF62A4-0FA8-4A29-9208-75EFA24D272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82400" y="6305550"/>
            <a:ext cx="37084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13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36ADA30-1927-430E-9F01-0BB92F4CE4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030" y="1499724"/>
            <a:ext cx="8631936" cy="5062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209516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263325" y="972644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Planification des sprints et diagramme de Gantt 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B2AB8EA3-67BF-4546-B446-787F5F8B1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48" y="3991134"/>
            <a:ext cx="10091056" cy="2154067"/>
          </a:xfrm>
          <a:prstGeom prst="rect">
            <a:avLst/>
          </a:prstGeom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64598387-DEBD-4533-B196-744D7E3063B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455605" y="6275070"/>
            <a:ext cx="44196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14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051F6737-BFF4-4E14-8B02-3CEE8DAF1BE9}"/>
              </a:ext>
            </a:extLst>
          </p:cNvPr>
          <p:cNvSpPr/>
          <p:nvPr/>
        </p:nvSpPr>
        <p:spPr>
          <a:xfrm>
            <a:off x="608651" y="1590156"/>
            <a:ext cx="3566977" cy="49241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400" b="1" dirty="0">
                <a:solidFill>
                  <a:schemeClr val="tx1"/>
                </a:solidFill>
              </a:rPr>
              <a:t>Sprint 1: Gestion des privilèges et des comptes utilisateurs</a:t>
            </a:r>
          </a:p>
        </p:txBody>
      </p: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C4453D99-4AD7-4C38-8A47-C659F339FA6F}"/>
              </a:ext>
            </a:extLst>
          </p:cNvPr>
          <p:cNvSpPr/>
          <p:nvPr/>
        </p:nvSpPr>
        <p:spPr>
          <a:xfrm>
            <a:off x="3304430" y="2203561"/>
            <a:ext cx="3273364" cy="388684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400" b="1" dirty="0">
                <a:solidFill>
                  <a:schemeClr val="tx1"/>
                </a:solidFill>
              </a:rPr>
              <a:t>      Sprint 2: Module e-commerce</a:t>
            </a:r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3770F659-2538-4C52-B6D8-547317FFC105}"/>
              </a:ext>
            </a:extLst>
          </p:cNvPr>
          <p:cNvSpPr/>
          <p:nvPr/>
        </p:nvSpPr>
        <p:spPr>
          <a:xfrm>
            <a:off x="5876075" y="2704031"/>
            <a:ext cx="3159067" cy="49241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400" b="1" dirty="0">
                <a:solidFill>
                  <a:schemeClr val="tx1"/>
                </a:solidFill>
              </a:rPr>
              <a:t>         Sprint 3: Gestion et suivi des pots connectés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5CABCE7A-D67C-4FEA-B77F-561F847D026D}"/>
              </a:ext>
            </a:extLst>
          </p:cNvPr>
          <p:cNvSpPr/>
          <p:nvPr/>
        </p:nvSpPr>
        <p:spPr>
          <a:xfrm>
            <a:off x="8223637" y="3381846"/>
            <a:ext cx="3231968" cy="49241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400" b="1" dirty="0">
                <a:solidFill>
                  <a:schemeClr val="tx1"/>
                </a:solidFill>
              </a:rPr>
              <a:t>         Sprint 4: Module éducatif  et gestion des réclamations</a:t>
            </a:r>
            <a:endParaRPr lang="fr-FR" sz="1400" dirty="0"/>
          </a:p>
        </p:txBody>
      </p:sp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D11F361D-D811-46BC-8AF2-8488A147B249}"/>
              </a:ext>
            </a:extLst>
          </p:cNvPr>
          <p:cNvSpPr/>
          <p:nvPr/>
        </p:nvSpPr>
        <p:spPr>
          <a:xfrm>
            <a:off x="3450771" y="1939555"/>
            <a:ext cx="261258" cy="388684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Flèche : bas 34">
            <a:extLst>
              <a:ext uri="{FF2B5EF4-FFF2-40B4-BE49-F238E27FC236}">
                <a16:creationId xmlns:a16="http://schemas.microsoft.com/office/drawing/2014/main" id="{65D25676-A197-4E4F-9404-CA27E0593A79}"/>
              </a:ext>
            </a:extLst>
          </p:cNvPr>
          <p:cNvSpPr/>
          <p:nvPr/>
        </p:nvSpPr>
        <p:spPr>
          <a:xfrm>
            <a:off x="6150269" y="2442331"/>
            <a:ext cx="261258" cy="388684"/>
          </a:xfrm>
          <a:prstGeom prst="downArrow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6" name="Flèche : bas 35">
            <a:extLst>
              <a:ext uri="{FF2B5EF4-FFF2-40B4-BE49-F238E27FC236}">
                <a16:creationId xmlns:a16="http://schemas.microsoft.com/office/drawing/2014/main" id="{307DB000-860D-4202-8DF6-4EE02FCADE87}"/>
              </a:ext>
            </a:extLst>
          </p:cNvPr>
          <p:cNvSpPr/>
          <p:nvPr/>
        </p:nvSpPr>
        <p:spPr>
          <a:xfrm>
            <a:off x="8451737" y="3113887"/>
            <a:ext cx="261258" cy="388684"/>
          </a:xfrm>
          <a:prstGeom prst="downArrow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748302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8" grpId="0" animBg="1"/>
      <p:bldP spid="31" grpId="0" animBg="1"/>
      <p:bldP spid="34" grpId="0" animBg="1"/>
      <p:bldP spid="13" grpId="0" animBg="1"/>
      <p:bldP spid="35" grpId="0" animBg="1"/>
      <p:bldP spid="3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798908" y="1520074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Diagramme de cas d’utilisation 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119270" y="1088331"/>
            <a:ext cx="6370320" cy="33882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1: Gest</a:t>
            </a:r>
            <a:r>
              <a:rPr lang="fr-FR" sz="1800" b="1" dirty="0">
                <a:solidFill>
                  <a:schemeClr val="tx1"/>
                </a:solidFill>
              </a:rPr>
              <a:t>ion des privilèges et comptes utilisateurs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2B010DB1-D671-41ED-90E7-CD0C587E9966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1476" y="2090819"/>
            <a:ext cx="7569200" cy="4098793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0EBF62A4-0FA8-4A29-9208-75EFA24D272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82400" y="6305550"/>
            <a:ext cx="37084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15</a:t>
            </a:r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798908" y="1517343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Diagramme de séquence « S’authentifier »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129689" y="1068381"/>
            <a:ext cx="6370320" cy="33130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1: Gest</a:t>
            </a:r>
            <a:r>
              <a:rPr lang="fr-FR" sz="1800" b="1" dirty="0">
                <a:solidFill>
                  <a:schemeClr val="tx1"/>
                </a:solidFill>
              </a:rPr>
              <a:t>ion des privilèges et comptes utilisateurs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4DEDF2D8-5D47-4AC5-B50F-C63669CC528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1755" y="2065859"/>
            <a:ext cx="6797040" cy="4212081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8858ABED-2208-48B8-9C79-F1E0CFD323B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82400" y="6277941"/>
            <a:ext cx="4318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06996124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1030257" y="1404284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cas d’utilisation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91947" y="1057344"/>
            <a:ext cx="3711050" cy="28092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2: Module e-commerce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CE16D438-CA22-4759-A98E-4ABFE0AC50A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105" y="1861649"/>
            <a:ext cx="7849326" cy="454095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746F81F8-7C9E-4C16-86BF-F365CA1BE8D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72240" y="6285230"/>
            <a:ext cx="37084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3767166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1002600" y="1362605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séquence « Acheter un pot connecté »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96443" y="1056336"/>
            <a:ext cx="3761850" cy="28326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2: </a:t>
            </a:r>
            <a:r>
              <a:rPr lang="fr-FR" sz="1800" b="1" dirty="0">
                <a:solidFill>
                  <a:schemeClr val="tx1"/>
                </a:solidFill>
              </a:rPr>
              <a:t>Module e-commerce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51232A9B-DEAD-4D90-9B1A-AA525D67A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8786" y="2043386"/>
            <a:ext cx="4381863" cy="4495525"/>
          </a:xfrm>
          <a:prstGeom prst="rect">
            <a:avLst/>
          </a:prstGeom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98C2E915-B665-4314-8057-25C96474339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56438" y="6356349"/>
            <a:ext cx="36068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659672313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1002600" y="1411105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cas d’utilisation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89525" y="1059619"/>
            <a:ext cx="5465129" cy="3050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3: Gest</a:t>
            </a:r>
            <a:r>
              <a:rPr lang="fr-FR" sz="1800" b="1" dirty="0">
                <a:solidFill>
                  <a:schemeClr val="tx1"/>
                </a:solidFill>
              </a:rPr>
              <a:t>ion et suivi des pots connectés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82C43E16-D160-40F2-BB54-22F96456E8F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3078" y="1894859"/>
            <a:ext cx="7472293" cy="46291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38C39E2E-0109-40F7-B05C-D92B14DAA37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62080" y="6325870"/>
            <a:ext cx="39116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718388238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1002600" y="143462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séquence « Gérer le pot connecté » 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89525" y="1070807"/>
            <a:ext cx="5523002" cy="304768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3: Gest</a:t>
            </a:r>
            <a:r>
              <a:rPr lang="fr-FR" sz="1800" b="1" dirty="0">
                <a:solidFill>
                  <a:schemeClr val="tx1"/>
                </a:solidFill>
              </a:rPr>
              <a:t>ion et suivi des pots connectés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0D9B1376-044B-4DD8-B8A2-1B39A4D0D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314" y="1997869"/>
            <a:ext cx="5497286" cy="4570578"/>
          </a:xfrm>
          <a:prstGeom prst="rect">
            <a:avLst/>
          </a:prstGeom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5F21BF5D-9F84-42A5-A766-A925F833286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23638" y="6295390"/>
            <a:ext cx="3505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31873109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1069572" y="1539218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cas d’utilisation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89525" y="1088331"/>
            <a:ext cx="6370320" cy="34379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4: Module éducatif et gestion des réclamations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2E0D0C07-85CE-44EF-AC2D-F6A83B6B3DE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250" y="2214809"/>
            <a:ext cx="7298122" cy="4100901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321A5480-AA75-409E-A214-F52989171F6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12880" y="6315710"/>
            <a:ext cx="37084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93159962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1030257" y="1467163"/>
            <a:ext cx="84768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6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</a:t>
            </a:r>
            <a:r>
              <a:rPr lang="fr-FR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séquence « Obtenir un certificat » </a:t>
            </a:r>
            <a:endParaRPr sz="16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61C70059-DB91-4C3C-B674-0890E1A3256D}"/>
              </a:ext>
            </a:extLst>
          </p:cNvPr>
          <p:cNvSpPr/>
          <p:nvPr/>
        </p:nvSpPr>
        <p:spPr>
          <a:xfrm>
            <a:off x="89525" y="1094983"/>
            <a:ext cx="6370320" cy="32681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1800" b="1" i="0" u="none" strike="noStrike" cap="none" dirty="0">
                <a:solidFill>
                  <a:schemeClr val="tx1"/>
                </a:solidFill>
              </a:rPr>
              <a:t>Sprint 4: Module éducatif et gestion des réclamations</a:t>
            </a:r>
            <a:endParaRPr lang="fr-FR" i="0" u="none" strike="noStrike" cap="none" dirty="0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A241C3-FE0C-4B5B-8285-66FB69368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5971" y="1984781"/>
            <a:ext cx="6106886" cy="4607252"/>
          </a:xfrm>
          <a:prstGeom prst="rect">
            <a:avLst/>
          </a:prstGeom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AEA93B1A-BB97-4A43-90C8-DD115075817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53616" y="6334452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009833330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4"/>
          <p:cNvSpPr/>
          <p:nvPr/>
        </p:nvSpPr>
        <p:spPr>
          <a:xfrm>
            <a:off x="1546775" y="2934119"/>
            <a:ext cx="10563931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0" y="864107"/>
                </a:moveTo>
                <a:lnTo>
                  <a:pt x="8506968" y="864107"/>
                </a:lnTo>
                <a:lnTo>
                  <a:pt x="8506968" y="0"/>
                </a:lnTo>
                <a:lnTo>
                  <a:pt x="0" y="0"/>
                </a:lnTo>
                <a:lnTo>
                  <a:pt x="0" y="864107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144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endParaRPr sz="1867"/>
          </a:p>
        </p:txBody>
      </p:sp>
      <p:pic>
        <p:nvPicPr>
          <p:cNvPr id="15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77527" y="3127245"/>
            <a:ext cx="768096" cy="766064"/>
          </a:xfrm>
          <a:prstGeom prst="rect">
            <a:avLst/>
          </a:prstGeom>
        </p:spPr>
      </p:pic>
      <p:sp>
        <p:nvSpPr>
          <p:cNvPr id="17" name="object 5"/>
          <p:cNvSpPr txBox="1">
            <a:spLocks noGrp="1"/>
          </p:cNvSpPr>
          <p:nvPr>
            <p:ph type="title"/>
          </p:nvPr>
        </p:nvSpPr>
        <p:spPr>
          <a:xfrm>
            <a:off x="3617783" y="3208089"/>
            <a:ext cx="4733737" cy="604375"/>
          </a:xfrm>
          <a:prstGeom prst="rect">
            <a:avLst/>
          </a:prstGeom>
        </p:spPr>
        <p:txBody>
          <a:bodyPr spcFirstLastPara="1" vert="horz" wrap="square" lIns="0" tIns="16933" rIns="0" bIns="0" rtlCol="0" anchor="ctr" anchorCtr="0">
            <a:spAutoFit/>
          </a:bodyPr>
          <a:lstStyle/>
          <a:p>
            <a:pPr marL="16933">
              <a:lnSpc>
                <a:spcPct val="100000"/>
              </a:lnSpc>
              <a:spcBef>
                <a:spcPts val="133"/>
              </a:spcBef>
            </a:pPr>
            <a:r>
              <a:rPr lang="fr-FR" sz="3733" b="1" dirty="0">
                <a:solidFill>
                  <a:schemeClr val="bg1"/>
                </a:solidFill>
                <a:latin typeface="+mj-lt"/>
              </a:rPr>
              <a:t>Réalisation</a:t>
            </a:r>
            <a:endParaRPr sz="3733" b="1" spc="2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8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EF0F2299-39DE-4764-A6D7-7E03947975E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4619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902013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oogle Shape;248;p19"/>
          <p:cNvGrpSpPr/>
          <p:nvPr/>
        </p:nvGrpSpPr>
        <p:grpSpPr>
          <a:xfrm>
            <a:off x="68379" y="203748"/>
            <a:ext cx="10365904" cy="650938"/>
            <a:chOff x="-43152" y="-19950"/>
            <a:chExt cx="10076703" cy="650938"/>
          </a:xfrm>
        </p:grpSpPr>
        <p:sp>
          <p:nvSpPr>
            <p:cNvPr id="39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0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1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2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3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4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5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6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7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48" name="object 5"/>
          <p:cNvSpPr/>
          <p:nvPr/>
        </p:nvSpPr>
        <p:spPr>
          <a:xfrm>
            <a:off x="68379" y="93135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59" name="Image 58">
            <a:extLst>
              <a:ext uri="{FF2B5EF4-FFF2-40B4-BE49-F238E27FC236}">
                <a16:creationId xmlns:a16="http://schemas.microsoft.com/office/drawing/2014/main" id="{AFFFC30B-DE29-4286-840B-E3C90C35C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953" y="2002473"/>
            <a:ext cx="1487424" cy="1499447"/>
          </a:xfrm>
          <a:prstGeom prst="rect">
            <a:avLst/>
          </a:prstGeom>
        </p:spPr>
      </p:pic>
      <p:sp>
        <p:nvSpPr>
          <p:cNvPr id="61" name="ZoneTexte 60">
            <a:extLst>
              <a:ext uri="{FF2B5EF4-FFF2-40B4-BE49-F238E27FC236}">
                <a16:creationId xmlns:a16="http://schemas.microsoft.com/office/drawing/2014/main" id="{BF7C3680-42E6-497B-B343-EE558C1DEC90}"/>
              </a:ext>
            </a:extLst>
          </p:cNvPr>
          <p:cNvSpPr txBox="1"/>
          <p:nvPr/>
        </p:nvSpPr>
        <p:spPr>
          <a:xfrm>
            <a:off x="425273" y="1130615"/>
            <a:ext cx="7889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Récupération des paramètres environnementaux en temps réel </a:t>
            </a: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0C8B7BF4-FE0C-4D98-A172-06734396CBCF}"/>
              </a:ext>
            </a:extLst>
          </p:cNvPr>
          <p:cNvSpPr txBox="1"/>
          <p:nvPr/>
        </p:nvSpPr>
        <p:spPr>
          <a:xfrm>
            <a:off x="1942789" y="1950731"/>
            <a:ext cx="2103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Pot connecté</a:t>
            </a:r>
          </a:p>
        </p:txBody>
      </p: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82EF4321-9D2B-45AE-957F-794A4A14ADE5}"/>
              </a:ext>
            </a:extLst>
          </p:cNvPr>
          <p:cNvCxnSpPr>
            <a:cxnSpLocks/>
          </p:cNvCxnSpPr>
          <p:nvPr/>
        </p:nvCxnSpPr>
        <p:spPr>
          <a:xfrm flipV="1">
            <a:off x="1320800" y="2816972"/>
            <a:ext cx="987755" cy="1543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4F182838-E3E0-414A-8BC3-2FB4B27A8474}"/>
              </a:ext>
            </a:extLst>
          </p:cNvPr>
          <p:cNvCxnSpPr>
            <a:cxnSpLocks/>
          </p:cNvCxnSpPr>
          <p:nvPr/>
        </p:nvCxnSpPr>
        <p:spPr>
          <a:xfrm flipV="1">
            <a:off x="1391920" y="3161371"/>
            <a:ext cx="1060810" cy="5596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avec flèche 82">
            <a:extLst>
              <a:ext uri="{FF2B5EF4-FFF2-40B4-BE49-F238E27FC236}">
                <a16:creationId xmlns:a16="http://schemas.microsoft.com/office/drawing/2014/main" id="{927D721B-753B-4D28-8EF7-1813997DDE01}"/>
              </a:ext>
            </a:extLst>
          </p:cNvPr>
          <p:cNvCxnSpPr>
            <a:cxnSpLocks/>
          </p:cNvCxnSpPr>
          <p:nvPr/>
        </p:nvCxnSpPr>
        <p:spPr>
          <a:xfrm flipH="1" flipV="1">
            <a:off x="2789919" y="2971338"/>
            <a:ext cx="277687" cy="4576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7F76111D-3EF5-44E3-8BC3-A1985EB6EF38}"/>
              </a:ext>
            </a:extLst>
          </p:cNvPr>
          <p:cNvSpPr txBox="1"/>
          <p:nvPr/>
        </p:nvSpPr>
        <p:spPr>
          <a:xfrm>
            <a:off x="152400" y="2682240"/>
            <a:ext cx="11684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Capteur d’humidité du sol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904A1024-43B5-489D-995A-B659D6966EC2}"/>
              </a:ext>
            </a:extLst>
          </p:cNvPr>
          <p:cNvSpPr txBox="1"/>
          <p:nvPr/>
        </p:nvSpPr>
        <p:spPr>
          <a:xfrm>
            <a:off x="468852" y="3612591"/>
            <a:ext cx="1168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Pompe à eau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B06CA299-95A6-4D2E-AA81-4E4CAF3D3CDB}"/>
              </a:ext>
            </a:extLst>
          </p:cNvPr>
          <p:cNvSpPr txBox="1"/>
          <p:nvPr/>
        </p:nvSpPr>
        <p:spPr>
          <a:xfrm>
            <a:off x="2203217" y="3470879"/>
            <a:ext cx="18773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Capteur d’humidité et température de l’air</a:t>
            </a:r>
          </a:p>
        </p:txBody>
      </p:sp>
      <p:cxnSp>
        <p:nvCxnSpPr>
          <p:cNvPr id="85" name="Connecteur droit avec flèche 84">
            <a:extLst>
              <a:ext uri="{FF2B5EF4-FFF2-40B4-BE49-F238E27FC236}">
                <a16:creationId xmlns:a16="http://schemas.microsoft.com/office/drawing/2014/main" id="{21F9ACE1-96CD-4E82-9F07-191926370E81}"/>
              </a:ext>
            </a:extLst>
          </p:cNvPr>
          <p:cNvCxnSpPr/>
          <p:nvPr/>
        </p:nvCxnSpPr>
        <p:spPr>
          <a:xfrm>
            <a:off x="-609600" y="93135"/>
            <a:ext cx="0" cy="287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Flèche : droite 93">
            <a:extLst>
              <a:ext uri="{FF2B5EF4-FFF2-40B4-BE49-F238E27FC236}">
                <a16:creationId xmlns:a16="http://schemas.microsoft.com/office/drawing/2014/main" id="{4EBDFB6C-1284-44C8-B855-045B231BF31D}"/>
              </a:ext>
            </a:extLst>
          </p:cNvPr>
          <p:cNvSpPr/>
          <p:nvPr/>
        </p:nvSpPr>
        <p:spPr>
          <a:xfrm>
            <a:off x="3504725" y="2855129"/>
            <a:ext cx="1603052" cy="207554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2B2E06DB-06AC-484A-AEF0-CE6F88A2855E}"/>
              </a:ext>
            </a:extLst>
          </p:cNvPr>
          <p:cNvSpPr txBox="1"/>
          <p:nvPr/>
        </p:nvSpPr>
        <p:spPr>
          <a:xfrm>
            <a:off x="3291466" y="2512815"/>
            <a:ext cx="21230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Envoyer les données </a:t>
            </a:r>
          </a:p>
        </p:txBody>
      </p:sp>
      <p:pic>
        <p:nvPicPr>
          <p:cNvPr id="97" name="Image 96">
            <a:extLst>
              <a:ext uri="{FF2B5EF4-FFF2-40B4-BE49-F238E27FC236}">
                <a16:creationId xmlns:a16="http://schemas.microsoft.com/office/drawing/2014/main" id="{FAFED6C3-7A3A-42CB-9840-73DACA31D3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5252" y="2284622"/>
            <a:ext cx="1070011" cy="1623676"/>
          </a:xfrm>
          <a:prstGeom prst="rect">
            <a:avLst/>
          </a:prstGeom>
        </p:spPr>
      </p:pic>
      <p:pic>
        <p:nvPicPr>
          <p:cNvPr id="104" name="Image 103">
            <a:extLst>
              <a:ext uri="{FF2B5EF4-FFF2-40B4-BE49-F238E27FC236}">
                <a16:creationId xmlns:a16="http://schemas.microsoft.com/office/drawing/2014/main" id="{00DCA62D-E78C-4CB9-8AE6-6D70D3625D57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5161" y="1831542"/>
            <a:ext cx="5338388" cy="254792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ZoneTexte 97">
            <a:extLst>
              <a:ext uri="{FF2B5EF4-FFF2-40B4-BE49-F238E27FC236}">
                <a16:creationId xmlns:a16="http://schemas.microsoft.com/office/drawing/2014/main" id="{2E5FE2C1-0D89-4404-A8D2-FEA165625E78}"/>
              </a:ext>
            </a:extLst>
          </p:cNvPr>
          <p:cNvSpPr txBox="1"/>
          <p:nvPr/>
        </p:nvSpPr>
        <p:spPr>
          <a:xfrm>
            <a:off x="5042988" y="2009514"/>
            <a:ext cx="1675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Broker MQTT</a:t>
            </a:r>
          </a:p>
        </p:txBody>
      </p:sp>
      <p:sp>
        <p:nvSpPr>
          <p:cNvPr id="100" name="Flèche : bas 99">
            <a:extLst>
              <a:ext uri="{FF2B5EF4-FFF2-40B4-BE49-F238E27FC236}">
                <a16:creationId xmlns:a16="http://schemas.microsoft.com/office/drawing/2014/main" id="{7267F3AE-4120-4312-9B6C-0BF983A4EC25}"/>
              </a:ext>
            </a:extLst>
          </p:cNvPr>
          <p:cNvSpPr/>
          <p:nvPr/>
        </p:nvSpPr>
        <p:spPr>
          <a:xfrm>
            <a:off x="5570770" y="3925497"/>
            <a:ext cx="300623" cy="685880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8FD5F7C3-443A-4BE8-B95A-DE17BA24644E}"/>
              </a:ext>
            </a:extLst>
          </p:cNvPr>
          <p:cNvSpPr txBox="1"/>
          <p:nvPr/>
        </p:nvSpPr>
        <p:spPr>
          <a:xfrm>
            <a:off x="3824812" y="4103904"/>
            <a:ext cx="1938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Stocker les valeurs  </a:t>
            </a:r>
          </a:p>
        </p:txBody>
      </p:sp>
      <p:pic>
        <p:nvPicPr>
          <p:cNvPr id="111" name="Image 110">
            <a:extLst>
              <a:ext uri="{FF2B5EF4-FFF2-40B4-BE49-F238E27FC236}">
                <a16:creationId xmlns:a16="http://schemas.microsoft.com/office/drawing/2014/main" id="{887618E1-8855-4A41-95D1-93DCC4B09A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093" y="4755241"/>
            <a:ext cx="2901307" cy="1601109"/>
          </a:xfrm>
          <a:prstGeom prst="rect">
            <a:avLst/>
          </a:prstGeom>
        </p:spPr>
      </p:pic>
      <p:pic>
        <p:nvPicPr>
          <p:cNvPr id="119" name="Image 118">
            <a:extLst>
              <a:ext uri="{FF2B5EF4-FFF2-40B4-BE49-F238E27FC236}">
                <a16:creationId xmlns:a16="http://schemas.microsoft.com/office/drawing/2014/main" id="{394D7031-2DBD-40B4-8DD6-01264B6579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6796" y="5112478"/>
            <a:ext cx="1346921" cy="1229813"/>
          </a:xfrm>
          <a:prstGeom prst="rect">
            <a:avLst/>
          </a:prstGeom>
        </p:spPr>
      </p:pic>
      <p:sp>
        <p:nvSpPr>
          <p:cNvPr id="120" name="ZoneTexte 119">
            <a:extLst>
              <a:ext uri="{FF2B5EF4-FFF2-40B4-BE49-F238E27FC236}">
                <a16:creationId xmlns:a16="http://schemas.microsoft.com/office/drawing/2014/main" id="{F055259E-F4C8-4380-8F7A-4FE973EBA612}"/>
              </a:ext>
            </a:extLst>
          </p:cNvPr>
          <p:cNvSpPr txBox="1"/>
          <p:nvPr/>
        </p:nvSpPr>
        <p:spPr>
          <a:xfrm>
            <a:off x="4827001" y="4905380"/>
            <a:ext cx="1788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Base de données</a:t>
            </a:r>
          </a:p>
        </p:txBody>
      </p:sp>
      <p:sp>
        <p:nvSpPr>
          <p:cNvPr id="127" name="Rectangle à coins arrondis 45">
            <a:extLst>
              <a:ext uri="{FF2B5EF4-FFF2-40B4-BE49-F238E27FC236}">
                <a16:creationId xmlns:a16="http://schemas.microsoft.com/office/drawing/2014/main" id="{B27B973C-890C-45C8-BA51-F600F0113159}"/>
              </a:ext>
            </a:extLst>
          </p:cNvPr>
          <p:cNvSpPr/>
          <p:nvPr/>
        </p:nvSpPr>
        <p:spPr>
          <a:xfrm>
            <a:off x="6607431" y="1823981"/>
            <a:ext cx="4186867" cy="165037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Rectangle à coins arrondis 45">
            <a:extLst>
              <a:ext uri="{FF2B5EF4-FFF2-40B4-BE49-F238E27FC236}">
                <a16:creationId xmlns:a16="http://schemas.microsoft.com/office/drawing/2014/main" id="{59ADD0D3-A6A3-4B35-80DD-4B586CED1D86}"/>
              </a:ext>
            </a:extLst>
          </p:cNvPr>
          <p:cNvSpPr/>
          <p:nvPr/>
        </p:nvSpPr>
        <p:spPr>
          <a:xfrm>
            <a:off x="6558721" y="2173002"/>
            <a:ext cx="1565847" cy="1008515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0" name="Rectangle à coins arrondis 45">
            <a:extLst>
              <a:ext uri="{FF2B5EF4-FFF2-40B4-BE49-F238E27FC236}">
                <a16:creationId xmlns:a16="http://schemas.microsoft.com/office/drawing/2014/main" id="{D884ECB2-9210-44C7-95F7-B238B1298998}"/>
              </a:ext>
            </a:extLst>
          </p:cNvPr>
          <p:cNvSpPr/>
          <p:nvPr/>
        </p:nvSpPr>
        <p:spPr>
          <a:xfrm>
            <a:off x="6549370" y="3204506"/>
            <a:ext cx="4088150" cy="1163036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6" name="Connecteur droit avec flèche 125">
            <a:extLst>
              <a:ext uri="{FF2B5EF4-FFF2-40B4-BE49-F238E27FC236}">
                <a16:creationId xmlns:a16="http://schemas.microsoft.com/office/drawing/2014/main" id="{06EB8619-5A3A-40E7-B732-F0AD56EFA8DF}"/>
              </a:ext>
            </a:extLst>
          </p:cNvPr>
          <p:cNvCxnSpPr>
            <a:cxnSpLocks/>
          </p:cNvCxnSpPr>
          <p:nvPr/>
        </p:nvCxnSpPr>
        <p:spPr>
          <a:xfrm flipH="1">
            <a:off x="8124568" y="2814489"/>
            <a:ext cx="9076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ZoneTexte 139">
            <a:extLst>
              <a:ext uri="{FF2B5EF4-FFF2-40B4-BE49-F238E27FC236}">
                <a16:creationId xmlns:a16="http://schemas.microsoft.com/office/drawing/2014/main" id="{114BCF77-5993-4D8B-AEA9-B5029BAD387D}"/>
              </a:ext>
            </a:extLst>
          </p:cNvPr>
          <p:cNvSpPr txBox="1"/>
          <p:nvPr/>
        </p:nvSpPr>
        <p:spPr>
          <a:xfrm>
            <a:off x="8970389" y="2646782"/>
            <a:ext cx="2128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Topiques des paramètres du</a:t>
            </a:r>
          </a:p>
          <a:p>
            <a:r>
              <a:rPr lang="fr-FR" sz="1200" dirty="0">
                <a:solidFill>
                  <a:schemeClr val="bg1"/>
                </a:solidFill>
              </a:rPr>
              <a:t>pot</a:t>
            </a:r>
          </a:p>
        </p:txBody>
      </p:sp>
      <p:sp>
        <p:nvSpPr>
          <p:cNvPr id="141" name="ZoneTexte 140">
            <a:extLst>
              <a:ext uri="{FF2B5EF4-FFF2-40B4-BE49-F238E27FC236}">
                <a16:creationId xmlns:a16="http://schemas.microsoft.com/office/drawing/2014/main" id="{63074870-81F3-44EE-BE33-504C61F9F8A3}"/>
              </a:ext>
            </a:extLst>
          </p:cNvPr>
          <p:cNvSpPr txBox="1"/>
          <p:nvPr/>
        </p:nvSpPr>
        <p:spPr>
          <a:xfrm>
            <a:off x="10038095" y="2246734"/>
            <a:ext cx="2001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Connexion au broker</a:t>
            </a:r>
          </a:p>
        </p:txBody>
      </p:sp>
      <p:cxnSp>
        <p:nvCxnSpPr>
          <p:cNvPr id="142" name="Connecteur droit avec flèche 141">
            <a:extLst>
              <a:ext uri="{FF2B5EF4-FFF2-40B4-BE49-F238E27FC236}">
                <a16:creationId xmlns:a16="http://schemas.microsoft.com/office/drawing/2014/main" id="{24E1A879-0777-4C97-8C8D-44C41A15B315}"/>
              </a:ext>
            </a:extLst>
          </p:cNvPr>
          <p:cNvCxnSpPr>
            <a:cxnSpLocks/>
          </p:cNvCxnSpPr>
          <p:nvPr/>
        </p:nvCxnSpPr>
        <p:spPr>
          <a:xfrm flipH="1" flipV="1">
            <a:off x="9550400" y="2058279"/>
            <a:ext cx="522396" cy="2942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F78AC85-7061-42DB-A567-1D3B4D782C1F}"/>
              </a:ext>
            </a:extLst>
          </p:cNvPr>
          <p:cNvSpPr txBox="1"/>
          <p:nvPr/>
        </p:nvSpPr>
        <p:spPr>
          <a:xfrm>
            <a:off x="11038617" y="3419394"/>
            <a:ext cx="9149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Valeurs envoyés par le pot</a:t>
            </a:r>
          </a:p>
        </p:txBody>
      </p:sp>
      <p:cxnSp>
        <p:nvCxnSpPr>
          <p:cNvPr id="147" name="Connecteur droit avec flèche 146">
            <a:extLst>
              <a:ext uri="{FF2B5EF4-FFF2-40B4-BE49-F238E27FC236}">
                <a16:creationId xmlns:a16="http://schemas.microsoft.com/office/drawing/2014/main" id="{6F7A488B-A182-4491-AD6E-365656BC810E}"/>
              </a:ext>
            </a:extLst>
          </p:cNvPr>
          <p:cNvCxnSpPr>
            <a:cxnSpLocks/>
          </p:cNvCxnSpPr>
          <p:nvPr/>
        </p:nvCxnSpPr>
        <p:spPr>
          <a:xfrm flipH="1">
            <a:off x="10637520" y="3652897"/>
            <a:ext cx="4538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à coins arrondis 45">
            <a:extLst>
              <a:ext uri="{FF2B5EF4-FFF2-40B4-BE49-F238E27FC236}">
                <a16:creationId xmlns:a16="http://schemas.microsoft.com/office/drawing/2014/main" id="{F1242BF4-7ADB-4EEF-AE52-7603A129AD76}"/>
              </a:ext>
            </a:extLst>
          </p:cNvPr>
          <p:cNvSpPr/>
          <p:nvPr/>
        </p:nvSpPr>
        <p:spPr>
          <a:xfrm>
            <a:off x="6920537" y="4762423"/>
            <a:ext cx="2049852" cy="1601109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0" name="Connecteur droit avec flèche 149">
            <a:extLst>
              <a:ext uri="{FF2B5EF4-FFF2-40B4-BE49-F238E27FC236}">
                <a16:creationId xmlns:a16="http://schemas.microsoft.com/office/drawing/2014/main" id="{02F4E0FB-E1C9-4C1A-9147-116A73B1BE11}"/>
              </a:ext>
            </a:extLst>
          </p:cNvPr>
          <p:cNvCxnSpPr>
            <a:cxnSpLocks/>
            <a:stCxn id="151" idx="1"/>
          </p:cNvCxnSpPr>
          <p:nvPr/>
        </p:nvCxnSpPr>
        <p:spPr>
          <a:xfrm flipH="1">
            <a:off x="8970390" y="5492479"/>
            <a:ext cx="677978" cy="34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ZoneTexte 150">
            <a:extLst>
              <a:ext uri="{FF2B5EF4-FFF2-40B4-BE49-F238E27FC236}">
                <a16:creationId xmlns:a16="http://schemas.microsoft.com/office/drawing/2014/main" id="{0BFF0A34-1385-46BA-B029-9552D9388A7E}"/>
              </a:ext>
            </a:extLst>
          </p:cNvPr>
          <p:cNvSpPr txBox="1"/>
          <p:nvPr/>
        </p:nvSpPr>
        <p:spPr>
          <a:xfrm>
            <a:off x="9648368" y="5112478"/>
            <a:ext cx="2305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Collection « Historiques Mesures » de la base de données</a:t>
            </a:r>
          </a:p>
        </p:txBody>
      </p:sp>
      <p:sp>
        <p:nvSpPr>
          <p:cNvPr id="49" name="Espace réservé du numéro de diapositive 1">
            <a:extLst>
              <a:ext uri="{FF2B5EF4-FFF2-40B4-BE49-F238E27FC236}">
                <a16:creationId xmlns:a16="http://schemas.microsoft.com/office/drawing/2014/main" id="{D0198F9A-9DCE-422E-B309-A359A0A5DD3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579995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  <p:bldP spid="82" grpId="0"/>
      <p:bldP spid="89" grpId="0"/>
      <p:bldP spid="90" grpId="0"/>
      <p:bldP spid="94" grpId="0" animBg="1"/>
      <p:bldP spid="95" grpId="0"/>
      <p:bldP spid="98" grpId="0"/>
      <p:bldP spid="100" grpId="0" animBg="1"/>
      <p:bldP spid="102" grpId="0"/>
      <p:bldP spid="120" grpId="0"/>
      <p:bldP spid="127" grpId="0" animBg="1"/>
      <p:bldP spid="129" grpId="0" animBg="1"/>
      <p:bldP spid="130" grpId="0" animBg="1"/>
      <p:bldP spid="140" grpId="0"/>
      <p:bldP spid="141" grpId="0"/>
      <p:bldP spid="146" grpId="0"/>
      <p:bldP spid="149" grpId="0" animBg="1"/>
      <p:bldP spid="15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248;p19"/>
          <p:cNvGrpSpPr/>
          <p:nvPr/>
        </p:nvGrpSpPr>
        <p:grpSpPr>
          <a:xfrm>
            <a:off x="68379" y="217833"/>
            <a:ext cx="10365904" cy="650938"/>
            <a:chOff x="-43152" y="-19950"/>
            <a:chExt cx="10076703" cy="650938"/>
          </a:xfrm>
        </p:grpSpPr>
        <p:sp>
          <p:nvSpPr>
            <p:cNvPr id="7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3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4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5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6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7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8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9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80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82FAA36-0076-4F96-83DE-11A538E97936}"/>
              </a:ext>
            </a:extLst>
          </p:cNvPr>
          <p:cNvSpPr txBox="1"/>
          <p:nvPr/>
        </p:nvSpPr>
        <p:spPr>
          <a:xfrm>
            <a:off x="505335" y="1178560"/>
            <a:ext cx="57708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Prédiction des paramètres environnementaux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26E0FF01-E6AE-4BCF-8234-77CB67287F57}"/>
              </a:ext>
            </a:extLst>
          </p:cNvPr>
          <p:cNvSpPr/>
          <p:nvPr/>
        </p:nvSpPr>
        <p:spPr>
          <a:xfrm>
            <a:off x="4656706" y="3113306"/>
            <a:ext cx="1036524" cy="315694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EB80EC5-C965-4EBB-8A19-75E9A0F53263}"/>
              </a:ext>
            </a:extLst>
          </p:cNvPr>
          <p:cNvSpPr txBox="1"/>
          <p:nvPr/>
        </p:nvSpPr>
        <p:spPr>
          <a:xfrm>
            <a:off x="532352" y="1856668"/>
            <a:ext cx="44708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Récupération des données enregistrés dans la BD</a:t>
            </a:r>
          </a:p>
        </p:txBody>
      </p:sp>
      <p:pic>
        <p:nvPicPr>
          <p:cNvPr id="48" name="Image 47">
            <a:extLst>
              <a:ext uri="{FF2B5EF4-FFF2-40B4-BE49-F238E27FC236}">
                <a16:creationId xmlns:a16="http://schemas.microsoft.com/office/drawing/2014/main" id="{41371E4E-A079-4950-8826-4AC7B0F4C8A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929076" y="2330970"/>
            <a:ext cx="3677376" cy="2217492"/>
          </a:xfrm>
          <a:prstGeom prst="rect">
            <a:avLst/>
          </a:prstGeom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D5EE80B7-BA35-4767-95CC-50D436F8EF23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813619" y="2068914"/>
            <a:ext cx="3935780" cy="2394542"/>
          </a:xfrm>
          <a:prstGeom prst="rect">
            <a:avLst/>
          </a:prstGeom>
        </p:spPr>
      </p:pic>
      <p:sp>
        <p:nvSpPr>
          <p:cNvPr id="58" name="ZoneTexte 57">
            <a:extLst>
              <a:ext uri="{FF2B5EF4-FFF2-40B4-BE49-F238E27FC236}">
                <a16:creationId xmlns:a16="http://schemas.microsoft.com/office/drawing/2014/main" id="{44255A31-895A-4889-8E5E-43FD7C4B6F4D}"/>
              </a:ext>
            </a:extLst>
          </p:cNvPr>
          <p:cNvSpPr txBox="1"/>
          <p:nvPr/>
        </p:nvSpPr>
        <p:spPr>
          <a:xfrm>
            <a:off x="6364329" y="1725929"/>
            <a:ext cx="39357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Création du modèle LSTM </a:t>
            </a:r>
          </a:p>
        </p:txBody>
      </p:sp>
      <p:sp>
        <p:nvSpPr>
          <p:cNvPr id="59" name="Rectangle à coins arrondis 45">
            <a:extLst>
              <a:ext uri="{FF2B5EF4-FFF2-40B4-BE49-F238E27FC236}">
                <a16:creationId xmlns:a16="http://schemas.microsoft.com/office/drawing/2014/main" id="{76202910-FADC-43E0-A728-42CA916E37B2}"/>
              </a:ext>
            </a:extLst>
          </p:cNvPr>
          <p:cNvSpPr/>
          <p:nvPr/>
        </p:nvSpPr>
        <p:spPr>
          <a:xfrm>
            <a:off x="5813619" y="2293008"/>
            <a:ext cx="2277240" cy="1391920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12EA3243-33D1-400F-A9C2-EDD2033351A9}"/>
              </a:ext>
            </a:extLst>
          </p:cNvPr>
          <p:cNvCxnSpPr>
            <a:cxnSpLocks/>
          </p:cNvCxnSpPr>
          <p:nvPr/>
        </p:nvCxnSpPr>
        <p:spPr>
          <a:xfrm flipH="1">
            <a:off x="8124568" y="2858194"/>
            <a:ext cx="4153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>
            <a:extLst>
              <a:ext uri="{FF2B5EF4-FFF2-40B4-BE49-F238E27FC236}">
                <a16:creationId xmlns:a16="http://schemas.microsoft.com/office/drawing/2014/main" id="{FD303FAA-1EC7-4ED4-BFDF-DAC75A0E2EAF}"/>
              </a:ext>
            </a:extLst>
          </p:cNvPr>
          <p:cNvSpPr txBox="1"/>
          <p:nvPr/>
        </p:nvSpPr>
        <p:spPr>
          <a:xfrm>
            <a:off x="8469863" y="2627361"/>
            <a:ext cx="13905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Les couches du modèle</a:t>
            </a:r>
          </a:p>
        </p:txBody>
      </p:sp>
      <p:pic>
        <p:nvPicPr>
          <p:cNvPr id="62" name="Picture 131">
            <a:extLst>
              <a:ext uri="{FF2B5EF4-FFF2-40B4-BE49-F238E27FC236}">
                <a16:creationId xmlns:a16="http://schemas.microsoft.com/office/drawing/2014/main" id="{3B1D2722-E9FB-4697-8105-F131441C4ECC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452" y="5205411"/>
            <a:ext cx="4999715" cy="1202055"/>
          </a:xfrm>
          <a:prstGeom prst="rect">
            <a:avLst/>
          </a:prstGeom>
        </p:spPr>
      </p:pic>
      <p:sp>
        <p:nvSpPr>
          <p:cNvPr id="19" name="Flèche : bas 18">
            <a:extLst>
              <a:ext uri="{FF2B5EF4-FFF2-40B4-BE49-F238E27FC236}">
                <a16:creationId xmlns:a16="http://schemas.microsoft.com/office/drawing/2014/main" id="{60D1987C-52FD-4CFA-BB0D-840266285A5F}"/>
              </a:ext>
            </a:extLst>
          </p:cNvPr>
          <p:cNvSpPr/>
          <p:nvPr/>
        </p:nvSpPr>
        <p:spPr>
          <a:xfrm>
            <a:off x="8678100" y="4498665"/>
            <a:ext cx="215530" cy="695766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8706BE7-3563-4DAD-AA19-C64F809A7B4F}"/>
              </a:ext>
            </a:extLst>
          </p:cNvPr>
          <p:cNvSpPr txBox="1"/>
          <p:nvPr/>
        </p:nvSpPr>
        <p:spPr>
          <a:xfrm>
            <a:off x="4957851" y="4591110"/>
            <a:ext cx="3935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Charger le modèle et afficher les valeurs prévues pour les 15 prochaines minutes </a:t>
            </a:r>
          </a:p>
        </p:txBody>
      </p:sp>
      <p:sp>
        <p:nvSpPr>
          <p:cNvPr id="27" name="Espace réservé du numéro de diapositive 1">
            <a:extLst>
              <a:ext uri="{FF2B5EF4-FFF2-40B4-BE49-F238E27FC236}">
                <a16:creationId xmlns:a16="http://schemas.microsoft.com/office/drawing/2014/main" id="{D6EE6BAF-8A09-4D73-A077-59CFC06AA2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3271219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58" grpId="0"/>
      <p:bldP spid="59" grpId="0" animBg="1"/>
      <p:bldP spid="13" grpId="0"/>
      <p:bldP spid="19" grpId="0" animBg="1"/>
      <p:bldP spid="2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452;p27"/>
          <p:cNvSpPr txBox="1"/>
          <p:nvPr/>
        </p:nvSpPr>
        <p:spPr>
          <a:xfrm>
            <a:off x="296435" y="1330039"/>
            <a:ext cx="705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 algn="l" rtl="0">
              <a:spcBef>
                <a:spcPts val="0"/>
              </a:spcBef>
              <a:spcAft>
                <a:spcPts val="0"/>
              </a:spcAft>
              <a:buClr>
                <a:srgbClr val="ED8945"/>
              </a:buClr>
              <a:buSzPts val="2000"/>
            </a:pPr>
            <a:endParaRPr sz="2000" b="1" dirty="0">
              <a:solidFill>
                <a:srgbClr val="1AAFE4"/>
              </a:solidFill>
            </a:endParaRPr>
          </a:p>
        </p:txBody>
      </p:sp>
      <p:grpSp>
        <p:nvGrpSpPr>
          <p:cNvPr id="53" name="Google Shape;248;p19"/>
          <p:cNvGrpSpPr/>
          <p:nvPr/>
        </p:nvGrpSpPr>
        <p:grpSpPr>
          <a:xfrm>
            <a:off x="68379" y="252723"/>
            <a:ext cx="10365904" cy="650938"/>
            <a:chOff x="-43152" y="-19950"/>
            <a:chExt cx="10076703" cy="650938"/>
          </a:xfrm>
        </p:grpSpPr>
        <p:sp>
          <p:nvSpPr>
            <p:cNvPr id="54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5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6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7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8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9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0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61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2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63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7A7D719-E59C-4FFC-8962-86AE8E541282}"/>
              </a:ext>
            </a:extLst>
          </p:cNvPr>
          <p:cNvSpPr txBox="1"/>
          <p:nvPr/>
        </p:nvSpPr>
        <p:spPr>
          <a:xfrm>
            <a:off x="400391" y="1154915"/>
            <a:ext cx="42563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Pilotage de l’irrigation </a:t>
            </a:r>
          </a:p>
        </p:txBody>
      </p:sp>
      <p:pic>
        <p:nvPicPr>
          <p:cNvPr id="28" name="Google Shape;337;p23">
            <a:extLst>
              <a:ext uri="{FF2B5EF4-FFF2-40B4-BE49-F238E27FC236}">
                <a16:creationId xmlns:a16="http://schemas.microsoft.com/office/drawing/2014/main" id="{55E49D0E-699B-4381-B956-461238FA339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66987" y="2206048"/>
            <a:ext cx="1432800" cy="1432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Flèche : droite 32">
            <a:extLst>
              <a:ext uri="{FF2B5EF4-FFF2-40B4-BE49-F238E27FC236}">
                <a16:creationId xmlns:a16="http://schemas.microsoft.com/office/drawing/2014/main" id="{6765CF50-73F5-4E6A-8D5D-1DFBABA80BB1}"/>
              </a:ext>
            </a:extLst>
          </p:cNvPr>
          <p:cNvSpPr/>
          <p:nvPr/>
        </p:nvSpPr>
        <p:spPr>
          <a:xfrm>
            <a:off x="1895850" y="3026428"/>
            <a:ext cx="1758553" cy="232833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4DF6644-9311-4E2F-AFB9-299D5136249F}"/>
              </a:ext>
            </a:extLst>
          </p:cNvPr>
          <p:cNvSpPr txBox="1"/>
          <p:nvPr/>
        </p:nvSpPr>
        <p:spPr>
          <a:xfrm>
            <a:off x="1595618" y="2658385"/>
            <a:ext cx="2501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Déclencher l’irrigation via</a:t>
            </a:r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0AE9146D-8409-4549-BF2B-87B77280088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032836" y="2424170"/>
            <a:ext cx="1214688" cy="1109738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7AFE52F-D2CA-43DA-86D2-8F93E21F0196}"/>
              </a:ext>
            </a:extLst>
          </p:cNvPr>
          <p:cNvSpPr txBox="1"/>
          <p:nvPr/>
        </p:nvSpPr>
        <p:spPr>
          <a:xfrm>
            <a:off x="810574" y="2009443"/>
            <a:ext cx="13066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Client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FB7E42-DDDD-46B2-9AD4-DEA3EA5DB554}"/>
              </a:ext>
            </a:extLst>
          </p:cNvPr>
          <p:cNvSpPr txBox="1"/>
          <p:nvPr/>
        </p:nvSpPr>
        <p:spPr>
          <a:xfrm>
            <a:off x="4097544" y="2088675"/>
            <a:ext cx="12146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Plateforme</a:t>
            </a:r>
          </a:p>
        </p:txBody>
      </p:sp>
      <p:sp>
        <p:nvSpPr>
          <p:cNvPr id="41" name="Flèche : droite 40">
            <a:extLst>
              <a:ext uri="{FF2B5EF4-FFF2-40B4-BE49-F238E27FC236}">
                <a16:creationId xmlns:a16="http://schemas.microsoft.com/office/drawing/2014/main" id="{EE195C04-38A2-494E-9929-28EB9B069DF7}"/>
              </a:ext>
            </a:extLst>
          </p:cNvPr>
          <p:cNvSpPr/>
          <p:nvPr/>
        </p:nvSpPr>
        <p:spPr>
          <a:xfrm>
            <a:off x="5342531" y="3026428"/>
            <a:ext cx="1758553" cy="232833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E58A1F8-7E7C-4982-8209-D5E850AC798A}"/>
              </a:ext>
            </a:extLst>
          </p:cNvPr>
          <p:cNvSpPr txBox="1"/>
          <p:nvPr/>
        </p:nvSpPr>
        <p:spPr>
          <a:xfrm>
            <a:off x="5205106" y="2455819"/>
            <a:ext cx="25383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Envoyer la commande de l’irrigation </a:t>
            </a:r>
          </a:p>
        </p:txBody>
      </p:sp>
      <p:pic>
        <p:nvPicPr>
          <p:cNvPr id="43" name="Image 42">
            <a:extLst>
              <a:ext uri="{FF2B5EF4-FFF2-40B4-BE49-F238E27FC236}">
                <a16:creationId xmlns:a16="http://schemas.microsoft.com/office/drawing/2014/main" id="{DAA64ABD-9C43-400F-81DF-82253344A7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7015" y="2499316"/>
            <a:ext cx="1070011" cy="11951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18BB26B3-E015-441B-8CF7-0FEB97512F64}"/>
              </a:ext>
            </a:extLst>
          </p:cNvPr>
          <p:cNvSpPr txBox="1"/>
          <p:nvPr/>
        </p:nvSpPr>
        <p:spPr>
          <a:xfrm>
            <a:off x="7447015" y="2104125"/>
            <a:ext cx="16157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Broker MQTT</a:t>
            </a:r>
          </a:p>
        </p:txBody>
      </p:sp>
      <p:pic>
        <p:nvPicPr>
          <p:cNvPr id="44" name="Image 43">
            <a:extLst>
              <a:ext uri="{FF2B5EF4-FFF2-40B4-BE49-F238E27FC236}">
                <a16:creationId xmlns:a16="http://schemas.microsoft.com/office/drawing/2014/main" id="{4228DEBF-887C-4C61-AC82-7CF3956576E4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1183" y="2585133"/>
            <a:ext cx="3233830" cy="1290181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Rectangle à coins arrondis 45">
            <a:extLst>
              <a:ext uri="{FF2B5EF4-FFF2-40B4-BE49-F238E27FC236}">
                <a16:creationId xmlns:a16="http://schemas.microsoft.com/office/drawing/2014/main" id="{9750D357-4D2A-429A-A522-4AC0722B3BDD}"/>
              </a:ext>
            </a:extLst>
          </p:cNvPr>
          <p:cNvSpPr/>
          <p:nvPr/>
        </p:nvSpPr>
        <p:spPr>
          <a:xfrm>
            <a:off x="8409711" y="2538845"/>
            <a:ext cx="3001784" cy="173077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34B29482-DA87-44F2-8CA8-9032264DAE55}"/>
              </a:ext>
            </a:extLst>
          </p:cNvPr>
          <p:cNvCxnSpPr>
            <a:cxnSpLocks/>
          </p:cNvCxnSpPr>
          <p:nvPr/>
        </p:nvCxnSpPr>
        <p:spPr>
          <a:xfrm flipH="1" flipV="1">
            <a:off x="11092602" y="2761800"/>
            <a:ext cx="87027" cy="175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9D8AEC08-1D03-4074-9E28-14036CF088B7}"/>
              </a:ext>
            </a:extLst>
          </p:cNvPr>
          <p:cNvSpPr txBox="1"/>
          <p:nvPr/>
        </p:nvSpPr>
        <p:spPr>
          <a:xfrm>
            <a:off x="10833717" y="2922448"/>
            <a:ext cx="1077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Mode d’irrigation</a:t>
            </a:r>
          </a:p>
        </p:txBody>
      </p:sp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2D32A724-E3D2-4C04-915E-1736517C97E3}"/>
              </a:ext>
            </a:extLst>
          </p:cNvPr>
          <p:cNvSpPr/>
          <p:nvPr/>
        </p:nvSpPr>
        <p:spPr>
          <a:xfrm>
            <a:off x="7982020" y="3875313"/>
            <a:ext cx="322773" cy="918559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3C76C40F-942C-4CF3-B2D7-09A9E35A0AA5}"/>
              </a:ext>
            </a:extLst>
          </p:cNvPr>
          <p:cNvSpPr txBox="1"/>
          <p:nvPr/>
        </p:nvSpPr>
        <p:spPr>
          <a:xfrm>
            <a:off x="6717735" y="4811750"/>
            <a:ext cx="2639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Activer et désactiver la pompe à eau du pot</a:t>
            </a:r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25D9691F-AFBE-4D16-A51E-87DB6E2EE5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0551" y="5246923"/>
            <a:ext cx="1085296" cy="817272"/>
          </a:xfrm>
          <a:prstGeom prst="rect">
            <a:avLst/>
          </a:prstGeom>
        </p:spPr>
      </p:pic>
      <p:sp>
        <p:nvSpPr>
          <p:cNvPr id="34" name="Espace réservé du numéro de diapositive 1">
            <a:extLst>
              <a:ext uri="{FF2B5EF4-FFF2-40B4-BE49-F238E27FC236}">
                <a16:creationId xmlns:a16="http://schemas.microsoft.com/office/drawing/2014/main" id="{AF765611-BD13-4E34-919A-E7E1B2B528F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123952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4" grpId="0"/>
      <p:bldP spid="7" grpId="0"/>
      <p:bldP spid="8" grpId="0"/>
      <p:bldP spid="41" grpId="0" animBg="1"/>
      <p:bldP spid="9" grpId="0"/>
      <p:bldP spid="10" grpId="0"/>
      <p:bldP spid="45" grpId="0" animBg="1"/>
      <p:bldP spid="12" grpId="0"/>
      <p:bldP spid="13" grpId="0" animBg="1"/>
      <p:bldP spid="1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452;p27"/>
          <p:cNvSpPr txBox="1"/>
          <p:nvPr/>
        </p:nvSpPr>
        <p:spPr>
          <a:xfrm>
            <a:off x="374132" y="1086871"/>
            <a:ext cx="879099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>
              <a:buClr>
                <a:srgbClr val="ED8945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Architecture logique de l’application </a:t>
            </a:r>
            <a:endParaRPr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79" name="Google Shape;248;p19"/>
          <p:cNvGrpSpPr/>
          <p:nvPr/>
        </p:nvGrpSpPr>
        <p:grpSpPr>
          <a:xfrm>
            <a:off x="68379" y="265547"/>
            <a:ext cx="10365904" cy="650938"/>
            <a:chOff x="-43152" y="-19950"/>
            <a:chExt cx="10076703" cy="650938"/>
          </a:xfrm>
        </p:grpSpPr>
        <p:sp>
          <p:nvSpPr>
            <p:cNvPr id="80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1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2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3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4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5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6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7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8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89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4B6104D-9CA1-4AF8-8F14-85392EE54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0543" y="1795957"/>
            <a:ext cx="6486525" cy="4200525"/>
          </a:xfrm>
          <a:prstGeom prst="rect">
            <a:avLst/>
          </a:prstGeom>
        </p:spPr>
      </p:pic>
      <p:sp>
        <p:nvSpPr>
          <p:cNvPr id="16" name="Espace réservé du numéro de diapositive 1">
            <a:extLst>
              <a:ext uri="{FF2B5EF4-FFF2-40B4-BE49-F238E27FC236}">
                <a16:creationId xmlns:a16="http://schemas.microsoft.com/office/drawing/2014/main" id="{721F0330-3A3C-496A-ABD5-9B635928191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872035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452;p27"/>
          <p:cNvSpPr txBox="1"/>
          <p:nvPr/>
        </p:nvSpPr>
        <p:spPr>
          <a:xfrm>
            <a:off x="271588" y="1183273"/>
            <a:ext cx="705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>
              <a:buClr>
                <a:srgbClr val="ED8945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Environnement logiciel  </a:t>
            </a:r>
          </a:p>
        </p:txBody>
      </p:sp>
      <p:grpSp>
        <p:nvGrpSpPr>
          <p:cNvPr id="51" name="Google Shape;248;p19"/>
          <p:cNvGrpSpPr/>
          <p:nvPr/>
        </p:nvGrpSpPr>
        <p:grpSpPr>
          <a:xfrm>
            <a:off x="84480" y="275587"/>
            <a:ext cx="10365904" cy="650938"/>
            <a:chOff x="-43152" y="-19950"/>
            <a:chExt cx="10076703" cy="650938"/>
          </a:xfrm>
        </p:grpSpPr>
        <p:sp>
          <p:nvSpPr>
            <p:cNvPr id="52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3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4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6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7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8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9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0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61" name="object 5"/>
          <p:cNvSpPr/>
          <p:nvPr/>
        </p:nvSpPr>
        <p:spPr>
          <a:xfrm>
            <a:off x="78107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9AC7777-D14C-44B6-960A-05F317795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135" y="3258644"/>
            <a:ext cx="1236410" cy="89159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9D5E6BC-56F1-499A-A32E-18A478C5C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1568" y="3329484"/>
            <a:ext cx="839661" cy="83966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4ED3E4B-047C-4EC7-BE15-4C613344B2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0384" y="3323754"/>
            <a:ext cx="851120" cy="851120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9937C43E-4719-4FA2-AE25-E15169671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5906" y="3494684"/>
            <a:ext cx="2105319" cy="49536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4C9CA703-D305-4568-A9FA-B48ED040D2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1452" y="3348390"/>
            <a:ext cx="1121229" cy="801848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31931E34-E080-4D2B-A38D-C956CB9BEACE}"/>
              </a:ext>
            </a:extLst>
          </p:cNvPr>
          <p:cNvSpPr txBox="1"/>
          <p:nvPr/>
        </p:nvSpPr>
        <p:spPr>
          <a:xfrm>
            <a:off x="1112502" y="4344885"/>
            <a:ext cx="1905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1"/>
                </a:solidFill>
              </a:rPr>
              <a:t>Visual Studio Code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B1D583E7-0264-462F-B175-7EC56C79F5B2}"/>
              </a:ext>
            </a:extLst>
          </p:cNvPr>
          <p:cNvSpPr txBox="1"/>
          <p:nvPr/>
        </p:nvSpPr>
        <p:spPr>
          <a:xfrm>
            <a:off x="3535567" y="4344887"/>
            <a:ext cx="18113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6"/>
                </a:solidFill>
              </a:rPr>
              <a:t>Node.js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F91DF59-35D3-4293-9D20-0303851056C8}"/>
              </a:ext>
            </a:extLst>
          </p:cNvPr>
          <p:cNvSpPr txBox="1"/>
          <p:nvPr/>
        </p:nvSpPr>
        <p:spPr>
          <a:xfrm>
            <a:off x="5252418" y="4344886"/>
            <a:ext cx="1565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Express.js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3B21C9-CC73-490E-85B7-8339E203A643}"/>
              </a:ext>
            </a:extLst>
          </p:cNvPr>
          <p:cNvSpPr txBox="1"/>
          <p:nvPr/>
        </p:nvSpPr>
        <p:spPr>
          <a:xfrm>
            <a:off x="7327596" y="4332739"/>
            <a:ext cx="23872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6">
                    <a:lumMod val="75000"/>
                  </a:schemeClr>
                </a:solidFill>
              </a:rPr>
              <a:t>MongoDB Atlas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8D8D72C6-CFE3-40A4-A5DE-2E75CEDDF62F}"/>
              </a:ext>
            </a:extLst>
          </p:cNvPr>
          <p:cNvSpPr txBox="1"/>
          <p:nvPr/>
        </p:nvSpPr>
        <p:spPr>
          <a:xfrm>
            <a:off x="10159678" y="4344885"/>
            <a:ext cx="17133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accent6"/>
                </a:solidFill>
              </a:rPr>
              <a:t>PlantNet</a:t>
            </a:r>
            <a:r>
              <a:rPr lang="fr-FR" b="1" dirty="0">
                <a:solidFill>
                  <a:schemeClr val="accent6"/>
                </a:solidFill>
              </a:rPr>
              <a:t> API</a:t>
            </a:r>
          </a:p>
        </p:txBody>
      </p:sp>
      <p:sp>
        <p:nvSpPr>
          <p:cNvPr id="25" name="Espace réservé du numéro de diapositive 1">
            <a:extLst>
              <a:ext uri="{FF2B5EF4-FFF2-40B4-BE49-F238E27FC236}">
                <a16:creationId xmlns:a16="http://schemas.microsoft.com/office/drawing/2014/main" id="{0F4BBA14-ABCE-4ADA-BDA0-CB8CCD9685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3803163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  <p:bldP spid="24" grpId="0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oogle Shape;248;p19"/>
          <p:cNvGrpSpPr/>
          <p:nvPr/>
        </p:nvGrpSpPr>
        <p:grpSpPr>
          <a:xfrm>
            <a:off x="94328" y="269603"/>
            <a:ext cx="10365904" cy="650938"/>
            <a:chOff x="-43152" y="-19950"/>
            <a:chExt cx="10076703" cy="650938"/>
          </a:xfrm>
        </p:grpSpPr>
        <p:sp>
          <p:nvSpPr>
            <p:cNvPr id="16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7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8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5" name="object 5"/>
          <p:cNvSpPr/>
          <p:nvPr/>
        </p:nvSpPr>
        <p:spPr>
          <a:xfrm>
            <a:off x="6825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0761189-7EB6-4D4F-8294-1E281EDF2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521" y="1538023"/>
            <a:ext cx="8368842" cy="4375097"/>
          </a:xfrm>
          <a:prstGeom prst="rect">
            <a:avLst/>
          </a:prstGeom>
        </p:spPr>
      </p:pic>
      <p:sp>
        <p:nvSpPr>
          <p:cNvPr id="26" name="Espace réservé du numéro de diapositive 1">
            <a:extLst>
              <a:ext uri="{FF2B5EF4-FFF2-40B4-BE49-F238E27FC236}">
                <a16:creationId xmlns:a16="http://schemas.microsoft.com/office/drawing/2014/main" id="{52479CAE-88BA-411C-B714-7E853BA615E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3311892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2"/>
          <p:cNvSpPr/>
          <p:nvPr/>
        </p:nvSpPr>
        <p:spPr>
          <a:xfrm>
            <a:off x="1909996" y="2725841"/>
            <a:ext cx="1019056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endParaRPr sz="1867"/>
          </a:p>
        </p:txBody>
      </p:sp>
      <p:sp>
        <p:nvSpPr>
          <p:cNvPr id="10" name="object 5"/>
          <p:cNvSpPr/>
          <p:nvPr/>
        </p:nvSpPr>
        <p:spPr>
          <a:xfrm>
            <a:off x="143933" y="111758"/>
            <a:ext cx="11956628" cy="6664961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endParaRPr sz="1867"/>
          </a:p>
        </p:txBody>
      </p:sp>
      <p:sp>
        <p:nvSpPr>
          <p:cNvPr id="13" name="object 3"/>
          <p:cNvSpPr txBox="1">
            <a:spLocks noGrp="1"/>
          </p:cNvSpPr>
          <p:nvPr>
            <p:ph type="title"/>
          </p:nvPr>
        </p:nvSpPr>
        <p:spPr>
          <a:xfrm>
            <a:off x="3456020" y="3077910"/>
            <a:ext cx="5616860" cy="87887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ts val="2500"/>
            </a:pPr>
            <a:r>
              <a:rPr lang="fr-FR" sz="2800" b="1" dirty="0">
                <a:solidFill>
                  <a:schemeClr val="bg1"/>
                </a:solidFill>
                <a:latin typeface="+mj-lt"/>
              </a:rPr>
              <a:t>Conclusion et perspectives</a:t>
            </a:r>
            <a:br>
              <a:rPr lang="fr-FR" sz="2800" b="1" dirty="0">
                <a:solidFill>
                  <a:schemeClr val="bg1"/>
                </a:solidFill>
                <a:latin typeface="+mj-lt"/>
              </a:rPr>
            </a:br>
            <a:endParaRPr lang="fr-FR" sz="28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8" name="Espace réservé du numéro de diapositive 1">
            <a:extLst>
              <a:ext uri="{FF2B5EF4-FFF2-40B4-BE49-F238E27FC236}">
                <a16:creationId xmlns:a16="http://schemas.microsoft.com/office/drawing/2014/main" id="{A54A2BA7-3C50-424A-A17F-7CF3F331BE1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6765" y="6300893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931611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248;p19">
            <a:extLst>
              <a:ext uri="{FF2B5EF4-FFF2-40B4-BE49-F238E27FC236}">
                <a16:creationId xmlns:a16="http://schemas.microsoft.com/office/drawing/2014/main" id="{452799EA-4F12-4204-A528-ADCCECE75E9D}"/>
              </a:ext>
            </a:extLst>
          </p:cNvPr>
          <p:cNvGrpSpPr/>
          <p:nvPr/>
        </p:nvGrpSpPr>
        <p:grpSpPr>
          <a:xfrm>
            <a:off x="56826" y="189398"/>
            <a:ext cx="10365904" cy="611302"/>
            <a:chOff x="-43152" y="-19950"/>
            <a:chExt cx="10076703" cy="611302"/>
          </a:xfrm>
        </p:grpSpPr>
        <p:sp>
          <p:nvSpPr>
            <p:cNvPr id="7" name="Google Shape;250;p19">
              <a:extLst>
                <a:ext uri="{FF2B5EF4-FFF2-40B4-BE49-F238E27FC236}">
                  <a16:creationId xmlns:a16="http://schemas.microsoft.com/office/drawing/2014/main" id="{E66544FF-5305-4B73-B03B-7F2B6580B004}"/>
                </a:ext>
              </a:extLst>
            </p:cNvPr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" name="Google Shape;251;p19">
              <a:extLst>
                <a:ext uri="{FF2B5EF4-FFF2-40B4-BE49-F238E27FC236}">
                  <a16:creationId xmlns:a16="http://schemas.microsoft.com/office/drawing/2014/main" id="{10E2278C-BFBC-4DF7-BEA3-0192A7F0F8C9}"/>
                </a:ext>
              </a:extLst>
            </p:cNvPr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9" name="Google Shape;252;p19">
              <a:extLst>
                <a:ext uri="{FF2B5EF4-FFF2-40B4-BE49-F238E27FC236}">
                  <a16:creationId xmlns:a16="http://schemas.microsoft.com/office/drawing/2014/main" id="{8F4EA61C-1F5E-4098-A2C2-F4ABAB97685C}"/>
                </a:ext>
              </a:extLst>
            </p:cNvPr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" name="Google Shape;253;p19">
              <a:extLst>
                <a:ext uri="{FF2B5EF4-FFF2-40B4-BE49-F238E27FC236}">
                  <a16:creationId xmlns:a16="http://schemas.microsoft.com/office/drawing/2014/main" id="{B5F7B5BF-D808-4905-AE13-0E594A085D8F}"/>
                </a:ext>
              </a:extLst>
            </p:cNvPr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" name="Google Shape;254;p19">
              <a:extLst>
                <a:ext uri="{FF2B5EF4-FFF2-40B4-BE49-F238E27FC236}">
                  <a16:creationId xmlns:a16="http://schemas.microsoft.com/office/drawing/2014/main" id="{4E2DA940-12B5-4623-94BC-AB09B06136AC}"/>
                </a:ext>
              </a:extLst>
            </p:cNvPr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2" name="Google Shape;255;p19">
              <a:extLst>
                <a:ext uri="{FF2B5EF4-FFF2-40B4-BE49-F238E27FC236}">
                  <a16:creationId xmlns:a16="http://schemas.microsoft.com/office/drawing/2014/main" id="{38A6881C-E9FD-4D69-A637-A133E2B2159B}"/>
                </a:ext>
              </a:extLst>
            </p:cNvPr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3" name="Google Shape;256;p19">
              <a:extLst>
                <a:ext uri="{FF2B5EF4-FFF2-40B4-BE49-F238E27FC236}">
                  <a16:creationId xmlns:a16="http://schemas.microsoft.com/office/drawing/2014/main" id="{8A4EF790-7FD7-405F-831D-CBF692EACADD}"/>
                </a:ext>
              </a:extLst>
            </p:cNvPr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4" name="Google Shape;257;p19">
              <a:extLst>
                <a:ext uri="{FF2B5EF4-FFF2-40B4-BE49-F238E27FC236}">
                  <a16:creationId xmlns:a16="http://schemas.microsoft.com/office/drawing/2014/main" id="{DA4B9F81-FED1-4B5B-B1AF-9395A32FDD7C}"/>
                </a:ext>
              </a:extLst>
            </p:cNvPr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5" name="Google Shape;258;p19">
              <a:extLst>
                <a:ext uri="{FF2B5EF4-FFF2-40B4-BE49-F238E27FC236}">
                  <a16:creationId xmlns:a16="http://schemas.microsoft.com/office/drawing/2014/main" id="{4959E611-C3E5-4A7D-84F4-55218F5B28A3}"/>
                </a:ext>
              </a:extLst>
            </p:cNvPr>
            <p:cNvSpPr txBox="1"/>
            <p:nvPr/>
          </p:nvSpPr>
          <p:spPr>
            <a:xfrm>
              <a:off x="7818386" y="6652"/>
              <a:ext cx="19110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18" name="object 5">
            <a:extLst>
              <a:ext uri="{FF2B5EF4-FFF2-40B4-BE49-F238E27FC236}">
                <a16:creationId xmlns:a16="http://schemas.microsoft.com/office/drawing/2014/main" id="{0B81F4C6-B6F5-49E2-9FB0-58B74614532F}"/>
              </a:ext>
            </a:extLst>
          </p:cNvPr>
          <p:cNvSpPr/>
          <p:nvPr/>
        </p:nvSpPr>
        <p:spPr>
          <a:xfrm>
            <a:off x="81293" y="91268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9" name="Google Shape;794;p42">
            <a:extLst>
              <a:ext uri="{FF2B5EF4-FFF2-40B4-BE49-F238E27FC236}">
                <a16:creationId xmlns:a16="http://schemas.microsoft.com/office/drawing/2014/main" id="{7DE607E3-0317-45BB-8A55-232879D33D91}"/>
              </a:ext>
            </a:extLst>
          </p:cNvPr>
          <p:cNvSpPr txBox="1"/>
          <p:nvPr/>
        </p:nvSpPr>
        <p:spPr>
          <a:xfrm>
            <a:off x="-39459" y="1044260"/>
            <a:ext cx="242258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558800" marR="0" lvl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Conclusion</a:t>
            </a:r>
            <a:endParaRPr sz="2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340249CE-CFE6-4E22-8E1E-0EE27C0C024C}"/>
              </a:ext>
            </a:extLst>
          </p:cNvPr>
          <p:cNvGrpSpPr/>
          <p:nvPr/>
        </p:nvGrpSpPr>
        <p:grpSpPr>
          <a:xfrm>
            <a:off x="1340484" y="1925528"/>
            <a:ext cx="5749047" cy="2602920"/>
            <a:chOff x="1264596" y="1282057"/>
            <a:chExt cx="5749047" cy="2602920"/>
          </a:xfrm>
        </p:grpSpPr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2E13DA57-5839-4633-B3F0-3EB4A6B85743}"/>
                </a:ext>
              </a:extLst>
            </p:cNvPr>
            <p:cNvSpPr/>
            <p:nvPr/>
          </p:nvSpPr>
          <p:spPr>
            <a:xfrm>
              <a:off x="5389235" y="2664113"/>
              <a:ext cx="1624408" cy="1220864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2" name="Graphique 21" descr="Programmatrice avec un remplissage uni">
              <a:extLst>
                <a:ext uri="{FF2B5EF4-FFF2-40B4-BE49-F238E27FC236}">
                  <a16:creationId xmlns:a16="http://schemas.microsoft.com/office/drawing/2014/main" id="{CA1AC651-9D9F-4ACE-9BB2-404E37A8A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44239" y="2859021"/>
              <a:ext cx="914400" cy="677622"/>
            </a:xfrm>
            <a:prstGeom prst="rect">
              <a:avLst/>
            </a:prstGeom>
          </p:spPr>
        </p:pic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208B0EBF-EB17-4CFC-B133-5185943D2C0A}"/>
                </a:ext>
              </a:extLst>
            </p:cNvPr>
            <p:cNvCxnSpPr/>
            <p:nvPr/>
          </p:nvCxnSpPr>
          <p:spPr>
            <a:xfrm>
              <a:off x="6201439" y="1789889"/>
              <a:ext cx="2511" cy="98249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081CDE4B-C827-48B0-86DE-4BB0F2735FB5}"/>
                </a:ext>
              </a:extLst>
            </p:cNvPr>
            <p:cNvCxnSpPr>
              <a:cxnSpLocks/>
            </p:cNvCxnSpPr>
            <p:nvPr/>
          </p:nvCxnSpPr>
          <p:spPr>
            <a:xfrm>
              <a:off x="4990289" y="1789889"/>
              <a:ext cx="121366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CDF1D19D-3513-43C9-B1E7-B9F5D3ADBF83}"/>
                </a:ext>
              </a:extLst>
            </p:cNvPr>
            <p:cNvSpPr txBox="1"/>
            <p:nvPr/>
          </p:nvSpPr>
          <p:spPr>
            <a:xfrm>
              <a:off x="1264596" y="1282057"/>
              <a:ext cx="3725693" cy="92333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Réalisation et développement d’une plateforme de gestion et de suivi des plantes. </a:t>
              </a: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5C59BF56-B983-43FF-B812-DCD88D30532E}"/>
              </a:ext>
            </a:extLst>
          </p:cNvPr>
          <p:cNvGrpSpPr/>
          <p:nvPr/>
        </p:nvGrpSpPr>
        <p:grpSpPr>
          <a:xfrm>
            <a:off x="8046155" y="2154895"/>
            <a:ext cx="2699420" cy="2329974"/>
            <a:chOff x="8693787" y="1634047"/>
            <a:chExt cx="2699420" cy="2329974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4C8DB014-C372-4E14-9771-ED2EEC81350E}"/>
                </a:ext>
              </a:extLst>
            </p:cNvPr>
            <p:cNvSpPr/>
            <p:nvPr/>
          </p:nvSpPr>
          <p:spPr>
            <a:xfrm>
              <a:off x="9253185" y="1634047"/>
              <a:ext cx="1389929" cy="107024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9" name="Graphique 28" descr="Employée de bureau avec un remplissage uni">
              <a:extLst>
                <a:ext uri="{FF2B5EF4-FFF2-40B4-BE49-F238E27FC236}">
                  <a16:creationId xmlns:a16="http://schemas.microsoft.com/office/drawing/2014/main" id="{31C6F1B7-120F-4375-8E61-A87285745B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472443" y="1789887"/>
              <a:ext cx="914400" cy="682835"/>
            </a:xfrm>
            <a:prstGeom prst="rect">
              <a:avLst/>
            </a:prstGeom>
          </p:spPr>
        </p:pic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BFDACB7E-070F-4D44-9F0A-F8291600E69B}"/>
                </a:ext>
              </a:extLst>
            </p:cNvPr>
            <p:cNvCxnSpPr>
              <a:cxnSpLocks/>
              <a:stCxn id="28" idx="4"/>
            </p:cNvCxnSpPr>
            <p:nvPr/>
          </p:nvCxnSpPr>
          <p:spPr>
            <a:xfrm flipH="1">
              <a:off x="9929643" y="2704289"/>
              <a:ext cx="18507" cy="639294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11E82938-DA2E-4784-9FDB-B55488729123}"/>
                </a:ext>
              </a:extLst>
            </p:cNvPr>
            <p:cNvSpPr txBox="1"/>
            <p:nvPr/>
          </p:nvSpPr>
          <p:spPr>
            <a:xfrm>
              <a:off x="8693787" y="3286913"/>
              <a:ext cx="2699420" cy="677108"/>
            </a:xfrm>
            <a:prstGeom prst="rect">
              <a:avLst/>
            </a:prstGeom>
            <a:noFill/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S’intégrer dans le monde professionnel</a:t>
              </a:r>
              <a:r>
                <a:rPr lang="fr-F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F8B6A304-46D3-4CA6-9420-C8DAB3FF6A64}"/>
              </a:ext>
            </a:extLst>
          </p:cNvPr>
          <p:cNvGrpSpPr/>
          <p:nvPr/>
        </p:nvGrpSpPr>
        <p:grpSpPr>
          <a:xfrm>
            <a:off x="1446426" y="3977737"/>
            <a:ext cx="5013331" cy="2156344"/>
            <a:chOff x="2062265" y="3473274"/>
            <a:chExt cx="5013331" cy="2156344"/>
          </a:xfrm>
        </p:grpSpPr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991C8F9-5057-4CE4-9A3B-504586CE1738}"/>
                </a:ext>
              </a:extLst>
            </p:cNvPr>
            <p:cNvSpPr/>
            <p:nvPr/>
          </p:nvSpPr>
          <p:spPr>
            <a:xfrm>
              <a:off x="2062265" y="3473274"/>
              <a:ext cx="1405632" cy="92333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6BF3DB50-03D5-442F-BC92-5A32E193BE9E}"/>
                </a:ext>
              </a:extLst>
            </p:cNvPr>
            <p:cNvCxnSpPr>
              <a:cxnSpLocks/>
            </p:cNvCxnSpPr>
            <p:nvPr/>
          </p:nvCxnSpPr>
          <p:spPr>
            <a:xfrm>
              <a:off x="2637230" y="4335767"/>
              <a:ext cx="44537" cy="742070"/>
            </a:xfrm>
            <a:prstGeom prst="line">
              <a:avLst/>
            </a:prstGeom>
            <a:ln w="190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1982CC16-E53F-4D01-88F5-68C9310A62D0}"/>
                </a:ext>
              </a:extLst>
            </p:cNvPr>
            <p:cNvCxnSpPr>
              <a:cxnSpLocks/>
            </p:cNvCxnSpPr>
            <p:nvPr/>
          </p:nvCxnSpPr>
          <p:spPr>
            <a:xfrm>
              <a:off x="2681766" y="5077837"/>
              <a:ext cx="945117" cy="0"/>
            </a:xfrm>
            <a:prstGeom prst="line">
              <a:avLst/>
            </a:prstGeom>
            <a:ln w="190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CC5C9425-BB2E-4E1B-9887-EC1475588C77}"/>
                </a:ext>
              </a:extLst>
            </p:cNvPr>
            <p:cNvSpPr txBox="1"/>
            <p:nvPr/>
          </p:nvSpPr>
          <p:spPr>
            <a:xfrm>
              <a:off x="3626883" y="4706288"/>
              <a:ext cx="3448713" cy="923330"/>
            </a:xfrm>
            <a:prstGeom prst="rect">
              <a:avLst/>
            </a:prstGeom>
            <a:noFill/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just"/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Bonne occasion pour recueillir des nouvelles technologies et</a:t>
              </a:r>
            </a:p>
            <a:p>
              <a:pPr algn="just"/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d’assimiler les outils acquis.</a:t>
              </a:r>
            </a:p>
          </p:txBody>
        </p:sp>
        <p:pic>
          <p:nvPicPr>
            <p:cNvPr id="37" name="Graphique 36" descr="Conception web avec un remplissage uni">
              <a:extLst>
                <a:ext uri="{FF2B5EF4-FFF2-40B4-BE49-F238E27FC236}">
                  <a16:creationId xmlns:a16="http://schemas.microsoft.com/office/drawing/2014/main" id="{18CB5154-C5AD-4ECE-9E7F-934B31C4B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338421" y="3496569"/>
              <a:ext cx="815903" cy="815903"/>
            </a:xfrm>
            <a:prstGeom prst="rect">
              <a:avLst/>
            </a:prstGeom>
          </p:spPr>
        </p:pic>
      </p:grpSp>
      <p:sp>
        <p:nvSpPr>
          <p:cNvPr id="38" name="Espace réservé du numéro de diapositive 1">
            <a:extLst>
              <a:ext uri="{FF2B5EF4-FFF2-40B4-BE49-F238E27FC236}">
                <a16:creationId xmlns:a16="http://schemas.microsoft.com/office/drawing/2014/main" id="{8EF43FB8-A3C7-4806-9590-554A62D867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561206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42"/>
          <p:cNvSpPr txBox="1"/>
          <p:nvPr/>
        </p:nvSpPr>
        <p:spPr>
          <a:xfrm>
            <a:off x="-124148" y="1062361"/>
            <a:ext cx="242258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5588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Perspectives</a:t>
            </a:r>
            <a:r>
              <a:rPr lang="fr-FR" sz="2000" b="1" i="0" u="none" strike="noStrike" cap="none" dirty="0">
                <a:solidFill>
                  <a:srgbClr val="1AAFE4"/>
                </a:solidFill>
              </a:rPr>
              <a:t> </a:t>
            </a:r>
            <a:endParaRPr sz="2000" b="1" i="0" u="none" strike="noStrike" cap="none" dirty="0">
              <a:solidFill>
                <a:srgbClr val="1AAFE4"/>
              </a:solidFill>
            </a:endParaRPr>
          </a:p>
        </p:txBody>
      </p:sp>
      <p:sp>
        <p:nvSpPr>
          <p:cNvPr id="795" name="Google Shape;795;p42"/>
          <p:cNvSpPr txBox="1"/>
          <p:nvPr/>
        </p:nvSpPr>
        <p:spPr>
          <a:xfrm>
            <a:off x="280858" y="1955666"/>
            <a:ext cx="4827600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>
              <a:buClr>
                <a:schemeClr val="dk1"/>
              </a:buClr>
              <a:buSzPts val="2000"/>
              <a:buChar char="●"/>
            </a:pPr>
            <a:r>
              <a:rPr lang="fr-FR" sz="1800" b="1" dirty="0">
                <a:solidFill>
                  <a:srgbClr val="000000"/>
                </a:solidFill>
                <a:effectLst/>
                <a:latin typeface="+mj-lt"/>
                <a:ea typeface="Calibri" panose="020F0502020204030204" pitchFamily="34" charset="0"/>
              </a:rPr>
              <a:t>Intégrer un système de détection des maladies des plantes pour identifier les anomalies. </a:t>
            </a:r>
            <a:endParaRPr lang="fr-FR" sz="1600" b="1" i="0" u="none" strike="noStrike" cap="none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797" name="Google Shape;797;p42"/>
          <p:cNvSpPr txBox="1"/>
          <p:nvPr/>
        </p:nvSpPr>
        <p:spPr>
          <a:xfrm>
            <a:off x="5871436" y="1946850"/>
            <a:ext cx="6039706" cy="153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indent="-355600">
              <a:buClr>
                <a:schemeClr val="dk1"/>
              </a:buClr>
              <a:buSzPts val="2000"/>
              <a:buFont typeface="Arial"/>
              <a:buChar char="●"/>
            </a:pPr>
            <a:r>
              <a:rPr lang="fr-FR" sz="1800" b="1" dirty="0">
                <a:solidFill>
                  <a:srgbClr val="000000"/>
                </a:solidFill>
                <a:effectLst/>
                <a:latin typeface="+mj-lt"/>
                <a:ea typeface="Calibri" panose="020F0502020204030204" pitchFamily="34" charset="0"/>
              </a:rPr>
              <a:t>Ajouter des paramètres liés à la composition du sol afin d’assurer un suivi plus précis et complet des conditions de croissance des plantes.</a:t>
            </a: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endParaRPr lang="fr-FR" sz="1600" b="1" i="0" u="none" strike="noStrike" cap="none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lang="fr-FR" sz="18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248;p19"/>
          <p:cNvGrpSpPr/>
          <p:nvPr/>
        </p:nvGrpSpPr>
        <p:grpSpPr>
          <a:xfrm>
            <a:off x="68422" y="253292"/>
            <a:ext cx="10365904" cy="611302"/>
            <a:chOff x="-43152" y="-19950"/>
            <a:chExt cx="10076703" cy="611302"/>
          </a:xfrm>
        </p:grpSpPr>
        <p:sp>
          <p:nvSpPr>
            <p:cNvPr id="20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7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8" name="Google Shape;258;p19"/>
            <p:cNvSpPr txBox="1"/>
            <p:nvPr/>
          </p:nvSpPr>
          <p:spPr>
            <a:xfrm>
              <a:off x="7818386" y="6652"/>
              <a:ext cx="19110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29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18" name="Image 17" descr="Une image contenant clipart, Graphique, Dessin animé, illustration&#10;&#10;Description générée automatiquement">
            <a:extLst>
              <a:ext uri="{FF2B5EF4-FFF2-40B4-BE49-F238E27FC236}">
                <a16:creationId xmlns:a16="http://schemas.microsoft.com/office/drawing/2014/main" id="{61967202-72F0-4F04-8DEE-5D69F3C5CD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2012" y="3722251"/>
            <a:ext cx="2042622" cy="19641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0" name="Espace réservé du numéro de diapositive 1">
            <a:extLst>
              <a:ext uri="{FF2B5EF4-FFF2-40B4-BE49-F238E27FC236}">
                <a16:creationId xmlns:a16="http://schemas.microsoft.com/office/drawing/2014/main" id="{ACF76DC0-4DD5-4B96-9068-5FDD694B92B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633200" y="6336030"/>
            <a:ext cx="40132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32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5" grpId="0"/>
      <p:bldP spid="79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43"/>
          <p:cNvSpPr/>
          <p:nvPr/>
        </p:nvSpPr>
        <p:spPr>
          <a:xfrm>
            <a:off x="25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43"/>
          <p:cNvSpPr/>
          <p:nvPr/>
        </p:nvSpPr>
        <p:spPr>
          <a:xfrm>
            <a:off x="1804976" y="1501047"/>
            <a:ext cx="8582100" cy="217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600"/>
              <a:buFont typeface="Arial"/>
              <a:buNone/>
            </a:pPr>
            <a:r>
              <a:rPr lang="fr-FR" sz="5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Merci de votre attention</a:t>
            </a:r>
            <a:endParaRPr sz="5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17" name="Google Shape;817;p43"/>
          <p:cNvSpPr txBox="1"/>
          <p:nvPr/>
        </p:nvSpPr>
        <p:spPr>
          <a:xfrm>
            <a:off x="3606229" y="3061699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30" name="Google Shape;83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575" y="2928950"/>
            <a:ext cx="3679175" cy="367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Thème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18016</TotalTime>
  <Words>1344</Words>
  <Application>Microsoft Office PowerPoint</Application>
  <PresentationFormat>Grand écran</PresentationFormat>
  <Paragraphs>369</Paragraphs>
  <Slides>35</Slides>
  <Notes>28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40" baseType="lpstr">
      <vt:lpstr>Arial</vt:lpstr>
      <vt:lpstr>Calibri</vt:lpstr>
      <vt:lpstr>Times</vt:lpstr>
      <vt:lpstr>Times New Roman</vt:lpstr>
      <vt:lpstr>Office Theme</vt:lpstr>
      <vt:lpstr>Présentation PowerPoint</vt:lpstr>
      <vt:lpstr>Sommaire</vt:lpstr>
      <vt:lpstr>Contexte général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Analyse des besoins</vt:lpstr>
      <vt:lpstr>Présentation PowerPoint</vt:lpstr>
      <vt:lpstr>Présentation PowerPoint</vt:lpstr>
      <vt:lpstr>Présentation PowerPoint</vt:lpstr>
      <vt:lpstr>Conception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Réalisation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Conclusion et perspectives 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DELL INSPIRON I7</dc:creator>
  <cp:lastModifiedBy>Oussema Koubaa</cp:lastModifiedBy>
  <cp:revision>296</cp:revision>
  <dcterms:modified xsi:type="dcterms:W3CDTF">2026-06-04T14:45:35Z</dcterms:modified>
</cp:coreProperties>
</file>